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4" r:id="rId16"/>
    <p:sldId id="307" r:id="rId17"/>
    <p:sldId id="310" r:id="rId18"/>
    <p:sldId id="313" r:id="rId19"/>
    <p:sldId id="316" r:id="rId20"/>
    <p:sldId id="319" r:id="rId21"/>
  </p:sldIdLst>
  <p:sldSz cx="9144000" cy="5143500" type="screen16x9"/>
  <p:notesSz cx="6858000" cy="9144000"/>
  <p:embeddedFontLst>
    <p:embeddedFont>
      <p:font typeface="Poppins" pitchFamily="2" charset="77"/>
      <p:regular r:id="rId22"/>
      <p:bold r:id="rId23"/>
    </p:embeddedFont>
  </p:embeddedFontLst>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5E08764E-A118-4438-AAEF-B5859F4365C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8790DD68-9E9B-4F84-9737-778864AE03EC}"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599C8926-6D9A-446B-B286-715ABA32F916}"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41316DC9-9493-435B-B5B4-B1DBF701C0B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CF52B85A-690F-4D89-96DD-6CBE9F6FF59B}"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62962918-5430-47EB-A212-EBD250961E84}"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A7808930-89F9-4852-AF2A-320DB82967DB}"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812CEEEA-545A-4DF7-A632-3A730203B714}"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B289CA7E-3DC2-46A7-861D-54A0B1451489}"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191BFC8E-221A-4277-BA9C-22F5532E98D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7A17CF7-06A4-4C9B-ACA6-E30780D720C4}"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7.sv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21.svg"/><Relationship Id="rId5" Type="http://schemas.openxmlformats.org/officeDocument/2006/relationships/image" Target="../media/image16.svg"/><Relationship Id="rId10" Type="http://schemas.openxmlformats.org/officeDocument/2006/relationships/image" Target="../media/image20.svg"/><Relationship Id="rId4" Type="http://schemas.openxmlformats.org/officeDocument/2006/relationships/image" Target="../media/image15.svg"/><Relationship Id="rId9"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6.svg"/><Relationship Id="rId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7.sv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18.svg"/><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21.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778794"/>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Zusammenfassung für Führungskräfte</a:t>
            </a:r>
          </a:p>
        </p:txBody>
      </p:sp>
      <p:sp>
        <p:nvSpPr>
          <p:cNvPr id="4" name="New shape"/>
          <p:cNvSpPr txBox="1"/>
          <p:nvPr/>
        </p:nvSpPr>
        <p:spPr>
          <a:xfrm>
            <a:off x="457200" y="2774632"/>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2700" b="0" i="0" dirty="0">
                <a:solidFill>
                  <a:srgbClr val="192743"/>
                </a:solidFill>
                <a:latin typeface="Poppins"/>
              </a:rPr>
              <a:t>Novanta B.V.</a:t>
            </a:r>
            <a:endParaRPr sz="2700" b="0" i="0" dirty="0">
              <a:solidFill>
                <a:srgbClr val="192743"/>
              </a:solidFill>
              <a:latin typeface="Poppins"/>
            </a:endParaRPr>
          </a:p>
        </p:txBody>
      </p:sp>
      <p:sp>
        <p:nvSpPr>
          <p:cNvPr id="5"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6"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Inhalt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Die wichtigsten Ergebnisse</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Im Fokus: Indizes mit den niedrigsten Ergebnissen</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Ergebnisse verstehen</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Beteiligungsquote</a:t>
            </a:r>
          </a:p>
        </p:txBody>
      </p:sp>
      <p:sp>
        <p:nvSpPr>
          <p:cNvPr id="12"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13"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14"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15"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wichtigsten Eckdaten Ihrer Befragung</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Der Beginn Ihrer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Sehen wir uns die Ergebnisse an!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Befragungszeitraum</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Fragen wurden ingesamt gefragt</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zu Indizes wie:</a:t>
            </a:r>
          </a:p>
        </p:txBody>
      </p:sp>
      <p:sp>
        <p:nvSpPr>
          <p:cNvPr id="23" name="New shape"/>
          <p:cNvSpPr txBox="1"/>
          <p:nvPr/>
        </p:nvSpPr>
        <p:spPr>
          <a:xfrm>
            <a:off x="1285875" y="3500438"/>
            <a:ext cx="135886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Arbeitgeberkompetenz</a:t>
            </a:r>
          </a:p>
        </p:txBody>
      </p:sp>
      <p:sp>
        <p:nvSpPr>
          <p:cNvPr id="25" name="New shape"/>
          <p:cNvSpPr txBox="1"/>
          <p:nvPr/>
        </p:nvSpPr>
        <p:spPr>
          <a:xfrm>
            <a:off x="2716181"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605764" y="3746954"/>
            <a:ext cx="136047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Veränderung gestalten</a:t>
            </a:r>
          </a:p>
        </p:txBody>
      </p:sp>
      <p:sp>
        <p:nvSpPr>
          <p:cNvPr id="29" name="New shape"/>
          <p:cNvSpPr txBox="1"/>
          <p:nvPr/>
        </p:nvSpPr>
        <p:spPr>
          <a:xfrm>
            <a:off x="1737241" y="3993471"/>
            <a:ext cx="109751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Mitarbeiter führen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und mehr...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2867C9"/>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haben teilgenommen!</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Die wichtigsten Ergebnisse</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Novanta B.V.</a:t>
              </a:r>
              <a:endParaRPr sz="788" b="0" i="0" dirty="0">
                <a:solidFill>
                  <a:srgbClr val="2867C9"/>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2867C9"/>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2867C9"/>
                  </a:solidFill>
                  <a:latin typeface="Poppins"/>
                </a:rPr>
                <a:t>Aktuell</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2867C9"/>
                  </a:solidFill>
                  <a:latin typeface="Poppins"/>
                </a:rPr>
                <a:t>Novanta B.V.</a:t>
              </a:r>
              <a:endParaRPr sz="788" b="0" i="0" dirty="0">
                <a:solidFill>
                  <a:srgbClr val="2867C9"/>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2867C9"/>
                </a:solidFill>
                <a:latin typeface="Poppins"/>
              </a:rPr>
              <a:t>Aktuelle Befragung ist:</a:t>
            </a:r>
          </a:p>
        </p:txBody>
      </p:sp>
      <p:sp>
        <p:nvSpPr>
          <p:cNvPr id="3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und Benchmark-Vergleich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Der eNPS gibt an, inwieweit Ihre Mitarbeitenden Ihr Unternehmen als guten Arbeitgeber empfehlen würden.</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62288" y="1428750"/>
            <a:ext cx="675799" cy="171450"/>
            <a:chOff x="-120650" y="793750"/>
            <a:chExt cx="67579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3291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195241" y="1428750"/>
            <a:ext cx="1124744" cy="171450"/>
            <a:chOff x="2136775" y="793750"/>
            <a:chExt cx="1124744"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Promotor:innen</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595541" y="1428750"/>
            <a:ext cx="1124744" cy="171450"/>
            <a:chOff x="4537075" y="793750"/>
            <a:chExt cx="1124744"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Detraktor:innen</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2867C9"/>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International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Ergebnisse nicht verfügbar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International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Aufschlüsselung nach 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der eNPS-Ergebnisse zwischen allen Ihren Befragungsgruppen.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2867C9"/>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2867C9"/>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025843" y="4897041"/>
            <a:ext cx="114300" cy="121444"/>
          </a:xfrm>
          <a:prstGeom prst="rect">
            <a:avLst/>
          </a:prstGeom>
        </p:spPr>
      </p:pic>
      <p:sp>
        <p:nvSpPr>
          <p:cNvPr id="49" name="New shape"/>
          <p:cNvSpPr txBox="1"/>
          <p:nvPr/>
        </p:nvSpPr>
        <p:spPr>
          <a:xfrm>
            <a:off x="121158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größten Differenzen im Vergleich zur letzten Befragung</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Höher als bei der letzten Befragung</a:t>
              </a:r>
            </a:p>
          </p:txBody>
        </p:sp>
      </p:grpSp>
      <p:grpSp>
        <p:nvGrpSpPr>
          <p:cNvPr id="6" name="Group 5"/>
          <p:cNvGrpSpPr/>
          <p:nvPr/>
        </p:nvGrpSpPr>
        <p:grpSpPr>
          <a:xfrm>
            <a:off x="4857750" y="1085850"/>
            <a:ext cx="2871788" cy="342900"/>
            <a:chOff x="4222750" y="450850"/>
            <a:chExt cx="2871788" cy="34290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450850"/>
              <a:ext cx="2514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Niedriger als bei der letzten Befragung</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6047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63690"/>
            <a:ext cx="165021" cy="165021"/>
          </a:xfrm>
          <a:prstGeom prst="rect">
            <a:avLst/>
          </a:prstGeom>
        </p:spPr>
      </p:pic>
      <p:sp>
        <p:nvSpPr>
          <p:cNvPr id="11" name="New shape"/>
          <p:cNvSpPr txBox="1"/>
          <p:nvPr/>
        </p:nvSpPr>
        <p:spPr>
          <a:xfrm>
            <a:off x="457200" y="1746250"/>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passe</a:t>
            </a:r>
          </a:p>
        </p:txBody>
      </p:sp>
      <p:sp>
        <p:nvSpPr>
          <p:cNvPr id="12" name="New shape"/>
          <p:cNvSpPr/>
          <p:nvPr/>
        </p:nvSpPr>
        <p:spPr>
          <a:xfrm>
            <a:off x="3073336" y="1803400"/>
            <a:ext cx="26993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3400425" y="16605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605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15" name="New shape"/>
          <p:cNvSpPr txBox="1"/>
          <p:nvPr/>
        </p:nvSpPr>
        <p:spPr>
          <a:xfrm>
            <a:off x="457200" y="2260600"/>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16" name="New shape"/>
          <p:cNvSpPr/>
          <p:nvPr/>
        </p:nvSpPr>
        <p:spPr>
          <a:xfrm>
            <a:off x="3283379" y="2317750"/>
            <a:ext cx="5989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748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748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20" name="New shape"/>
          <p:cNvSpPr txBox="1"/>
          <p:nvPr/>
        </p:nvSpPr>
        <p:spPr>
          <a:xfrm>
            <a:off x="457200" y="26892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21" name="New shape"/>
          <p:cNvSpPr txBox="1"/>
          <p:nvPr/>
        </p:nvSpPr>
        <p:spPr>
          <a:xfrm>
            <a:off x="3400425" y="26892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22" name="New shape"/>
          <p:cNvSpPr txBox="1"/>
          <p:nvPr/>
        </p:nvSpPr>
        <p:spPr>
          <a:xfrm>
            <a:off x="3886200" y="26892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3" name="New shape"/>
          <p:cNvSpPr txBox="1"/>
          <p:nvPr/>
        </p:nvSpPr>
        <p:spPr>
          <a:xfrm>
            <a:off x="457200" y="3289300"/>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motiviert mich</a:t>
            </a:r>
          </a:p>
        </p:txBody>
      </p:sp>
      <p:sp>
        <p:nvSpPr>
          <p:cNvPr id="24" name="New shape"/>
          <p:cNvSpPr/>
          <p:nvPr/>
        </p:nvSpPr>
        <p:spPr>
          <a:xfrm>
            <a:off x="2100088" y="3346450"/>
            <a:ext cx="12431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2035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6" name="New shape"/>
          <p:cNvSpPr txBox="1"/>
          <p:nvPr/>
        </p:nvSpPr>
        <p:spPr>
          <a:xfrm>
            <a:off x="3886200" y="32035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28" name="New shape"/>
          <p:cNvSpPr txBox="1"/>
          <p:nvPr/>
        </p:nvSpPr>
        <p:spPr>
          <a:xfrm>
            <a:off x="457200" y="37179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Meine Fähigkeiten und Kenntnisse passen zu meinem Job</a:t>
            </a:r>
          </a:p>
        </p:txBody>
      </p:sp>
      <p:sp>
        <p:nvSpPr>
          <p:cNvPr id="29" name="New shape"/>
          <p:cNvSpPr txBox="1"/>
          <p:nvPr/>
        </p:nvSpPr>
        <p:spPr>
          <a:xfrm>
            <a:off x="3400425" y="37179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30" name="New shape"/>
          <p:cNvSpPr txBox="1"/>
          <p:nvPr/>
        </p:nvSpPr>
        <p:spPr>
          <a:xfrm>
            <a:off x="3886200" y="37179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6047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63690"/>
            <a:ext cx="165021" cy="165021"/>
          </a:xfrm>
          <a:prstGeom prst="rect">
            <a:avLst/>
          </a:prstGeom>
        </p:spPr>
      </p:pic>
      <p:sp>
        <p:nvSpPr>
          <p:cNvPr id="33" name="New shape"/>
          <p:cNvSpPr txBox="1"/>
          <p:nvPr/>
        </p:nvSpPr>
        <p:spPr>
          <a:xfrm>
            <a:off x="4857750" y="174625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34" name="New shape"/>
          <p:cNvSpPr/>
          <p:nvPr/>
        </p:nvSpPr>
        <p:spPr>
          <a:xfrm>
            <a:off x="6603254" y="1803400"/>
            <a:ext cx="11405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5" name="New shape"/>
          <p:cNvSpPr txBox="1"/>
          <p:nvPr/>
        </p:nvSpPr>
        <p:spPr>
          <a:xfrm>
            <a:off x="7800975" y="16605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36" name="New shape"/>
          <p:cNvSpPr txBox="1"/>
          <p:nvPr/>
        </p:nvSpPr>
        <p:spPr>
          <a:xfrm>
            <a:off x="8286750" y="16605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a:t>
            </a:r>
          </a:p>
        </p:txBody>
      </p:sp>
      <p:sp>
        <p:nvSpPr>
          <p:cNvPr id="38" name="New shape"/>
          <p:cNvSpPr txBox="1"/>
          <p:nvPr/>
        </p:nvSpPr>
        <p:spPr>
          <a:xfrm>
            <a:off x="4857750" y="21748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Mein Team </a:t>
            </a:r>
            <a:r>
              <a:rPr sz="900" b="0" i="0" dirty="0" err="1">
                <a:solidFill>
                  <a:srgbClr val="192743"/>
                </a:solidFill>
                <a:latin typeface="Poppins"/>
              </a:rPr>
              <a:t>weiß</a:t>
            </a:r>
            <a:r>
              <a:rPr sz="900" b="0" i="0" dirty="0">
                <a:solidFill>
                  <a:srgbClr val="192743"/>
                </a:solidFill>
                <a:latin typeface="Poppins"/>
              </a:rPr>
              <a:t>, was </a:t>
            </a:r>
            <a:r>
              <a:rPr sz="900" b="0" i="0" dirty="0" err="1">
                <a:solidFill>
                  <a:srgbClr val="192743"/>
                </a:solidFill>
                <a:latin typeface="Poppins"/>
              </a:rPr>
              <a:t>getan</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muss, um </a:t>
            </a:r>
            <a:r>
              <a:rPr sz="900" b="0" i="0" dirty="0" err="1">
                <a:solidFill>
                  <a:srgbClr val="192743"/>
                </a:solidFill>
                <a:latin typeface="Poppins"/>
              </a:rPr>
              <a:t>zum</a:t>
            </a:r>
            <a:r>
              <a:rPr sz="900" b="0" i="0" dirty="0">
                <a:solidFill>
                  <a:srgbClr val="192743"/>
                </a:solidFill>
                <a:latin typeface="Poppins"/>
              </a:rPr>
              <a:t> </a:t>
            </a:r>
            <a:r>
              <a:rPr sz="900" b="0" i="0" dirty="0" err="1">
                <a:solidFill>
                  <a:srgbClr val="192743"/>
                </a:solidFill>
                <a:latin typeface="Poppins"/>
              </a:rPr>
              <a:t>Erfolg</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beizutragen</a:t>
            </a:r>
            <a:endParaRPr sz="900" b="0" i="0" dirty="0">
              <a:solidFill>
                <a:srgbClr val="192743"/>
              </a:solidFill>
              <a:latin typeface="Poppins"/>
            </a:endParaRPr>
          </a:p>
        </p:txBody>
      </p:sp>
      <p:sp>
        <p:nvSpPr>
          <p:cNvPr id="39" name="New shape"/>
          <p:cNvSpPr txBox="1"/>
          <p:nvPr/>
        </p:nvSpPr>
        <p:spPr>
          <a:xfrm>
            <a:off x="7800975" y="21748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40" name="New shape"/>
          <p:cNvSpPr txBox="1"/>
          <p:nvPr/>
        </p:nvSpPr>
        <p:spPr>
          <a:xfrm>
            <a:off x="8286750" y="21748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-5%</a:t>
            </a:r>
          </a:p>
        </p:txBody>
      </p:sp>
      <p:sp>
        <p:nvSpPr>
          <p:cNvPr id="42" name="New shape"/>
          <p:cNvSpPr txBox="1"/>
          <p:nvPr/>
        </p:nvSpPr>
        <p:spPr>
          <a:xfrm>
            <a:off x="4857750" y="26892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err="1">
                <a:solidFill>
                  <a:srgbClr val="192743"/>
                </a:solidFill>
                <a:latin typeface="Poppins"/>
              </a:rPr>
              <a:t>Innerhalb</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die </a:t>
            </a:r>
            <a:r>
              <a:rPr sz="900" b="0" i="0" dirty="0" err="1">
                <a:solidFill>
                  <a:srgbClr val="192743"/>
                </a:solidFill>
                <a:latin typeface="Poppins"/>
              </a:rPr>
              <a:t>Mitarbeitenden</a:t>
            </a:r>
            <a:r>
              <a:rPr sz="900" b="0" i="0" dirty="0">
                <a:solidFill>
                  <a:srgbClr val="192743"/>
                </a:solidFill>
                <a:latin typeface="Poppins"/>
              </a:rPr>
              <a:t> fair </a:t>
            </a:r>
            <a:r>
              <a:rPr sz="900" b="0" i="0" dirty="0" err="1">
                <a:solidFill>
                  <a:srgbClr val="192743"/>
                </a:solidFill>
                <a:latin typeface="Poppins"/>
              </a:rPr>
              <a:t>behandelt</a:t>
            </a:r>
            <a:endParaRPr sz="900" b="0" i="0" dirty="0">
              <a:solidFill>
                <a:srgbClr val="192743"/>
              </a:solidFill>
              <a:latin typeface="Poppins"/>
            </a:endParaRPr>
          </a:p>
        </p:txBody>
      </p:sp>
      <p:sp>
        <p:nvSpPr>
          <p:cNvPr id="43" name="New shape"/>
          <p:cNvSpPr txBox="1"/>
          <p:nvPr/>
        </p:nvSpPr>
        <p:spPr>
          <a:xfrm>
            <a:off x="7800975" y="26892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44" name="New shape"/>
          <p:cNvSpPr txBox="1"/>
          <p:nvPr/>
        </p:nvSpPr>
        <p:spPr>
          <a:xfrm>
            <a:off x="8286750" y="26892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a:t>
            </a:r>
          </a:p>
        </p:txBody>
      </p:sp>
      <p:sp>
        <p:nvSpPr>
          <p:cNvPr id="45" name="New shape"/>
          <p:cNvSpPr txBox="1"/>
          <p:nvPr/>
        </p:nvSpPr>
        <p:spPr>
          <a:xfrm>
            <a:off x="4857750" y="3289300"/>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46" name="New shape"/>
          <p:cNvSpPr/>
          <p:nvPr/>
        </p:nvSpPr>
        <p:spPr>
          <a:xfrm>
            <a:off x="7576503" y="3346450"/>
            <a:ext cx="16732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a:off x="7800975" y="32035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8" name="New shape"/>
          <p:cNvSpPr txBox="1"/>
          <p:nvPr/>
        </p:nvSpPr>
        <p:spPr>
          <a:xfrm>
            <a:off x="8286750" y="32035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0" name="New shape"/>
          <p:cNvSpPr txBox="1"/>
          <p:nvPr/>
        </p:nvSpPr>
        <p:spPr>
          <a:xfrm>
            <a:off x="4857750" y="371792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 Team erarbeitet regelmäßig neue und gute Verbesserungsvorschläge</a:t>
            </a:r>
          </a:p>
        </p:txBody>
      </p:sp>
      <p:sp>
        <p:nvSpPr>
          <p:cNvPr id="51" name="New shape"/>
          <p:cNvSpPr txBox="1"/>
          <p:nvPr/>
        </p:nvSpPr>
        <p:spPr>
          <a:xfrm>
            <a:off x="7800975" y="37179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52" name="New shape"/>
          <p:cNvSpPr txBox="1"/>
          <p:nvPr/>
        </p:nvSpPr>
        <p:spPr>
          <a:xfrm>
            <a:off x="8286750" y="37179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a:t>
            </a:r>
          </a:p>
        </p:txBody>
      </p:sp>
      <p:sp>
        <p:nvSpPr>
          <p:cNvPr id="53" name="New shape"/>
          <p:cNvSpPr/>
          <p:nvPr/>
        </p:nvSpPr>
        <p:spPr>
          <a:xfrm flipH="1">
            <a:off x="4572000" y="1574800"/>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Aktuell</a:t>
            </a:r>
            <a:r>
              <a:rPr sz="675" b="0" i="0" dirty="0">
                <a:solidFill>
                  <a:srgbClr val="2867C9"/>
                </a:solidFill>
                <a:latin typeface="Poppins"/>
              </a:rPr>
              <a:t>: </a:t>
            </a:r>
            <a:r>
              <a:rPr lang="en-US" sz="675" b="0" i="0" dirty="0">
                <a:solidFill>
                  <a:srgbClr val="2867C9"/>
                </a:solidFill>
                <a:latin typeface="Poppins"/>
              </a:rPr>
              <a:t>Novanta B.V.</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9</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Größte Unterschiede im Vergleich zur Benchmark</a:t>
            </a:r>
          </a:p>
        </p:txBody>
      </p:sp>
      <p:grpSp>
        <p:nvGrpSpPr>
          <p:cNvPr id="3" name="Group 2"/>
          <p:cNvGrpSpPr/>
          <p:nvPr/>
        </p:nvGrpSpPr>
        <p:grpSpPr>
          <a:xfrm>
            <a:off x="457200" y="1114425"/>
            <a:ext cx="2871788" cy="285750"/>
            <a:chOff x="-177800" y="479425"/>
            <a:chExt cx="2871788" cy="285750"/>
          </a:xfrm>
        </p:grpSpPr>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177800" y="479425"/>
              <a:ext cx="285750" cy="285750"/>
            </a:xfrm>
            <a:prstGeom prst="rect">
              <a:avLst/>
            </a:prstGeom>
          </p:spPr>
        </p:pic>
        <p:sp>
          <p:nvSpPr>
            <p:cNvPr id="5" name="New shape"/>
            <p:cNvSpPr txBox="1"/>
            <p:nvPr/>
          </p:nvSpPr>
          <p:spPr>
            <a:xfrm>
              <a:off x="17938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Höher als die Benchmark</a:t>
              </a:r>
            </a:p>
          </p:txBody>
        </p:sp>
      </p:grpSp>
      <p:grpSp>
        <p:nvGrpSpPr>
          <p:cNvPr id="6" name="Group 5"/>
          <p:cNvGrpSpPr/>
          <p:nvPr/>
        </p:nvGrpSpPr>
        <p:grpSpPr>
          <a:xfrm>
            <a:off x="4857750" y="1114425"/>
            <a:ext cx="2871788" cy="285750"/>
            <a:chOff x="4222750" y="479425"/>
            <a:chExt cx="2871788" cy="285750"/>
          </a:xfrm>
        </p:grpSpPr>
        <p:pic>
          <p:nvPicPr>
            <p:cNvPr id="7" name="New picture"/>
            <p:cNvPicPr/>
            <p:nvPr/>
          </p:nvPicPr>
          <p:blipFill>
            <a:blip>
              <a:extLst>
                <a:ext uri="{96DAC541-7B7A-43D3-8B79-37D633B846F1}">
                  <asvg:svgBlip xmlns:asvg="http://schemas.microsoft.com/office/drawing/2016/SVG/main" r:embed="rId3"/>
                </a:ext>
              </a:extLst>
            </a:blip>
            <a:stretch>
              <a:fillRect/>
            </a:stretch>
          </p:blipFill>
          <p:spPr>
            <a:xfrm>
              <a:off x="4222750" y="479425"/>
              <a:ext cx="285750" cy="285750"/>
            </a:xfrm>
            <a:prstGeom prst="rect">
              <a:avLst/>
            </a:prstGeom>
          </p:spPr>
        </p:pic>
        <p:sp>
          <p:nvSpPr>
            <p:cNvPr id="8" name="New shape"/>
            <p:cNvSpPr txBox="1"/>
            <p:nvPr/>
          </p:nvSpPr>
          <p:spPr>
            <a:xfrm>
              <a:off x="4579938" y="536575"/>
              <a:ext cx="2514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1125" b="0" i="0">
                  <a:solidFill>
                    <a:srgbClr val="192743"/>
                  </a:solidFill>
                  <a:latin typeface="Poppins"/>
                </a:rPr>
                <a:t>Niedriger als die Benchmark</a:t>
              </a:r>
            </a:p>
          </p:txBody>
        </p:sp>
      </p:grpSp>
      <p:pic>
        <p:nvPicPr>
          <p:cNvPr id="9" name="New picture"/>
          <p:cNvPicPr/>
          <p:nvPr/>
        </p:nvPicPr>
        <p:blipFill>
          <a:blip>
            <a:extLst>
              <a:ext uri="{96DAC541-7B7A-43D3-8B79-37D633B846F1}">
                <asvg:svgBlip xmlns:asvg="http://schemas.microsoft.com/office/drawing/2016/SVG/main" r:embed="rId4"/>
              </a:ext>
            </a:extLst>
          </a:blip>
          <a:stretch>
            <a:fillRect/>
          </a:stretch>
        </p:blipFill>
        <p:spPr>
          <a:xfrm>
            <a:off x="3557588" y="1203325"/>
            <a:ext cx="142875" cy="171450"/>
          </a:xfrm>
          <a:prstGeom prst="rect">
            <a:avLst/>
          </a:prstGeom>
        </p:spPr>
      </p:pic>
      <p:pic>
        <p:nvPicPr>
          <p:cNvPr id="10" name="New picture"/>
          <p:cNvPicPr/>
          <p:nvPr/>
        </p:nvPicPr>
        <p:blipFill>
          <a:blip>
            <a:extLst>
              <a:ext uri="{96DAC541-7B7A-43D3-8B79-37D633B846F1}">
                <asvg:svgBlip xmlns:asvg="http://schemas.microsoft.com/office/drawing/2016/SVG/main" r:embed="rId5"/>
              </a:ext>
            </a:extLst>
          </a:blip>
          <a:stretch>
            <a:fillRect/>
          </a:stretch>
        </p:blipFill>
        <p:spPr>
          <a:xfrm>
            <a:off x="4032290" y="1206540"/>
            <a:ext cx="165021" cy="165021"/>
          </a:xfrm>
          <a:prstGeom prst="rect">
            <a:avLst/>
          </a:prstGeom>
        </p:spPr>
      </p:pic>
      <p:sp>
        <p:nvSpPr>
          <p:cNvPr id="12" name="New shape"/>
          <p:cNvSpPr txBox="1"/>
          <p:nvPr/>
        </p:nvSpPr>
        <p:spPr>
          <a:xfrm>
            <a:off x="45720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13" name="New shape"/>
          <p:cNvSpPr txBox="1"/>
          <p:nvPr/>
        </p:nvSpPr>
        <p:spPr>
          <a:xfrm>
            <a:off x="340042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4" name="New shape"/>
          <p:cNvSpPr txBox="1"/>
          <p:nvPr/>
        </p:nvSpPr>
        <p:spPr>
          <a:xfrm>
            <a:off x="3886200" y="16033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5" name="New shape"/>
          <p:cNvSpPr txBox="1"/>
          <p:nvPr/>
        </p:nvSpPr>
        <p:spPr>
          <a:xfrm>
            <a:off x="457200" y="2203450"/>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16" name="New shape"/>
          <p:cNvSpPr/>
          <p:nvPr/>
        </p:nvSpPr>
        <p:spPr>
          <a:xfrm>
            <a:off x="3283379" y="2260600"/>
            <a:ext cx="5989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340042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8" name="New shape"/>
          <p:cNvSpPr txBox="1"/>
          <p:nvPr/>
        </p:nvSpPr>
        <p:spPr>
          <a:xfrm>
            <a:off x="3886200" y="21177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19" name="New shape"/>
          <p:cNvSpPr txBox="1"/>
          <p:nvPr/>
        </p:nvSpPr>
        <p:spPr>
          <a:xfrm>
            <a:off x="457200" y="2717800"/>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motiviert mich</a:t>
            </a:r>
          </a:p>
        </p:txBody>
      </p:sp>
      <p:sp>
        <p:nvSpPr>
          <p:cNvPr id="20" name="New shape"/>
          <p:cNvSpPr/>
          <p:nvPr/>
        </p:nvSpPr>
        <p:spPr>
          <a:xfrm>
            <a:off x="2100088" y="2774950"/>
            <a:ext cx="12431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400425" y="26320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22" name="New shape"/>
          <p:cNvSpPr txBox="1"/>
          <p:nvPr/>
        </p:nvSpPr>
        <p:spPr>
          <a:xfrm>
            <a:off x="3886200" y="26320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+13%</a:t>
            </a:r>
          </a:p>
        </p:txBody>
      </p:sp>
      <p:sp>
        <p:nvSpPr>
          <p:cNvPr id="23" name="New shape"/>
          <p:cNvSpPr txBox="1"/>
          <p:nvPr/>
        </p:nvSpPr>
        <p:spPr>
          <a:xfrm>
            <a:off x="457200" y="3232150"/>
            <a:ext cx="2180084"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Bei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wird</a:t>
            </a:r>
            <a:r>
              <a:rPr sz="900" b="0" i="0" dirty="0">
                <a:solidFill>
                  <a:srgbClr val="192743"/>
                </a:solidFill>
                <a:latin typeface="Poppins"/>
              </a:rPr>
              <a:t> </a:t>
            </a:r>
            <a:r>
              <a:rPr sz="900" b="0" i="0" dirty="0" err="1">
                <a:solidFill>
                  <a:srgbClr val="192743"/>
                </a:solidFill>
                <a:latin typeface="Poppins"/>
              </a:rPr>
              <a:t>Leistung</a:t>
            </a:r>
            <a:r>
              <a:rPr sz="900" b="0" i="0" dirty="0">
                <a:solidFill>
                  <a:srgbClr val="192743"/>
                </a:solidFill>
                <a:latin typeface="Poppins"/>
              </a:rPr>
              <a:t> </a:t>
            </a:r>
            <a:r>
              <a:rPr sz="900" b="0" i="0" dirty="0" err="1">
                <a:solidFill>
                  <a:srgbClr val="192743"/>
                </a:solidFill>
                <a:latin typeface="Poppins"/>
              </a:rPr>
              <a:t>belohnt</a:t>
            </a:r>
            <a:endParaRPr sz="900" b="0" i="0" dirty="0">
              <a:solidFill>
                <a:srgbClr val="192743"/>
              </a:solidFill>
              <a:latin typeface="Poppins"/>
            </a:endParaRPr>
          </a:p>
        </p:txBody>
      </p:sp>
      <p:sp>
        <p:nvSpPr>
          <p:cNvPr id="24" name="New shape"/>
          <p:cNvSpPr/>
          <p:nvPr/>
        </p:nvSpPr>
        <p:spPr>
          <a:xfrm>
            <a:off x="2590721" y="3289300"/>
            <a:ext cx="75255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txBox="1"/>
          <p:nvPr/>
        </p:nvSpPr>
        <p:spPr>
          <a:xfrm>
            <a:off x="3400425" y="31464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71%</a:t>
            </a:r>
          </a:p>
        </p:txBody>
      </p:sp>
      <p:sp>
        <p:nvSpPr>
          <p:cNvPr id="26" name="New shape"/>
          <p:cNvSpPr txBox="1"/>
          <p:nvPr/>
        </p:nvSpPr>
        <p:spPr>
          <a:xfrm>
            <a:off x="3886200" y="314642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28" name="New shape"/>
          <p:cNvSpPr txBox="1"/>
          <p:nvPr/>
        </p:nvSpPr>
        <p:spPr>
          <a:xfrm>
            <a:off x="457200" y="36607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erhalte regelmäßig nützliches Feedback zu meiner Leistung</a:t>
            </a:r>
          </a:p>
        </p:txBody>
      </p:sp>
      <p:sp>
        <p:nvSpPr>
          <p:cNvPr id="29" name="New shape"/>
          <p:cNvSpPr txBox="1"/>
          <p:nvPr/>
        </p:nvSpPr>
        <p:spPr>
          <a:xfrm>
            <a:off x="3400425" y="36607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72%</a:t>
            </a:r>
          </a:p>
        </p:txBody>
      </p:sp>
      <p:sp>
        <p:nvSpPr>
          <p:cNvPr id="30" name="New shape"/>
          <p:cNvSpPr txBox="1"/>
          <p:nvPr/>
        </p:nvSpPr>
        <p:spPr>
          <a:xfrm>
            <a:off x="3886200" y="3660775"/>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7958138" y="1203325"/>
            <a:ext cx="142875" cy="171450"/>
          </a:xfrm>
          <a:prstGeom prst="rect">
            <a:avLst/>
          </a:prstGeom>
        </p:spPr>
      </p:pic>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8432840" y="1206540"/>
            <a:ext cx="165021" cy="165021"/>
          </a:xfrm>
          <a:prstGeom prst="rect">
            <a:avLst/>
          </a:prstGeom>
        </p:spPr>
      </p:pic>
      <p:sp>
        <p:nvSpPr>
          <p:cNvPr id="34" name="New shape"/>
          <p:cNvSpPr txBox="1"/>
          <p:nvPr/>
        </p:nvSpPr>
        <p:spPr>
          <a:xfrm>
            <a:off x="4857750" y="160337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weiß, welche Arbeitsergebnisse von mir erwartet werden</a:t>
            </a:r>
          </a:p>
        </p:txBody>
      </p:sp>
      <p:sp>
        <p:nvSpPr>
          <p:cNvPr id="35" name="New shape"/>
          <p:cNvSpPr txBox="1"/>
          <p:nvPr/>
        </p:nvSpPr>
        <p:spPr>
          <a:xfrm>
            <a:off x="7800975" y="160337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36" name="New shape"/>
          <p:cNvSpPr txBox="1"/>
          <p:nvPr/>
        </p:nvSpPr>
        <p:spPr>
          <a:xfrm>
            <a:off x="8286750" y="160337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-25%</a:t>
            </a:r>
          </a:p>
        </p:txBody>
      </p:sp>
      <p:sp>
        <p:nvSpPr>
          <p:cNvPr id="37" name="New shape"/>
          <p:cNvSpPr txBox="1"/>
          <p:nvPr/>
        </p:nvSpPr>
        <p:spPr>
          <a:xfrm>
            <a:off x="4857750" y="220345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38" name="New shape"/>
          <p:cNvSpPr/>
          <p:nvPr/>
        </p:nvSpPr>
        <p:spPr>
          <a:xfrm>
            <a:off x="6603254" y="2260600"/>
            <a:ext cx="11405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9" name="New shape"/>
          <p:cNvSpPr txBox="1"/>
          <p:nvPr/>
        </p:nvSpPr>
        <p:spPr>
          <a:xfrm>
            <a:off x="7800975" y="211772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40" name="New shape"/>
          <p:cNvSpPr txBox="1"/>
          <p:nvPr/>
        </p:nvSpPr>
        <p:spPr>
          <a:xfrm>
            <a:off x="8286750" y="211772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-12%</a:t>
            </a:r>
          </a:p>
        </p:txBody>
      </p:sp>
      <p:sp>
        <p:nvSpPr>
          <p:cNvPr id="42" name="New shape"/>
          <p:cNvSpPr txBox="1"/>
          <p:nvPr/>
        </p:nvSpPr>
        <p:spPr>
          <a:xfrm>
            <a:off x="4857750" y="2632075"/>
            <a:ext cx="288607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die Arbeitsmittel, die ich brauche, um gute Arbeit zu leisten  (z.B. Werkzeuge, Geräte, Software, Materialien, usw.)</a:t>
            </a:r>
          </a:p>
        </p:txBody>
      </p:sp>
      <p:sp>
        <p:nvSpPr>
          <p:cNvPr id="43" name="New shape"/>
          <p:cNvSpPr txBox="1"/>
          <p:nvPr/>
        </p:nvSpPr>
        <p:spPr>
          <a:xfrm>
            <a:off x="7800975" y="2632075"/>
            <a:ext cx="457200" cy="41148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44" name="New shape"/>
          <p:cNvSpPr txBox="1"/>
          <p:nvPr/>
        </p:nvSpPr>
        <p:spPr>
          <a:xfrm>
            <a:off x="8286750" y="2632075"/>
            <a:ext cx="457200" cy="41148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46" name="New shape"/>
          <p:cNvSpPr txBox="1"/>
          <p:nvPr/>
        </p:nvSpPr>
        <p:spPr>
          <a:xfrm>
            <a:off x="4857750" y="327215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Meine Fähigkeiten und Kenntnisse passen zu meinem Job</a:t>
            </a:r>
          </a:p>
        </p:txBody>
      </p:sp>
      <p:sp>
        <p:nvSpPr>
          <p:cNvPr id="47" name="New shape"/>
          <p:cNvSpPr txBox="1"/>
          <p:nvPr/>
        </p:nvSpPr>
        <p:spPr>
          <a:xfrm>
            <a:off x="7800975" y="327215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48" name="New shape"/>
          <p:cNvSpPr txBox="1"/>
          <p:nvPr/>
        </p:nvSpPr>
        <p:spPr>
          <a:xfrm>
            <a:off x="8286750" y="327215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-10%</a:t>
            </a:r>
          </a:p>
        </p:txBody>
      </p:sp>
      <p:sp>
        <p:nvSpPr>
          <p:cNvPr id="50" name="New shape"/>
          <p:cNvSpPr txBox="1"/>
          <p:nvPr/>
        </p:nvSpPr>
        <p:spPr>
          <a:xfrm>
            <a:off x="4857750" y="3786505"/>
            <a:ext cx="2886075"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Wichtige Informationen sind für mich leicht zugänglich</a:t>
            </a:r>
          </a:p>
        </p:txBody>
      </p:sp>
      <p:sp>
        <p:nvSpPr>
          <p:cNvPr id="51" name="New shape"/>
          <p:cNvSpPr txBox="1"/>
          <p:nvPr/>
        </p:nvSpPr>
        <p:spPr>
          <a:xfrm>
            <a:off x="7800975" y="3786505"/>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52" name="New shape"/>
          <p:cNvSpPr txBox="1"/>
          <p:nvPr/>
        </p:nvSpPr>
        <p:spPr>
          <a:xfrm>
            <a:off x="8286750" y="3786505"/>
            <a:ext cx="45720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a:t>
            </a:r>
          </a:p>
        </p:txBody>
      </p:sp>
      <p:sp>
        <p:nvSpPr>
          <p:cNvPr id="53" name="New shape"/>
          <p:cNvSpPr/>
          <p:nvPr/>
        </p:nvSpPr>
        <p:spPr>
          <a:xfrm flipH="1">
            <a:off x="4572000" y="1517650"/>
            <a:ext cx="0" cy="269748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57162" y="4883467"/>
            <a:ext cx="100012" cy="120015"/>
          </a:xfrm>
          <a:prstGeom prst="rect">
            <a:avLst/>
          </a:prstGeom>
        </p:spPr>
      </p:pic>
      <p:sp>
        <p:nvSpPr>
          <p:cNvPr id="55" name="New shape"/>
          <p:cNvSpPr txBox="1"/>
          <p:nvPr/>
        </p:nvSpPr>
        <p:spPr>
          <a:xfrm>
            <a:off x="32861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2867C9"/>
                </a:solidFill>
                <a:latin typeface="Poppins"/>
              </a:rPr>
              <a:t>Aktuell</a:t>
            </a:r>
            <a:r>
              <a:rPr sz="675" b="0" i="0" dirty="0">
                <a:solidFill>
                  <a:srgbClr val="2867C9"/>
                </a:solidFill>
                <a:latin typeface="Poppins"/>
              </a:rPr>
              <a:t>: </a:t>
            </a:r>
            <a:r>
              <a:rPr lang="en-US" sz="675" b="0" i="0" dirty="0">
                <a:solidFill>
                  <a:srgbClr val="2867C9"/>
                </a:solidFill>
                <a:latin typeface="Poppins"/>
              </a:rPr>
              <a:t>Novanta B.V.</a:t>
            </a:r>
            <a:endParaRPr sz="675" b="0" i="0" dirty="0">
              <a:solidFill>
                <a:srgbClr val="2867C9"/>
              </a:solidFill>
              <a:latin typeface="Poppins"/>
            </a:endParaRPr>
          </a:p>
        </p:txBody>
      </p:sp>
      <p:pic>
        <p:nvPicPr>
          <p:cNvPr id="56" name="New picture"/>
          <p:cNvPicPr/>
          <p:nvPr/>
        </p:nvPicPr>
        <p:blipFill>
          <a:blip>
            <a:extLst>
              <a:ext uri="{96DAC541-7B7A-43D3-8B79-37D633B846F1}">
                <asvg:svgBlip xmlns:asvg="http://schemas.microsoft.com/office/drawing/2016/SVG/main" r:embed="rId5"/>
              </a:ext>
            </a:extLst>
          </a:blip>
          <a:stretch>
            <a:fillRect/>
          </a:stretch>
        </p:blipFill>
        <p:spPr>
          <a:xfrm>
            <a:off x="1114425" y="4890969"/>
            <a:ext cx="105013" cy="105013"/>
          </a:xfrm>
          <a:prstGeom prst="rect">
            <a:avLst/>
          </a:prstGeom>
        </p:spPr>
      </p:pic>
      <p:sp>
        <p:nvSpPr>
          <p:cNvPr id="57" name="New shape"/>
          <p:cNvSpPr txBox="1"/>
          <p:nvPr/>
        </p:nvSpPr>
        <p:spPr>
          <a:xfrm>
            <a:off x="129087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5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5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60"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6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3"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6724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Themen</a:t>
            </a:r>
            <a:r>
              <a:rPr sz="2250" b="1" i="0" dirty="0">
                <a:solidFill>
                  <a:srgbClr val="192743"/>
                </a:solidFill>
                <a:latin typeface="Poppins"/>
              </a:rPr>
              <a:t> für </a:t>
            </a:r>
            <a:r>
              <a:rPr lang="en-US" sz="2250" b="1" i="0" dirty="0">
                <a:solidFill>
                  <a:srgbClr val="192743"/>
                </a:solidFill>
                <a:latin typeface="Poppins"/>
              </a:rPr>
              <a:t>Novanta B.V.</a:t>
            </a:r>
            <a:endParaRPr sz="2250" b="1" i="0" dirty="0">
              <a:solidFill>
                <a:srgbClr val="192743"/>
              </a:solidFill>
              <a:latin typeface="Poppins"/>
            </a:endParaRPr>
          </a:p>
        </p:txBody>
      </p:sp>
      <p:sp>
        <p:nvSpPr>
          <p:cNvPr id="3" name="New shape"/>
          <p:cNvSpPr txBox="1"/>
          <p:nvPr/>
        </p:nvSpPr>
        <p:spPr>
          <a:xfrm>
            <a:off x="457200" y="838007"/>
            <a:ext cx="167353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Ausgewählt</a:t>
            </a:r>
            <a:r>
              <a:rPr sz="900" b="0" i="0" dirty="0">
                <a:solidFill>
                  <a:srgbClr val="546178"/>
                </a:solidFill>
                <a:latin typeface="Poppins"/>
              </a:rPr>
              <a:t> von </a:t>
            </a:r>
            <a:r>
              <a:rPr lang="en-US" sz="900" b="0" i="0" dirty="0">
                <a:solidFill>
                  <a:srgbClr val="546178"/>
                </a:solidFill>
                <a:latin typeface="Poppins"/>
              </a:rPr>
              <a:t>Novanta B.V.</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sticht für Sie wirklich positiv hervor?</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Kommunikation in meinem Unternehmen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haben Sie gesehen oder erlebt, das verbessert werden könnte? Vergessen Sie nicht, uns einen Vorschlag dazu zu geben.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Teamdynamik (Atmosphäre, Vertrauen)</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Befragte</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50120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wichtigsten Ergebnisse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Im Fokus: Indizes mit den niedrigsten Ergebnissen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Verteilung der Antworten</a:t>
            </a:r>
          </a:p>
        </p:txBody>
      </p:sp>
      <p:sp>
        <p:nvSpPr>
          <p:cNvPr id="3"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Engagement</a:t>
            </a:r>
          </a:p>
        </p:txBody>
      </p:sp>
      <p:sp>
        <p:nvSpPr>
          <p:cNvPr id="5" name="New shape"/>
          <p:cNvSpPr txBox="1"/>
          <p:nvPr/>
        </p:nvSpPr>
        <p:spPr>
          <a:xfrm>
            <a:off x="528638" y="1580940"/>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Arbeit macht mir Spaß</a:t>
            </a:r>
          </a:p>
        </p:txBody>
      </p:sp>
      <p:sp>
        <p:nvSpPr>
          <p:cNvPr id="6" name="New shape"/>
          <p:cNvSpPr/>
          <p:nvPr/>
        </p:nvSpPr>
        <p:spPr>
          <a:xfrm>
            <a:off x="5757862" y="1549051"/>
            <a:ext cx="175564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7" name="New shape"/>
          <p:cNvSpPr/>
          <p:nvPr/>
        </p:nvSpPr>
        <p:spPr>
          <a:xfrm>
            <a:off x="7527798" y="15490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8" name="New shape"/>
          <p:cNvSpPr/>
          <p:nvPr/>
        </p:nvSpPr>
        <p:spPr>
          <a:xfrm>
            <a:off x="7871269" y="1549051"/>
            <a:ext cx="65836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9" name="New shape"/>
          <p:cNvSpPr txBox="1"/>
          <p:nvPr/>
        </p:nvSpPr>
        <p:spPr>
          <a:xfrm>
            <a:off x="5729288" y="14165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0" name="New shape"/>
          <p:cNvSpPr txBox="1"/>
          <p:nvPr/>
        </p:nvSpPr>
        <p:spPr>
          <a:xfrm>
            <a:off x="7836694" y="14165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1"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528638" y="2038141"/>
            <a:ext cx="158573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Arbeit motiviert mich</a:t>
            </a:r>
          </a:p>
        </p:txBody>
      </p:sp>
      <p:sp>
        <p:nvSpPr>
          <p:cNvPr id="13" name="New shape"/>
          <p:cNvSpPr/>
          <p:nvPr/>
        </p:nvSpPr>
        <p:spPr>
          <a:xfrm>
            <a:off x="5757862" y="20062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14" name="New shape"/>
          <p:cNvSpPr/>
          <p:nvPr/>
        </p:nvSpPr>
        <p:spPr>
          <a:xfrm>
            <a:off x="7747254" y="2006251"/>
            <a:ext cx="329184"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5" name="New shape"/>
          <p:cNvSpPr/>
          <p:nvPr/>
        </p:nvSpPr>
        <p:spPr>
          <a:xfrm>
            <a:off x="8090725" y="20062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6" name="New shape"/>
          <p:cNvSpPr txBox="1"/>
          <p:nvPr/>
        </p:nvSpPr>
        <p:spPr>
          <a:xfrm>
            <a:off x="5729288" y="18737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7" name="New shape"/>
          <p:cNvSpPr txBox="1"/>
          <p:nvPr/>
        </p:nvSpPr>
        <p:spPr>
          <a:xfrm>
            <a:off x="7836694" y="18737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8"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528638" y="2495357"/>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20" name="New shape"/>
          <p:cNvSpPr/>
          <p:nvPr/>
        </p:nvSpPr>
        <p:spPr>
          <a:xfrm>
            <a:off x="5757863" y="2463451"/>
            <a:ext cx="189280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1" name="New shape"/>
          <p:cNvSpPr/>
          <p:nvPr/>
        </p:nvSpPr>
        <p:spPr>
          <a:xfrm>
            <a:off x="7664958" y="24634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2" name="New shape"/>
          <p:cNvSpPr/>
          <p:nvPr/>
        </p:nvSpPr>
        <p:spPr>
          <a:xfrm>
            <a:off x="7926133" y="2463451"/>
            <a:ext cx="60350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23" name="New shape"/>
          <p:cNvSpPr txBox="1"/>
          <p:nvPr/>
        </p:nvSpPr>
        <p:spPr>
          <a:xfrm>
            <a:off x="5729288" y="23309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4" name="New shape"/>
          <p:cNvSpPr txBox="1"/>
          <p:nvPr/>
        </p:nvSpPr>
        <p:spPr>
          <a:xfrm>
            <a:off x="7836694" y="23309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5"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528638" y="2952557"/>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passe</a:t>
            </a:r>
          </a:p>
        </p:txBody>
      </p:sp>
      <p:sp>
        <p:nvSpPr>
          <p:cNvPr id="27" name="New shape"/>
          <p:cNvSpPr/>
          <p:nvPr/>
        </p:nvSpPr>
        <p:spPr>
          <a:xfrm>
            <a:off x="5757862" y="2920651"/>
            <a:ext cx="208483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28" name="New shape"/>
          <p:cNvSpPr/>
          <p:nvPr/>
        </p:nvSpPr>
        <p:spPr>
          <a:xfrm>
            <a:off x="7856982" y="2920651"/>
            <a:ext cx="246888"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29" name="New shape"/>
          <p:cNvSpPr/>
          <p:nvPr/>
        </p:nvSpPr>
        <p:spPr>
          <a:xfrm>
            <a:off x="8118158" y="2920651"/>
            <a:ext cx="41148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30" name="New shape"/>
          <p:cNvSpPr txBox="1"/>
          <p:nvPr/>
        </p:nvSpPr>
        <p:spPr>
          <a:xfrm>
            <a:off x="5729288" y="27881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31" name="New shape"/>
          <p:cNvSpPr txBox="1"/>
          <p:nvPr/>
        </p:nvSpPr>
        <p:spPr>
          <a:xfrm>
            <a:off x="7836694" y="27881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32"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3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36" name="New shape"/>
          <p:cNvSpPr txBox="1"/>
          <p:nvPr/>
        </p:nvSpPr>
        <p:spPr>
          <a:xfrm flipV="1">
            <a:off x="0" y="0"/>
            <a:ext cx="263960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Im Fokus: Indizes mit den niedrigsten Ergebnissen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txBox="1"/>
          <p:nvPr/>
        </p:nvSpPr>
        <p:spPr>
          <a:xfrm flipV="1">
            <a:off x="0" y="0"/>
            <a:ext cx="263960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Im Fokus: Indizes mit den niedrigsten Ergebnissen</a:t>
            </a:r>
          </a:p>
        </p:txBody>
      </p:sp>
      <p:sp>
        <p:nvSpPr>
          <p:cNvPr id="6" name="New shape"/>
          <p:cNvSpPr txBox="1"/>
          <p:nvPr/>
        </p:nvSpPr>
        <p:spPr>
          <a:xfrm>
            <a:off x="457200" y="457200"/>
            <a:ext cx="7858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Verteilung der Antworten</a:t>
            </a:r>
          </a:p>
        </p:txBody>
      </p:sp>
      <p:sp>
        <p:nvSpPr>
          <p:cNvPr id="7" name="New shape"/>
          <p:cNvSpPr/>
          <p:nvPr/>
        </p:nvSpPr>
        <p:spPr>
          <a:xfrm>
            <a:off x="0" y="1057275"/>
            <a:ext cx="9144000" cy="300038"/>
          </a:xfrm>
          <a:prstGeom prst="rect">
            <a:avLst/>
          </a:prstGeom>
          <a:solidFill>
            <a:srgbClr val="E0F6F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txBox="1"/>
          <p:nvPr/>
        </p:nvSpPr>
        <p:spPr>
          <a:xfrm>
            <a:off x="528638" y="1057275"/>
            <a:ext cx="76009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127000" rIns="0" bIns="0" rtlCol="0" anchor="ctr">
            <a:noAutofit/>
          </a:bodyPr>
          <a:lstStyle/>
          <a:p>
            <a:pPr algn="l">
              <a:lnSpc>
                <a:spcPct val="100000"/>
              </a:lnSpc>
            </a:pPr>
            <a:r>
              <a:rPr sz="900" b="1" i="0">
                <a:solidFill>
                  <a:srgbClr val="009CD4"/>
                </a:solidFill>
                <a:latin typeface="Poppins"/>
              </a:rPr>
              <a:t>Mitarbeiter führen</a:t>
            </a:r>
          </a:p>
        </p:txBody>
      </p:sp>
      <p:sp>
        <p:nvSpPr>
          <p:cNvPr id="9" name="New shape"/>
          <p:cNvSpPr txBox="1"/>
          <p:nvPr/>
        </p:nvSpPr>
        <p:spPr>
          <a:xfrm>
            <a:off x="528638" y="1580940"/>
            <a:ext cx="332700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Meine Fähigkeiten und Kenntnisse passen zu meinem Job</a:t>
            </a:r>
          </a:p>
        </p:txBody>
      </p:sp>
      <p:sp>
        <p:nvSpPr>
          <p:cNvPr id="10" name="New shape"/>
          <p:cNvSpPr/>
          <p:nvPr/>
        </p:nvSpPr>
        <p:spPr>
          <a:xfrm>
            <a:off x="5757862" y="1549051"/>
            <a:ext cx="2029968"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11" name="New shape"/>
          <p:cNvSpPr/>
          <p:nvPr/>
        </p:nvSpPr>
        <p:spPr>
          <a:xfrm>
            <a:off x="7802118" y="15490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12" name="New shape"/>
          <p:cNvSpPr/>
          <p:nvPr/>
        </p:nvSpPr>
        <p:spPr>
          <a:xfrm>
            <a:off x="8090726" y="1549051"/>
            <a:ext cx="438912"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13" name="New shape"/>
          <p:cNvSpPr txBox="1"/>
          <p:nvPr/>
        </p:nvSpPr>
        <p:spPr>
          <a:xfrm>
            <a:off x="5729288" y="14165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14" name="New shape"/>
          <p:cNvSpPr txBox="1"/>
          <p:nvPr/>
        </p:nvSpPr>
        <p:spPr>
          <a:xfrm>
            <a:off x="7836694" y="14165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15" name="New shape"/>
          <p:cNvSpPr/>
          <p:nvPr/>
        </p:nvSpPr>
        <p:spPr>
          <a:xfrm>
            <a:off x="528638" y="18216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6" name="New shape"/>
          <p:cNvSpPr txBox="1"/>
          <p:nvPr/>
        </p:nvSpPr>
        <p:spPr>
          <a:xfrm>
            <a:off x="528638" y="2038141"/>
            <a:ext cx="346489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Ich weiß, welche Arbeitsergebnisse von mir erwartet werden</a:t>
            </a:r>
          </a:p>
        </p:txBody>
      </p:sp>
      <p:sp>
        <p:nvSpPr>
          <p:cNvPr id="17" name="New shape"/>
          <p:cNvSpPr/>
          <p:nvPr/>
        </p:nvSpPr>
        <p:spPr>
          <a:xfrm>
            <a:off x="5757863" y="2006251"/>
            <a:ext cx="181051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18" name="New shape"/>
          <p:cNvSpPr/>
          <p:nvPr/>
        </p:nvSpPr>
        <p:spPr>
          <a:xfrm>
            <a:off x="7582661" y="2006251"/>
            <a:ext cx="41148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19" name="New shape"/>
          <p:cNvSpPr/>
          <p:nvPr/>
        </p:nvSpPr>
        <p:spPr>
          <a:xfrm>
            <a:off x="8008429" y="20062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20" name="New shape"/>
          <p:cNvSpPr txBox="1"/>
          <p:nvPr/>
        </p:nvSpPr>
        <p:spPr>
          <a:xfrm>
            <a:off x="5729288" y="18737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1" name="New shape"/>
          <p:cNvSpPr txBox="1"/>
          <p:nvPr/>
        </p:nvSpPr>
        <p:spPr>
          <a:xfrm>
            <a:off x="7836694" y="18737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2" name="New shape"/>
          <p:cNvSpPr/>
          <p:nvPr/>
        </p:nvSpPr>
        <p:spPr>
          <a:xfrm>
            <a:off x="528638" y="22788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528638" y="2495341"/>
            <a:ext cx="363485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Ich erhalte regelmäßig nützliches Feedback zu meiner Leistung</a:t>
            </a:r>
          </a:p>
        </p:txBody>
      </p:sp>
      <p:sp>
        <p:nvSpPr>
          <p:cNvPr id="24" name="New shape"/>
          <p:cNvSpPr/>
          <p:nvPr/>
        </p:nvSpPr>
        <p:spPr>
          <a:xfrm>
            <a:off x="5757862" y="2463451"/>
            <a:ext cx="1975104"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5" name="New shape"/>
          <p:cNvSpPr/>
          <p:nvPr/>
        </p:nvSpPr>
        <p:spPr>
          <a:xfrm>
            <a:off x="7747254" y="2463451"/>
            <a:ext cx="301752"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26" name="New shape"/>
          <p:cNvSpPr/>
          <p:nvPr/>
        </p:nvSpPr>
        <p:spPr>
          <a:xfrm>
            <a:off x="8063293" y="2463451"/>
            <a:ext cx="466344"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27" name="New shape"/>
          <p:cNvSpPr txBox="1"/>
          <p:nvPr/>
        </p:nvSpPr>
        <p:spPr>
          <a:xfrm>
            <a:off x="5729288" y="23309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28" name="New shape"/>
          <p:cNvSpPr txBox="1"/>
          <p:nvPr/>
        </p:nvSpPr>
        <p:spPr>
          <a:xfrm>
            <a:off x="7836694" y="23309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29" name="New shape"/>
          <p:cNvSpPr/>
          <p:nvPr/>
        </p:nvSpPr>
        <p:spPr>
          <a:xfrm>
            <a:off x="528638" y="27360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528638" y="2952557"/>
            <a:ext cx="2180084"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192743"/>
                </a:solidFill>
                <a:latin typeface="Poppins"/>
              </a:rPr>
              <a:t>Bei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wird</a:t>
            </a:r>
            <a:r>
              <a:rPr sz="900" b="0" i="0" dirty="0">
                <a:solidFill>
                  <a:srgbClr val="192743"/>
                </a:solidFill>
                <a:latin typeface="Poppins"/>
              </a:rPr>
              <a:t> </a:t>
            </a:r>
            <a:r>
              <a:rPr sz="900" b="0" i="0" dirty="0" err="1">
                <a:solidFill>
                  <a:srgbClr val="192743"/>
                </a:solidFill>
                <a:latin typeface="Poppins"/>
              </a:rPr>
              <a:t>Leistung</a:t>
            </a:r>
            <a:r>
              <a:rPr sz="900" b="0" i="0" dirty="0">
                <a:solidFill>
                  <a:srgbClr val="192743"/>
                </a:solidFill>
                <a:latin typeface="Poppins"/>
              </a:rPr>
              <a:t> </a:t>
            </a:r>
            <a:r>
              <a:rPr sz="900" b="0" i="0" dirty="0" err="1">
                <a:solidFill>
                  <a:srgbClr val="192743"/>
                </a:solidFill>
                <a:latin typeface="Poppins"/>
              </a:rPr>
              <a:t>belohnt</a:t>
            </a:r>
            <a:endParaRPr sz="900" b="0" i="0" dirty="0">
              <a:solidFill>
                <a:srgbClr val="192743"/>
              </a:solidFill>
              <a:latin typeface="Poppins"/>
            </a:endParaRPr>
          </a:p>
        </p:txBody>
      </p:sp>
      <p:sp>
        <p:nvSpPr>
          <p:cNvPr id="31" name="New shape"/>
          <p:cNvSpPr/>
          <p:nvPr/>
        </p:nvSpPr>
        <p:spPr>
          <a:xfrm>
            <a:off x="5757862" y="2920651"/>
            <a:ext cx="1947672"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32" name="New shape"/>
          <p:cNvSpPr/>
          <p:nvPr/>
        </p:nvSpPr>
        <p:spPr>
          <a:xfrm>
            <a:off x="7719822" y="29206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3" name="New shape"/>
          <p:cNvSpPr/>
          <p:nvPr/>
        </p:nvSpPr>
        <p:spPr>
          <a:xfrm>
            <a:off x="8008430" y="2920651"/>
            <a:ext cx="521208"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34" name="New shape"/>
          <p:cNvSpPr txBox="1"/>
          <p:nvPr/>
        </p:nvSpPr>
        <p:spPr>
          <a:xfrm>
            <a:off x="5729288" y="27881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35" name="New shape"/>
          <p:cNvSpPr txBox="1"/>
          <p:nvPr/>
        </p:nvSpPr>
        <p:spPr>
          <a:xfrm>
            <a:off x="7836694" y="27881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36" name="New shape"/>
          <p:cNvSpPr/>
          <p:nvPr/>
        </p:nvSpPr>
        <p:spPr>
          <a:xfrm>
            <a:off x="528638" y="31932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7" name="New shape"/>
          <p:cNvSpPr txBox="1"/>
          <p:nvPr/>
        </p:nvSpPr>
        <p:spPr>
          <a:xfrm>
            <a:off x="528638" y="3409741"/>
            <a:ext cx="350016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Wenn ich gute Arbeit leiste, erhalte ich Lob und Anerkennung</a:t>
            </a:r>
          </a:p>
        </p:txBody>
      </p:sp>
      <p:sp>
        <p:nvSpPr>
          <p:cNvPr id="38" name="New shape"/>
          <p:cNvSpPr/>
          <p:nvPr/>
        </p:nvSpPr>
        <p:spPr>
          <a:xfrm>
            <a:off x="5757862" y="3377851"/>
            <a:ext cx="1920240" cy="200025"/>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39" name="New shape"/>
          <p:cNvSpPr/>
          <p:nvPr/>
        </p:nvSpPr>
        <p:spPr>
          <a:xfrm>
            <a:off x="7692390" y="3377851"/>
            <a:ext cx="274320" cy="200025"/>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40" name="New shape"/>
          <p:cNvSpPr/>
          <p:nvPr/>
        </p:nvSpPr>
        <p:spPr>
          <a:xfrm>
            <a:off x="7980998" y="3377851"/>
            <a:ext cx="548640" cy="200025"/>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41" name="New shape"/>
          <p:cNvSpPr txBox="1"/>
          <p:nvPr/>
        </p:nvSpPr>
        <p:spPr>
          <a:xfrm>
            <a:off x="5729288" y="3245377"/>
            <a:ext cx="48101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25400" tIns="0" rIns="0" bIns="0" rtlCol="0" anchor="b">
            <a:spAutoFit/>
          </a:bodyPr>
          <a:lstStyle/>
          <a:p>
            <a:pPr algn="l">
              <a:lnSpc>
                <a:spcPct val="100000"/>
              </a:lnSpc>
            </a:pPr>
            <a:r>
              <a:rPr sz="675" b="0" i="0">
                <a:solidFill>
                  <a:srgbClr val="192743"/>
                </a:solidFill>
                <a:latin typeface="Poppins"/>
              </a:rPr>
              <a:t>Stimme zu</a:t>
            </a:r>
          </a:p>
        </p:txBody>
      </p:sp>
      <p:sp>
        <p:nvSpPr>
          <p:cNvPr id="42" name="New shape"/>
          <p:cNvSpPr txBox="1"/>
          <p:nvPr/>
        </p:nvSpPr>
        <p:spPr>
          <a:xfrm>
            <a:off x="7836694" y="3245377"/>
            <a:ext cx="721519"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spAutoFit/>
          </a:bodyPr>
          <a:lstStyle/>
          <a:p>
            <a:pPr algn="r">
              <a:lnSpc>
                <a:spcPct val="100000"/>
              </a:lnSpc>
            </a:pPr>
            <a:r>
              <a:rPr sz="675" b="0" i="0">
                <a:solidFill>
                  <a:srgbClr val="192743"/>
                </a:solidFill>
                <a:latin typeface="Poppins"/>
              </a:rPr>
              <a:t>Stimme nicht zu</a:t>
            </a:r>
          </a:p>
        </p:txBody>
      </p:sp>
      <p:sp>
        <p:nvSpPr>
          <p:cNvPr id="43" name="New shape"/>
          <p:cNvSpPr/>
          <p:nvPr/>
        </p:nvSpPr>
        <p:spPr>
          <a:xfrm>
            <a:off x="528638" y="3650456"/>
            <a:ext cx="808672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Ergebnisse verstehen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Verglichene Elemente und Ergebnis-Berechnung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Top-2-Box oder Positiv-Ergebnisbereich</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Bei der Top-2-Box-Berechnung werden für das Abschlussergebnis je Frage die Prozentsätze der Personen kombiniert, die entweder „Stimme voll zu“ oder „Stimme eher zu“ ausgewählt haben.</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Mögliche Antworten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Prozentuale Verteilung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Top-2-Box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Teils-Teils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Nein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Stimme überhaupt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Fragenergebnis</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Teilnehmende:r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Teilnehmende:r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Teilnehmende:r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von 3 = 67 %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Index-Ergebnis</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Der Prozentsatz aller Personen, die bei den Fragen aller Indizes mit „Stimme eher zu“ oder „Stimme voll zu“ geantwortet haben.</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Teilnehmende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Index-Frage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Index-Frage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von 4 = 75 %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123504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Ergebnisse verstehen</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niedriger.</a:t>
            </a:r>
          </a:p>
        </p:txBody>
      </p:sp>
      <p:sp>
        <p:nvSpPr>
          <p:cNvPr id="6" name="New shape"/>
          <p:cNvSpPr/>
          <p:nvPr/>
        </p:nvSpPr>
        <p:spPr>
          <a:xfrm>
            <a:off x="457200" y="189166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niedriger.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höher.</a:t>
            </a:r>
          </a:p>
        </p:txBody>
      </p:sp>
      <p:sp>
        <p:nvSpPr>
          <p:cNvPr id="12" name="New shape"/>
          <p:cNvSpPr/>
          <p:nvPr/>
        </p:nvSpPr>
        <p:spPr>
          <a:xfrm>
            <a:off x="457200" y="33489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höher.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2867C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2867C9"/>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2867C9"/>
                </a:solidFill>
                <a:latin typeface="Poppins"/>
              </a:rPr>
              <a:t>um 20 % Punkte höher</a:t>
            </a:r>
          </a:p>
        </p:txBody>
      </p:sp>
      <p:grpSp>
        <p:nvGrpSpPr>
          <p:cNvPr id="27" name="Group 26"/>
          <p:cNvGrpSpPr/>
          <p:nvPr/>
        </p:nvGrpSpPr>
        <p:grpSpPr>
          <a:xfrm rot="18900000">
            <a:off x="6279278" y="1899034"/>
            <a:ext cx="528574" cy="171450"/>
            <a:chOff x="5801519" y="1436688"/>
            <a:chExt cx="52857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1426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2867C9"/>
                  </a:solidFill>
                  <a:latin typeface="Poppins"/>
                </a:rPr>
                <a:t>Aktuell</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4410" y="1809479"/>
            <a:ext cx="835549" cy="150019"/>
            <a:chOff x="7687469" y="1447403"/>
            <a:chExt cx="835549"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6140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Unternehmen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7"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23504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Ergebnisse verstehen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Beteiligungsquote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und 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Ihre insgesamte Beteiligungsquote im Vergleich zu vorherigen Befragungen und zu der Benchmark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968693" y="4897041"/>
            <a:ext cx="114300" cy="121444"/>
          </a:xfrm>
          <a:prstGeom prst="rect">
            <a:avLst/>
          </a:prstGeom>
        </p:spPr>
      </p:pic>
      <p:sp>
        <p:nvSpPr>
          <p:cNvPr id="26"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07630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Beteiligungsquote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pro Befragungsgruppe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Erfahren Sie, wie viele Mitarbeitende die Befragung in all Ihren Befragungsgruppen abgeschlossen haben.</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2867C9"/>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968693" y="4897041"/>
            <a:ext cx="114300" cy="121444"/>
          </a:xfrm>
          <a:prstGeom prst="rect">
            <a:avLst/>
          </a:prstGeom>
        </p:spPr>
      </p:pic>
      <p:sp>
        <p:nvSpPr>
          <p:cNvPr id="55"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07630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Beteiligungsquote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1726</Words>
  <Application>Microsoft Macintosh PowerPoint</Application>
  <PresentationFormat>On-screen Show (16:9)</PresentationFormat>
  <Paragraphs>570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2026-06-29T13:19:32Z</cp:lastPrinted>
  <dcterms:created xsi:type="dcterms:W3CDTF">2026-06-29T13:19:32Z</dcterms:created>
  <dcterms:modified xsi:type="dcterms:W3CDTF">2026-06-30T12:04:29Z</dcterms:modified>
</cp:coreProperties>
</file>