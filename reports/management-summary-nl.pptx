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9" r:id="rId2"/>
    <p:sldId id="262" r:id="rId3"/>
    <p:sldId id="265" r:id="rId4"/>
    <p:sldId id="268" r:id="rId5"/>
    <p:sldId id="271" r:id="rId6"/>
    <p:sldId id="274" r:id="rId7"/>
    <p:sldId id="277" r:id="rId8"/>
    <p:sldId id="280" r:id="rId9"/>
    <p:sldId id="283" r:id="rId10"/>
    <p:sldId id="286" r:id="rId11"/>
    <p:sldId id="289" r:id="rId12"/>
    <p:sldId id="292" r:id="rId13"/>
    <p:sldId id="295" r:id="rId14"/>
    <p:sldId id="298" r:id="rId15"/>
    <p:sldId id="304" r:id="rId16"/>
    <p:sldId id="307" r:id="rId17"/>
    <p:sldId id="310" r:id="rId18"/>
    <p:sldId id="313" r:id="rId19"/>
    <p:sldId id="316" r:id="rId20"/>
    <p:sldId id="319" r:id="rId21"/>
  </p:sldIdLst>
  <p:sldSz cx="9144000" cy="5143500" type="screen16x9"/>
  <p:notesSz cx="6858000" cy="9144000"/>
  <p:embeddedFontLst>
    <p:embeddedFont>
      <p:font typeface="Poppins" pitchFamily="2" charset="77"/>
      <p:regular r:id="rId22"/>
      <p:bold r:id="rId23"/>
      <p:italic r:id="rId24"/>
      <p:boldItalic r:id="rId25"/>
    </p:embeddedFont>
  </p:embeddedFontLst>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97"/>
    <p:restoredTop sz="0"/>
  </p:normalViewPr>
  <p:slideViewPr>
    <p:cSldViewPr>
      <p:cViewPr varScale="1">
        <p:scale>
          <a:sx n="138" d="100"/>
          <a:sy n="138" d="100"/>
        </p:scale>
        <p:origin x="192" y="696"/>
      </p:cViewPr>
      <p:guideLst>
        <p:guide orient="horz" pos="2160"/>
        <p:guide pos="2880"/>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Click to edit Master title style</a:t>
            </a:r>
          </a:p>
        </p:txBody>
      </p:sp>
      <p:sp>
        <p:nvSpPr>
          <p:cNvPr id="3" name="Subtitle 2"/>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2"/>
          </p:nvPr>
        </p:nvSpPr>
        <p:spPr/>
        <p:txBody>
          <a:bodyPr/>
          <a:lstStyle/>
          <a:p>
            <a:fld id="{F1D79409-757B-414A-A8C8-971404F0C3B3}"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53B0EF4A-6B82-4595-99B9-C9613731FEC0}"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a:t>Click to edit Master text styles</a:t>
            </a:r>
          </a:p>
        </p:txBody>
      </p:sp>
      <p:sp>
        <p:nvSpPr>
          <p:cNvPr id="4" name="Date Placeholder 3"/>
          <p:cNvSpPr>
            <a:spLocks noGrp="1"/>
          </p:cNvSpPr>
          <p:nvPr>
            <p:ph type="dt" sz="half" idx="2"/>
          </p:nvPr>
        </p:nvSpPr>
        <p:spPr/>
        <p:txBody>
          <a:bodyPr/>
          <a:lstStyle/>
          <a:p>
            <a:fld id="{9AEBF8F6-0E8B-4F5A-8CE3-6CDE18489714}"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3"/>
          </p:nvPr>
        </p:nvSpPr>
        <p:spPr/>
        <p:txBody>
          <a:bodyPr/>
          <a:lstStyle/>
          <a:p>
            <a:fld id="{6D394FAD-08B4-46EA-840A-27A0FB55ECA8}" type="datetimeFigureOut">
              <a:rPr lang="en-US" smtClean="0"/>
              <a:t>6/30/26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4" name="Content Placeholder 3"/>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6" name="Content Placeholder 5"/>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5"/>
          </p:nvPr>
        </p:nvSpPr>
        <p:spPr/>
        <p:txBody>
          <a:bodyPr/>
          <a:lstStyle/>
          <a:p>
            <a:fld id="{3A212AEB-4B84-4B53-8659-48224D50734E}" type="datetimeFigureOut">
              <a:rPr lang="en-US" smtClean="0"/>
              <a:t>6/30/26</a:t>
            </a:fld>
            <a:endParaRPr lang="en-US"/>
          </a:p>
        </p:txBody>
      </p:sp>
      <p:sp>
        <p:nvSpPr>
          <p:cNvPr id="8" name="Footer Placeholder 7"/>
          <p:cNvSpPr>
            <a:spLocks noGrp="1"/>
          </p:cNvSpPr>
          <p:nvPr>
            <p:ph type="ftr" sz="quarter" idx="6"/>
          </p:nvPr>
        </p:nvSpPr>
        <p:spPr/>
        <p:txBody>
          <a:bodyPr/>
          <a:lstStyle/>
          <a:p>
            <a:endParaRPr lang="en-US"/>
          </a:p>
        </p:txBody>
      </p:sp>
      <p:sp>
        <p:nvSpPr>
          <p:cNvPr id="9" name="Slide Number Placeholder 8"/>
          <p:cNvSpPr>
            <a:spLocks noGrp="1"/>
          </p:cNvSpPr>
          <p:nvPr>
            <p:ph type="sldNum" sz="quarter" idx="7"/>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
          </p:nvPr>
        </p:nvSpPr>
        <p:spPr/>
        <p:txBody>
          <a:bodyPr/>
          <a:lstStyle/>
          <a:p>
            <a:fld id="{9681DDB7-99A8-4284-BC2A-ADA5436DF5F1}" type="datetimeFigureOut">
              <a:rPr lang="en-US" smtClean="0"/>
              <a:t>6/30/26</a:t>
            </a:fld>
            <a:endParaRPr lang="en-US"/>
          </a:p>
        </p:txBody>
      </p:sp>
      <p:sp>
        <p:nvSpPr>
          <p:cNvPr id="4" name="Footer Placeholder 3"/>
          <p:cNvSpPr>
            <a:spLocks noGrp="1"/>
          </p:cNvSpPr>
          <p:nvPr>
            <p:ph type="ftr" sz="quarter" idx="2"/>
          </p:nvPr>
        </p:nvSpPr>
        <p:spPr/>
        <p:txBody>
          <a:bodyPr/>
          <a:lstStyle/>
          <a:p>
            <a:endParaRPr lang="en-US"/>
          </a:p>
        </p:txBody>
      </p:sp>
      <p:sp>
        <p:nvSpPr>
          <p:cNvPr id="5" name="Slide Number Placeholder 4"/>
          <p:cNvSpPr>
            <a:spLocks noGrp="1"/>
          </p:cNvSpPr>
          <p:nvPr>
            <p:ph type="sldNum" sz="quarter" idx="3"/>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94BF1CC9-6B4F-41DE-990A-A8D0E55BB57E}" type="datetimeFigureOut">
              <a:rPr lang="en-US" smtClean="0"/>
              <a:t>6/30/26</a:t>
            </a:fld>
            <a:endParaRPr lang="en-US"/>
          </a:p>
        </p:txBody>
      </p:sp>
      <p:sp>
        <p:nvSpPr>
          <p:cNvPr id="3" name="Footer Placeholder 2"/>
          <p:cNvSpPr>
            <a:spLocks noGrp="1"/>
          </p:cNvSpPr>
          <p:nvPr>
            <p:ph type="ftr" sz="quarter" idx="1"/>
          </p:nvPr>
        </p:nvSpPr>
        <p:spPr/>
        <p:txBody>
          <a:bodyPr/>
          <a:lstStyle/>
          <a:p>
            <a:endParaRPr lang="en-US"/>
          </a:p>
        </p:txBody>
      </p:sp>
      <p:sp>
        <p:nvSpPr>
          <p:cNvPr id="4" name="Slide Number Placeholder 3"/>
          <p:cNvSpPr>
            <a:spLocks noGrp="1"/>
          </p:cNvSpPr>
          <p:nvPr>
            <p:ph type="sldNum" sz="quarter" idx="2"/>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C99B6500-3768-4605-BC50-ADFC5A918DCF}" type="datetimeFigureOut">
              <a:rPr lang="en-US" smtClean="0"/>
              <a:t>6/30/26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631C55D2-525C-4BC6-99DE-730F2135F329}" type="datetimeFigureOut">
              <a:rPr lang="en-US" smtClean="0"/>
              <a:t>6/30/26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72A292B7-655C-4441-9053-5AC256704D6B}"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p:txBody>
          <a:bodyPr vert="eaVert"/>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0C418B1D-D024-4CDC-B08E-5681D0715273}"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6/30/26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slide" Target="slide18.xml"/><Relationship Id="rId5" Type="http://schemas.openxmlformats.org/officeDocument/2006/relationships/slide" Target="slide15.xml"/><Relationship Id="rId4" Type="http://schemas.openxmlformats.org/officeDocument/2006/relationships/slide" Target="slide1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8.svg"/><Relationship Id="rId7" Type="http://schemas.openxmlformats.org/officeDocument/2006/relationships/image" Target="../media/image17.svg"/><Relationship Id="rId2" Type="http://schemas.openxmlformats.org/officeDocument/2006/relationships/image" Target="../media/image14.svg"/><Relationship Id="rId1" Type="http://schemas.openxmlformats.org/officeDocument/2006/relationships/slideLayout" Target="../slideLayouts/slideLayout7.xml"/><Relationship Id="rId6" Type="http://schemas.openxmlformats.org/officeDocument/2006/relationships/image" Target="../media/image9.svg"/><Relationship Id="rId11" Type="http://schemas.openxmlformats.org/officeDocument/2006/relationships/image" Target="../media/image21.svg"/><Relationship Id="rId5" Type="http://schemas.openxmlformats.org/officeDocument/2006/relationships/image" Target="../media/image16.svg"/><Relationship Id="rId10" Type="http://schemas.openxmlformats.org/officeDocument/2006/relationships/image" Target="../media/image20.svg"/><Relationship Id="rId4" Type="http://schemas.openxmlformats.org/officeDocument/2006/relationships/image" Target="../media/image15.svg"/><Relationship Id="rId9" Type="http://schemas.openxmlformats.org/officeDocument/2006/relationships/image" Target="../media/image19.svg"/></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9.svg"/><Relationship Id="rId1" Type="http://schemas.openxmlformats.org/officeDocument/2006/relationships/slideLayout" Target="../slideLayouts/slideLayout7.xml"/><Relationship Id="rId5" Type="http://schemas.openxmlformats.org/officeDocument/2006/relationships/image" Target="../media/image21.svg"/><Relationship Id="rId4" Type="http://schemas.openxmlformats.org/officeDocument/2006/relationships/image" Target="../media/image22.svg"/></Relationships>
</file>

<file path=ppt/slides/_rels/slide9.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26.svg"/><Relationship Id="rId4" Type="http://schemas.openxmlformats.org/officeDocument/2006/relationships/image" Target="../media/image25.svg"/></Relationships>
</file>

<file path=ppt/slides/_rels/slide1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27.svg"/><Relationship Id="rId4" Type="http://schemas.openxmlformats.org/officeDocument/2006/relationships/image" Target="../media/image25.svg"/></Relationships>
</file>

<file path=ppt/slides/_rels/slide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3.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21.svg"/><Relationship Id="rId4" Type="http://schemas.openxmlformats.org/officeDocument/2006/relationships/image" Target="../media/image24.svg"/></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5.sv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29.svg"/></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8.svg"/><Relationship Id="rId7" Type="http://schemas.openxmlformats.org/officeDocument/2006/relationships/image" Target="../media/image22.svg"/><Relationship Id="rId2" Type="http://schemas.openxmlformats.org/officeDocument/2006/relationships/image" Target="../media/image9.svg"/><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18.svg"/><Relationship Id="rId4" Type="http://schemas.openxmlformats.org/officeDocument/2006/relationships/image" Target="../media/image17.svg"/></Relationships>
</file>

<file path=ppt/slides/_rels/slide2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9.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21.svg"/><Relationship Id="rId4" Type="http://schemas.openxmlformats.org/officeDocument/2006/relationships/image" Target="../media/image2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ew picture"/>
          <p:cNvPicPr/>
          <p:nvPr/>
        </p:nvPicPr>
        <p:blipFill>
          <a:blip r:embed="rId2"/>
          <a:stretch>
            <a:fillRect/>
          </a:stretch>
        </p:blipFill>
        <p:spPr>
          <a:xfrm>
            <a:off x="0" y="0"/>
            <a:ext cx="9144000" cy="5143500"/>
          </a:xfrm>
          <a:prstGeom prst="rect">
            <a:avLst/>
          </a:prstGeom>
        </p:spPr>
      </p:pic>
      <p:sp>
        <p:nvSpPr>
          <p:cNvPr id="3" name="New shape"/>
          <p:cNvSpPr txBox="1"/>
          <p:nvPr/>
        </p:nvSpPr>
        <p:spPr>
          <a:xfrm>
            <a:off x="457200" y="1778794"/>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dirty="0" err="1">
                <a:solidFill>
                  <a:srgbClr val="000000"/>
                </a:solidFill>
                <a:latin typeface="Poppins"/>
              </a:rPr>
              <a:t>Managementsamenvatting</a:t>
            </a:r>
            <a:endParaRPr sz="3150" b="1" i="0" dirty="0">
              <a:solidFill>
                <a:srgbClr val="000000"/>
              </a:solidFill>
              <a:latin typeface="Poppins"/>
            </a:endParaRPr>
          </a:p>
        </p:txBody>
      </p:sp>
      <p:sp>
        <p:nvSpPr>
          <p:cNvPr id="4" name="New shape"/>
          <p:cNvSpPr txBox="1"/>
          <p:nvPr/>
        </p:nvSpPr>
        <p:spPr>
          <a:xfrm>
            <a:off x="457200" y="2294572"/>
            <a:ext cx="628650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2700" b="0" i="0" dirty="0">
                <a:solidFill>
                  <a:srgbClr val="192743"/>
                </a:solidFill>
                <a:latin typeface="Poppins"/>
              </a:rPr>
              <a:t>Novanta B.V.</a:t>
            </a:r>
            <a:endParaRPr sz="2700" b="0" i="0" dirty="0">
              <a:solidFill>
                <a:srgbClr val="192743"/>
              </a:solidFill>
              <a:latin typeface="Poppins"/>
            </a:endParaRPr>
          </a:p>
        </p:txBody>
      </p:sp>
      <p:sp>
        <p:nvSpPr>
          <p:cNvPr id="5" name="New shape"/>
          <p:cNvSpPr txBox="1"/>
          <p:nvPr/>
        </p:nvSpPr>
        <p:spPr>
          <a:xfrm>
            <a:off x="114300" y="4750594"/>
            <a:ext cx="5915025" cy="39290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lang="en-US" sz="788" b="1" i="0" dirty="0">
                <a:solidFill>
                  <a:srgbClr val="192743"/>
                </a:solidFill>
                <a:latin typeface="Poppins"/>
              </a:rPr>
              <a:t>Novanta B.V.</a:t>
            </a:r>
            <a:endParaRPr sz="788" b="1" i="0" dirty="0">
              <a:solidFill>
                <a:srgbClr val="192743"/>
              </a:solidFill>
              <a:latin typeface="Poppins"/>
            </a:endParaRPr>
          </a:p>
        </p:txBody>
      </p:sp>
      <p:sp>
        <p:nvSpPr>
          <p:cNvPr id="6" name="New shape"/>
          <p:cNvSpPr txBox="1"/>
          <p:nvPr/>
        </p:nvSpPr>
        <p:spPr>
          <a:xfrm>
            <a:off x="4643438" y="4750594"/>
            <a:ext cx="3929062" cy="392906"/>
          </a:xfrm>
          <a:prstGeom prst="rect">
            <a:avLst/>
          </a:pr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oAutofit/>
          </a:bodyPr>
          <a:lstStyle/>
          <a:p>
            <a:pPr algn="r">
              <a:lnSpc>
                <a:spcPct val="100000"/>
              </a:lnSpc>
            </a:pPr>
            <a:r>
              <a:rPr sz="788" b="1" i="0">
                <a:solidFill>
                  <a:srgbClr val="192743"/>
                </a:solidFill>
                <a:latin typeface="Poppins"/>
              </a:rPr>
              <a:t>Onderzoeksperiode</a:t>
            </a:r>
            <a:r>
              <a:rPr sz="788" b="0" i="0">
                <a:solidFill>
                  <a:srgbClr val="192743"/>
                </a:solidFill>
                <a:latin typeface="Poppins"/>
              </a:rPr>
              <a:t> mei 03, 2024 - mei 08, 2024</a:t>
            </a:r>
          </a:p>
        </p:txBody>
      </p:sp>
      <p:sp>
        <p:nvSpPr>
          <p:cNvPr id="7"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a:t>
            </a:r>
          </a:p>
        </p:txBody>
      </p:sp>
      <p:sp>
        <p:nvSpPr>
          <p:cNvPr id="8"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ew picture"/>
          <p:cNvPicPr/>
          <p:nvPr/>
        </p:nvPicPr>
        <p:blipFill>
          <a:blip r:embed="rId2"/>
          <a:stretch>
            <a:fillRect/>
          </a:stretch>
        </p:blipFill>
        <p:spPr>
          <a:xfrm>
            <a:off x="0" y="0"/>
            <a:ext cx="9144000" cy="5143500"/>
          </a:xfrm>
          <a:prstGeom prst="rect">
            <a:avLst/>
          </a:prstGeom>
        </p:spPr>
      </p:pic>
      <p:sp>
        <p:nvSpPr>
          <p:cNvPr id="3" name="New shape"/>
          <p:cNvSpPr txBox="1"/>
          <p:nvPr/>
        </p:nvSpPr>
        <p:spPr>
          <a:xfrm>
            <a:off x="457200" y="457200"/>
            <a:ext cx="28575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Inhoud</a:t>
            </a:r>
          </a:p>
        </p:txBody>
      </p:sp>
      <p:sp>
        <p:nvSpPr>
          <p:cNvPr id="4" name="New shape"/>
          <p:cNvSpPr txBox="1"/>
          <p:nvPr/>
        </p:nvSpPr>
        <p:spPr>
          <a:xfrm>
            <a:off x="457200" y="125730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1.</a:t>
            </a:r>
          </a:p>
        </p:txBody>
      </p:sp>
      <p:sp>
        <p:nvSpPr>
          <p:cNvPr id="5" name="New shape">
            <a:hlinkClick r:id="rId3" action="ppaction://hlinksldjump"/>
          </p:cNvPr>
          <p:cNvSpPr txBox="1"/>
          <p:nvPr/>
        </p:nvSpPr>
        <p:spPr>
          <a:xfrm>
            <a:off x="835819" y="125730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Belangrijke resultaten</a:t>
            </a:r>
          </a:p>
        </p:txBody>
      </p:sp>
      <p:sp>
        <p:nvSpPr>
          <p:cNvPr id="6" name="New shape"/>
          <p:cNvSpPr txBox="1"/>
          <p:nvPr/>
        </p:nvSpPr>
        <p:spPr>
          <a:xfrm>
            <a:off x="457200" y="163449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2.</a:t>
            </a:r>
          </a:p>
        </p:txBody>
      </p:sp>
      <p:sp>
        <p:nvSpPr>
          <p:cNvPr id="7" name="New shape">
            <a:hlinkClick r:id="rId4" action="ppaction://hlinksldjump"/>
          </p:cNvPr>
          <p:cNvSpPr txBox="1"/>
          <p:nvPr/>
        </p:nvSpPr>
        <p:spPr>
          <a:xfrm>
            <a:off x="835819" y="1634490"/>
            <a:ext cx="314325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Verdiep je in de thema's met de laagste scores</a:t>
            </a:r>
          </a:p>
        </p:txBody>
      </p:sp>
      <p:sp>
        <p:nvSpPr>
          <p:cNvPr id="8" name="New shape"/>
          <p:cNvSpPr txBox="1"/>
          <p:nvPr/>
        </p:nvSpPr>
        <p:spPr>
          <a:xfrm>
            <a:off x="457200" y="221742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3.</a:t>
            </a:r>
          </a:p>
        </p:txBody>
      </p:sp>
      <p:sp>
        <p:nvSpPr>
          <p:cNvPr id="9" name="New shape">
            <a:hlinkClick r:id="rId5" action="ppaction://hlinksldjump"/>
          </p:cNvPr>
          <p:cNvSpPr txBox="1"/>
          <p:nvPr/>
        </p:nvSpPr>
        <p:spPr>
          <a:xfrm>
            <a:off x="835819" y="221742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Het lezen van de resultaten</a:t>
            </a:r>
          </a:p>
        </p:txBody>
      </p:sp>
      <p:sp>
        <p:nvSpPr>
          <p:cNvPr id="10" name="New shape"/>
          <p:cNvSpPr txBox="1"/>
          <p:nvPr/>
        </p:nvSpPr>
        <p:spPr>
          <a:xfrm>
            <a:off x="457200" y="259461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4.</a:t>
            </a:r>
          </a:p>
        </p:txBody>
      </p:sp>
      <p:sp>
        <p:nvSpPr>
          <p:cNvPr id="11" name="New shape">
            <a:hlinkClick r:id="rId6" action="ppaction://hlinksldjump"/>
          </p:cNvPr>
          <p:cNvSpPr txBox="1"/>
          <p:nvPr/>
        </p:nvSpPr>
        <p:spPr>
          <a:xfrm>
            <a:off x="835819" y="259461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Respons</a:t>
            </a:r>
          </a:p>
        </p:txBody>
      </p:sp>
      <p:sp>
        <p:nvSpPr>
          <p:cNvPr id="12" name="New shape"/>
          <p:cNvSpPr txBox="1"/>
          <p:nvPr/>
        </p:nvSpPr>
        <p:spPr>
          <a:xfrm>
            <a:off x="114300" y="4750594"/>
            <a:ext cx="5915025" cy="39290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lang="en-US" sz="788" b="1" i="0" dirty="0">
                <a:solidFill>
                  <a:srgbClr val="192743"/>
                </a:solidFill>
                <a:latin typeface="Poppins"/>
              </a:rPr>
              <a:t>Novanta B.V.</a:t>
            </a:r>
            <a:endParaRPr sz="788" b="1" i="0" dirty="0">
              <a:solidFill>
                <a:srgbClr val="192743"/>
              </a:solidFill>
              <a:latin typeface="Poppins"/>
            </a:endParaRPr>
          </a:p>
        </p:txBody>
      </p:sp>
      <p:sp>
        <p:nvSpPr>
          <p:cNvPr id="13" name="New shape"/>
          <p:cNvSpPr txBox="1"/>
          <p:nvPr/>
        </p:nvSpPr>
        <p:spPr>
          <a:xfrm>
            <a:off x="4643438" y="4750594"/>
            <a:ext cx="3929062" cy="392906"/>
          </a:xfrm>
          <a:prstGeom prst="rect">
            <a:avLst/>
          </a:pr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oAutofit/>
          </a:bodyPr>
          <a:lstStyle/>
          <a:p>
            <a:pPr algn="r">
              <a:lnSpc>
                <a:spcPct val="100000"/>
              </a:lnSpc>
            </a:pPr>
            <a:r>
              <a:rPr sz="788" b="1" i="0">
                <a:solidFill>
                  <a:srgbClr val="192743"/>
                </a:solidFill>
                <a:latin typeface="Poppins"/>
              </a:rPr>
              <a:t>Onderzoeksperiode</a:t>
            </a:r>
            <a:r>
              <a:rPr sz="788" b="0" i="0">
                <a:solidFill>
                  <a:srgbClr val="192743"/>
                </a:solidFill>
                <a:latin typeface="Poppins"/>
              </a:rPr>
              <a:t> mei 03, 2024 - mei 08, 2024</a:t>
            </a:r>
          </a:p>
        </p:txBody>
      </p:sp>
      <p:sp>
        <p:nvSpPr>
          <p:cNvPr id="14"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a:t>
            </a:r>
          </a:p>
        </p:txBody>
      </p:sp>
      <p:sp>
        <p:nvSpPr>
          <p:cNvPr id="15"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6"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De kern van het onderzoek</a:t>
            </a:r>
          </a:p>
        </p:txBody>
      </p:sp>
      <p:pic>
        <p:nvPicPr>
          <p:cNvPr id="3" name="New picture"/>
          <p:cNvPicPr/>
          <p:nvPr/>
        </p:nvPicPr>
        <p:blipFill>
          <a:blip>
            <a:extLst>
              <a:ext uri="{96DAC541-7B7A-43D3-8B79-37D633B846F1}">
                <asvg:svgBlip xmlns:asvg="http://schemas.microsoft.com/office/drawing/2016/SVG/main" r:embed="rId2"/>
              </a:ext>
            </a:extLst>
          </a:blip>
          <a:stretch>
            <a:fillRect/>
          </a:stretch>
        </p:blipFill>
        <p:spPr>
          <a:xfrm>
            <a:off x="635794" y="1921669"/>
            <a:ext cx="7665244" cy="1914525"/>
          </a:xfrm>
          <a:prstGeom prst="rect">
            <a:avLst/>
          </a:prstGeom>
        </p:spPr>
      </p:pic>
      <p:pic>
        <p:nvPicPr>
          <p:cNvPr id="4" name="New picture"/>
          <p:cNvPicPr/>
          <p:nvPr/>
        </p:nvPicPr>
        <p:blipFill>
          <a:blip>
            <a:extLst>
              <a:ext uri="{96DAC541-7B7A-43D3-8B79-37D633B846F1}">
                <asvg:svgBlip xmlns:asvg="http://schemas.microsoft.com/office/drawing/2016/SVG/main" r:embed="rId3"/>
              </a:ext>
            </a:extLst>
          </a:blip>
          <a:stretch>
            <a:fillRect/>
          </a:stretch>
        </p:blipFill>
        <p:spPr>
          <a:xfrm>
            <a:off x="8236744" y="3564731"/>
            <a:ext cx="350044" cy="414338"/>
          </a:xfrm>
          <a:prstGeom prst="rect">
            <a:avLst/>
          </a:prstGeom>
        </p:spPr>
      </p:pic>
      <p:sp>
        <p:nvSpPr>
          <p:cNvPr id="5" name="New shape"/>
          <p:cNvSpPr/>
          <p:nvPr/>
        </p:nvSpPr>
        <p:spPr>
          <a:xfrm>
            <a:off x="528638" y="1707356"/>
            <a:ext cx="550069" cy="550069"/>
          </a:xfrm>
          <a:prstGeom prst="ellipse">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New shape"/>
          <p:cNvSpPr/>
          <p:nvPr/>
        </p:nvSpPr>
        <p:spPr>
          <a:xfrm>
            <a:off x="700088" y="1871662"/>
            <a:ext cx="214312" cy="214312"/>
          </a:xfrm>
          <a:prstGeom prst="ellipse">
            <a:avLst/>
          </a:prstGeom>
          <a:solidFill>
            <a:srgbClr val="30B3A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New shape"/>
          <p:cNvSpPr txBox="1"/>
          <p:nvPr/>
        </p:nvSpPr>
        <p:spPr>
          <a:xfrm>
            <a:off x="814388" y="1128712"/>
            <a:ext cx="215741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1125" b="0" i="0">
                <a:solidFill>
                  <a:srgbClr val="30B3AF"/>
                </a:solidFill>
                <a:latin typeface="Poppins"/>
              </a:rPr>
              <a:t>Het begin van je luisteravontuur!</a:t>
            </a:r>
          </a:p>
        </p:txBody>
      </p:sp>
      <p:pic>
        <p:nvPicPr>
          <p:cNvPr id="8" name="New picture"/>
          <p:cNvPicPr/>
          <p:nvPr/>
        </p:nvPicPr>
        <p:blipFill>
          <a:blip>
            <a:extLst>
              <a:ext uri="{96DAC541-7B7A-43D3-8B79-37D633B846F1}">
                <asvg:svgBlip xmlns:asvg="http://schemas.microsoft.com/office/drawing/2016/SVG/main" r:embed="rId4"/>
              </a:ext>
            </a:extLst>
          </a:blip>
          <a:stretch>
            <a:fillRect/>
          </a:stretch>
        </p:blipFill>
        <p:spPr>
          <a:xfrm>
            <a:off x="935831" y="1364456"/>
            <a:ext cx="428625" cy="464344"/>
          </a:xfrm>
          <a:prstGeom prst="rect">
            <a:avLst/>
          </a:prstGeom>
        </p:spPr>
      </p:pic>
      <p:sp>
        <p:nvSpPr>
          <p:cNvPr id="9" name="New shape"/>
          <p:cNvSpPr txBox="1"/>
          <p:nvPr/>
        </p:nvSpPr>
        <p:spPr>
          <a:xfrm>
            <a:off x="6629400" y="3429000"/>
            <a:ext cx="1443038"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1125" b="0" i="0">
                <a:solidFill>
                  <a:srgbClr val="30B3AF"/>
                </a:solidFill>
                <a:latin typeface="Poppins"/>
              </a:rPr>
              <a:t>Laten we de resultaten bekijken.</a:t>
            </a:r>
          </a:p>
        </p:txBody>
      </p:sp>
      <p:sp>
        <p:nvSpPr>
          <p:cNvPr id="10" name="New shape"/>
          <p:cNvSpPr/>
          <p:nvPr/>
        </p:nvSpPr>
        <p:spPr>
          <a:xfrm>
            <a:off x="2821781" y="1621631"/>
            <a:ext cx="2714625" cy="721519"/>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New shape"/>
          <p:cNvSpPr txBox="1"/>
          <p:nvPr/>
        </p:nvSpPr>
        <p:spPr>
          <a:xfrm>
            <a:off x="2821781" y="1750219"/>
            <a:ext cx="271462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Onderzoeksperiode</a:t>
            </a:r>
          </a:p>
        </p:txBody>
      </p:sp>
      <p:sp>
        <p:nvSpPr>
          <p:cNvPr id="12" name="New shape"/>
          <p:cNvSpPr txBox="1"/>
          <p:nvPr/>
        </p:nvSpPr>
        <p:spPr>
          <a:xfrm>
            <a:off x="3186112" y="1964531"/>
            <a:ext cx="600075" cy="2286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0" i="0">
                <a:solidFill>
                  <a:srgbClr val="546178"/>
                </a:solidFill>
                <a:latin typeface="Poppins"/>
              </a:rPr>
              <a:t>mei 03, 2024</a:t>
            </a:r>
          </a:p>
        </p:txBody>
      </p:sp>
      <p:sp>
        <p:nvSpPr>
          <p:cNvPr id="13" name="New shape"/>
          <p:cNvSpPr/>
          <p:nvPr/>
        </p:nvSpPr>
        <p:spPr>
          <a:xfrm>
            <a:off x="3989388" y="1978819"/>
            <a:ext cx="85725" cy="85725"/>
          </a:xfrm>
          <a:prstGeom prst="ellipse">
            <a:avLst/>
          </a:prstGeom>
          <a:solidFill>
            <a:srgbClr val="54617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New shape"/>
          <p:cNvSpPr/>
          <p:nvPr/>
        </p:nvSpPr>
        <p:spPr>
          <a:xfrm>
            <a:off x="4075112" y="2028825"/>
            <a:ext cx="285750" cy="0"/>
          </a:xfrm>
          <a:prstGeom prst="line">
            <a:avLst/>
          </a:prstGeom>
          <a:ln w="12700">
            <a:solidFill>
              <a:srgbClr val="546178"/>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5" name="New shape"/>
          <p:cNvSpPr/>
          <p:nvPr/>
        </p:nvSpPr>
        <p:spPr>
          <a:xfrm>
            <a:off x="4360862" y="1978819"/>
            <a:ext cx="85725" cy="85725"/>
          </a:xfrm>
          <a:prstGeom prst="ellipse">
            <a:avLst/>
          </a:prstGeom>
          <a:solidFill>
            <a:srgbClr val="54617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New shape"/>
          <p:cNvSpPr txBox="1"/>
          <p:nvPr/>
        </p:nvSpPr>
        <p:spPr>
          <a:xfrm>
            <a:off x="4510088" y="1964531"/>
            <a:ext cx="600075" cy="2286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0" i="0">
                <a:solidFill>
                  <a:srgbClr val="546178"/>
                </a:solidFill>
                <a:latin typeface="Poppins"/>
              </a:rPr>
              <a:t>mei 08, 2024</a:t>
            </a:r>
          </a:p>
        </p:txBody>
      </p:sp>
      <p:sp>
        <p:nvSpPr>
          <p:cNvPr id="17" name="New shape"/>
          <p:cNvSpPr/>
          <p:nvPr/>
        </p:nvSpPr>
        <p:spPr>
          <a:xfrm>
            <a:off x="5822156" y="1621631"/>
            <a:ext cx="2464594" cy="721519"/>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txBox="1"/>
          <p:nvPr/>
        </p:nvSpPr>
        <p:spPr>
          <a:xfrm>
            <a:off x="6250781" y="1785938"/>
            <a:ext cx="571500" cy="36433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362" b="1" i="0">
                <a:solidFill>
                  <a:srgbClr val="5B8EF5"/>
                </a:solidFill>
                <a:latin typeface="Poppins"/>
              </a:rPr>
              <a:t>42</a:t>
            </a:r>
          </a:p>
        </p:txBody>
      </p:sp>
      <p:sp>
        <p:nvSpPr>
          <p:cNvPr id="19" name="New shape"/>
          <p:cNvSpPr txBox="1"/>
          <p:nvPr/>
        </p:nvSpPr>
        <p:spPr>
          <a:xfrm>
            <a:off x="6893719" y="1821656"/>
            <a:ext cx="92868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900" b="1" i="0">
                <a:solidFill>
                  <a:srgbClr val="192743"/>
                </a:solidFill>
                <a:latin typeface="Poppins"/>
              </a:rPr>
              <a:t>Vragen zijn in totaal gesteld</a:t>
            </a:r>
          </a:p>
        </p:txBody>
      </p:sp>
      <p:sp>
        <p:nvSpPr>
          <p:cNvPr id="20" name="New shape"/>
          <p:cNvSpPr/>
          <p:nvPr/>
        </p:nvSpPr>
        <p:spPr>
          <a:xfrm>
            <a:off x="807244" y="2950369"/>
            <a:ext cx="3014662" cy="1685925"/>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New shape"/>
          <p:cNvSpPr txBox="1"/>
          <p:nvPr/>
        </p:nvSpPr>
        <p:spPr>
          <a:xfrm>
            <a:off x="807244" y="3207544"/>
            <a:ext cx="301466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over thema's als:</a:t>
            </a:r>
          </a:p>
        </p:txBody>
      </p:sp>
      <p:sp>
        <p:nvSpPr>
          <p:cNvPr id="23" name="New shape"/>
          <p:cNvSpPr txBox="1"/>
          <p:nvPr/>
        </p:nvSpPr>
        <p:spPr>
          <a:xfrm>
            <a:off x="1299472" y="3500438"/>
            <a:ext cx="1041400"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Werkgeverschap</a:t>
            </a:r>
          </a:p>
        </p:txBody>
      </p:sp>
      <p:sp>
        <p:nvSpPr>
          <p:cNvPr id="25" name="New shape"/>
          <p:cNvSpPr txBox="1"/>
          <p:nvPr/>
        </p:nvSpPr>
        <p:spPr>
          <a:xfrm>
            <a:off x="2412309" y="3500438"/>
            <a:ext cx="860219"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Bevlogenheid</a:t>
            </a:r>
          </a:p>
        </p:txBody>
      </p:sp>
      <p:sp>
        <p:nvSpPr>
          <p:cNvPr id="27" name="New shape"/>
          <p:cNvSpPr txBox="1"/>
          <p:nvPr/>
        </p:nvSpPr>
        <p:spPr>
          <a:xfrm>
            <a:off x="1485511" y="3746954"/>
            <a:ext cx="1600978"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Leiderschap bij verandering</a:t>
            </a:r>
          </a:p>
        </p:txBody>
      </p:sp>
      <p:sp>
        <p:nvSpPr>
          <p:cNvPr id="29" name="New shape"/>
          <p:cNvSpPr txBox="1"/>
          <p:nvPr/>
        </p:nvSpPr>
        <p:spPr>
          <a:xfrm>
            <a:off x="1582515" y="3993471"/>
            <a:ext cx="1406970"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Medewerkers faciliteren</a:t>
            </a:r>
          </a:p>
        </p:txBody>
      </p:sp>
      <p:sp>
        <p:nvSpPr>
          <p:cNvPr id="31" name="New shape"/>
          <p:cNvSpPr txBox="1"/>
          <p:nvPr/>
        </p:nvSpPr>
        <p:spPr>
          <a:xfrm>
            <a:off x="807244" y="4307681"/>
            <a:ext cx="301466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en meer...</a:t>
            </a:r>
          </a:p>
        </p:txBody>
      </p:sp>
      <p:sp>
        <p:nvSpPr>
          <p:cNvPr id="32" name="New shape"/>
          <p:cNvSpPr/>
          <p:nvPr/>
        </p:nvSpPr>
        <p:spPr>
          <a:xfrm>
            <a:off x="4157662" y="3107531"/>
            <a:ext cx="1707356" cy="1278731"/>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3" name="New shape"/>
          <p:cNvSpPr txBox="1"/>
          <p:nvPr/>
        </p:nvSpPr>
        <p:spPr>
          <a:xfrm>
            <a:off x="4443412" y="3450431"/>
            <a:ext cx="1135856" cy="36433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2362" b="1" i="0">
                <a:solidFill>
                  <a:srgbClr val="5B8EF5"/>
                </a:solidFill>
                <a:latin typeface="Poppins"/>
              </a:rPr>
              <a:t>80%</a:t>
            </a:r>
          </a:p>
        </p:txBody>
      </p:sp>
      <p:sp>
        <p:nvSpPr>
          <p:cNvPr id="34" name="New shape"/>
          <p:cNvSpPr txBox="1"/>
          <p:nvPr/>
        </p:nvSpPr>
        <p:spPr>
          <a:xfrm>
            <a:off x="4700588" y="3814762"/>
            <a:ext cx="61436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1012" b="0" i="0">
                <a:solidFill>
                  <a:srgbClr val="2867C9"/>
                </a:solidFill>
                <a:latin typeface="Poppins"/>
              </a:rPr>
              <a:t>291/365</a:t>
            </a:r>
          </a:p>
        </p:txBody>
      </p:sp>
      <p:sp>
        <p:nvSpPr>
          <p:cNvPr id="35" name="New shape"/>
          <p:cNvSpPr txBox="1"/>
          <p:nvPr/>
        </p:nvSpPr>
        <p:spPr>
          <a:xfrm>
            <a:off x="4507706" y="4014788"/>
            <a:ext cx="100012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Hebben gereageerd.</a:t>
            </a:r>
          </a:p>
        </p:txBody>
      </p:sp>
      <p:sp>
        <p:nvSpPr>
          <p:cNvPr id="3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a:t>
            </a:r>
          </a:p>
        </p:txBody>
      </p:sp>
      <p:pic>
        <p:nvPicPr>
          <p:cNvPr id="37" name="New picture"/>
          <p:cNvPicPr/>
          <p:nvPr/>
        </p:nvPicPr>
        <p:blipFill>
          <a:blip>
            <a:extLst>
              <a:ext uri="{96DAC541-7B7A-43D3-8B79-37D633B846F1}">
                <asvg:svgBlip xmlns:asvg="http://schemas.microsoft.com/office/drawing/2016/SVG/main" r:embed="rId5"/>
              </a:ext>
            </a:extLst>
          </a:blip>
          <a:stretch>
            <a:fillRect/>
          </a:stretch>
        </p:blipFill>
        <p:spPr>
          <a:xfrm>
            <a:off x="8829675" y="147661"/>
            <a:ext cx="217884" cy="217884"/>
          </a:xfrm>
          <a:prstGeom prst="rect">
            <a:avLst/>
          </a:prstGeom>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331720"/>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Belangrijke resultaten</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Scores op de thema’s</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Vergeleken met benchmarks</a:t>
            </a:r>
          </a:p>
        </p:txBody>
      </p:sp>
      <p:sp>
        <p:nvSpPr>
          <p:cNvPr id="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2867C9"/>
                </a:solidFill>
                <a:latin typeface="Poppins"/>
              </a:rPr>
              <a:t>Huidig onderzoek is:</a:t>
            </a:r>
          </a:p>
        </p:txBody>
      </p:sp>
      <p:sp>
        <p:nvSpPr>
          <p:cNvPr id="5"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6"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2" name="New Table"/>
          <p:cNvGraphicFramePr>
            <a:graphicFrameLocks noGrp="1"/>
          </p:cNvGraphicFramePr>
          <p:nvPr/>
        </p:nvGraphicFramePr>
        <p:xfrm>
          <a:off x="457200" y="1835944"/>
          <a:ext cx="7772400" cy="22860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Werkgeverschap</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66%</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Bevlogenheid</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Leiderschap bij verandering</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Medewerkers faciliteren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80%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3"/>
                  </a:ext>
                </a:extLst>
              </a:tr>
              <a:tr h="285750">
                <a:tc>
                  <a:txBody>
                    <a:bodyPr/>
                    <a:lstStyle/>
                    <a:p>
                      <a:pPr algn="l"/>
                      <a:r>
                        <a:rPr sz="788" b="0" i="0">
                          <a:solidFill>
                            <a:srgbClr val="192743"/>
                          </a:solidFill>
                          <a:latin typeface="Poppins"/>
                        </a:rPr>
                        <a:t>Systemen beheren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4"/>
                  </a:ext>
                </a:extLst>
              </a:tr>
              <a:tr h="285750">
                <a:tc>
                  <a:txBody>
                    <a:bodyPr/>
                    <a:lstStyle/>
                    <a:p>
                      <a:pPr algn="l"/>
                      <a:r>
                        <a:rPr sz="788" b="0" i="0">
                          <a:solidFill>
                            <a:srgbClr val="192743"/>
                          </a:solidFill>
                          <a:latin typeface="Poppins"/>
                        </a:rPr>
                        <a:t>Prestatieomgeving</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80%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Richting geven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82%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13" name="Group 12"/>
          <p:cNvGrpSpPr/>
          <p:nvPr/>
        </p:nvGrpSpPr>
        <p:grpSpPr>
          <a:xfrm rot="18900000">
            <a:off x="5134921" y="1030552"/>
            <a:ext cx="1471613" cy="240649"/>
            <a:chOff x="4722812" y="97234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4722812" y="1035209"/>
              <a:ext cx="114300" cy="137160"/>
            </a:xfrm>
            <a:prstGeom prst="rect">
              <a:avLst/>
            </a:prstGeom>
          </p:spPr>
        </p:pic>
        <p:sp>
          <p:nvSpPr>
            <p:cNvPr id="15" name="New shape"/>
            <p:cNvSpPr txBox="1"/>
            <p:nvPr/>
          </p:nvSpPr>
          <p:spPr>
            <a:xfrm>
              <a:off x="4908550" y="97234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2867C9"/>
                  </a:solidFill>
                  <a:latin typeface="Poppins"/>
                </a:rPr>
                <a:t>Huidig</a:t>
              </a:r>
            </a:p>
          </p:txBody>
        </p:sp>
        <p:sp>
          <p:nvSpPr>
            <p:cNvPr id="16" name="New shape"/>
            <p:cNvSpPr txBox="1"/>
            <p:nvPr/>
          </p:nvSpPr>
          <p:spPr>
            <a:xfrm>
              <a:off x="4908549" y="109174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2867C9"/>
                  </a:solidFill>
                  <a:latin typeface="Poppins"/>
                </a:rPr>
                <a:t>Novanta B.V.</a:t>
              </a:r>
              <a:endParaRPr sz="788" b="0" i="0" dirty="0">
                <a:solidFill>
                  <a:srgbClr val="2867C9"/>
                </a:solidFill>
                <a:latin typeface="Poppins"/>
              </a:endParaRPr>
            </a:p>
          </p:txBody>
        </p:sp>
      </p:grpSp>
      <p:grpSp>
        <p:nvGrpSpPr>
          <p:cNvPr id="17" name="Group 16"/>
          <p:cNvGrpSpPr/>
          <p:nvPr/>
        </p:nvGrpSpPr>
        <p:grpSpPr>
          <a:xfrm rot="18900000">
            <a:off x="5612274" y="1107643"/>
            <a:ext cx="1477327" cy="120015"/>
            <a:chOff x="5237162" y="955199"/>
            <a:chExt cx="1477327" cy="120015"/>
          </a:xfrm>
        </p:grpSpPr>
        <p:pic>
          <p:nvPicPr>
            <p:cNvPr id="18" name="New picture"/>
            <p:cNvPicPr/>
            <p:nvPr/>
          </p:nvPicPr>
          <p:blipFill>
            <a:blip>
              <a:extLst>
                <a:ext uri="{96DAC541-7B7A-43D3-8B79-37D633B846F1}">
                  <asvg:svgBlip xmlns:asvg="http://schemas.microsoft.com/office/drawing/2016/SVG/main" r:embed="rId4"/>
                </a:ext>
              </a:extLst>
            </a:blip>
            <a:stretch>
              <a:fillRect/>
            </a:stretch>
          </p:blipFill>
          <p:spPr>
            <a:xfrm>
              <a:off x="5237162" y="955199"/>
              <a:ext cx="120015" cy="120015"/>
            </a:xfrm>
            <a:prstGeom prst="rect">
              <a:avLst/>
            </a:prstGeom>
          </p:spPr>
        </p:pic>
        <p:sp>
          <p:nvSpPr>
            <p:cNvPr id="19" name="New shape"/>
            <p:cNvSpPr txBox="1"/>
            <p:nvPr/>
          </p:nvSpPr>
          <p:spPr>
            <a:xfrm>
              <a:off x="542861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0" name="Group 19"/>
          <p:cNvGrpSpPr/>
          <p:nvPr/>
        </p:nvGrpSpPr>
        <p:grpSpPr>
          <a:xfrm rot="18900000">
            <a:off x="6126624" y="1107643"/>
            <a:ext cx="1477328" cy="120015"/>
            <a:chOff x="5751512" y="955199"/>
            <a:chExt cx="1477328" cy="120015"/>
          </a:xfrm>
        </p:grpSpPr>
        <p:pic>
          <p:nvPicPr>
            <p:cNvPr id="21" name="New picture"/>
            <p:cNvPicPr/>
            <p:nvPr/>
          </p:nvPicPr>
          <p:blipFill>
            <a:blip>
              <a:extLst>
                <a:ext uri="{96DAC541-7B7A-43D3-8B79-37D633B846F1}">
                  <asvg:svgBlip xmlns:asvg="http://schemas.microsoft.com/office/drawing/2016/SVG/main" r:embed="rId5"/>
                </a:ext>
              </a:extLst>
            </a:blip>
            <a:stretch>
              <a:fillRect/>
            </a:stretch>
          </p:blipFill>
          <p:spPr>
            <a:xfrm>
              <a:off x="5751512" y="955199"/>
              <a:ext cx="120015" cy="120015"/>
            </a:xfrm>
            <a:prstGeom prst="rect">
              <a:avLst/>
            </a:prstGeom>
          </p:spPr>
        </p:pic>
        <p:sp>
          <p:nvSpPr>
            <p:cNvPr id="22" name="New shape"/>
            <p:cNvSpPr txBox="1"/>
            <p:nvPr/>
          </p:nvSpPr>
          <p:spPr>
            <a:xfrm>
              <a:off x="5942966"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3" name="Group 22"/>
          <p:cNvGrpSpPr/>
          <p:nvPr/>
        </p:nvGrpSpPr>
        <p:grpSpPr>
          <a:xfrm rot="18900000">
            <a:off x="6640973" y="1107643"/>
            <a:ext cx="1477328" cy="120015"/>
            <a:chOff x="6265862" y="955199"/>
            <a:chExt cx="1477328" cy="120015"/>
          </a:xfrm>
        </p:grpSpPr>
        <p:pic>
          <p:nvPicPr>
            <p:cNvPr id="24" name="New picture"/>
            <p:cNvPicPr/>
            <p:nvPr/>
          </p:nvPicPr>
          <p:blipFill>
            <a:blip>
              <a:extLst>
                <a:ext uri="{96DAC541-7B7A-43D3-8B79-37D633B846F1}">
                  <asvg:svgBlip xmlns:asvg="http://schemas.microsoft.com/office/drawing/2016/SVG/main" r:embed="rId6"/>
                </a:ext>
              </a:extLst>
            </a:blip>
            <a:stretch>
              <a:fillRect/>
            </a:stretch>
          </p:blipFill>
          <p:spPr>
            <a:xfrm>
              <a:off x="6265862" y="955199"/>
              <a:ext cx="120015" cy="120015"/>
            </a:xfrm>
            <a:prstGeom prst="rect">
              <a:avLst/>
            </a:prstGeom>
          </p:spPr>
        </p:pic>
        <p:sp>
          <p:nvSpPr>
            <p:cNvPr id="25" name="New shape"/>
            <p:cNvSpPr txBox="1"/>
            <p:nvPr/>
          </p:nvSpPr>
          <p:spPr>
            <a:xfrm>
              <a:off x="6457315"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26" name="Group 25"/>
          <p:cNvGrpSpPr/>
          <p:nvPr/>
        </p:nvGrpSpPr>
        <p:grpSpPr>
          <a:xfrm rot="18900000">
            <a:off x="7155324" y="1107643"/>
            <a:ext cx="1477327" cy="120015"/>
            <a:chOff x="6780212" y="955199"/>
            <a:chExt cx="1477327" cy="120015"/>
          </a:xfrm>
        </p:grpSpPr>
        <p:pic>
          <p:nvPicPr>
            <p:cNvPr id="27" name="New picture"/>
            <p:cNvPicPr/>
            <p:nvPr/>
          </p:nvPicPr>
          <p:blipFill>
            <a:blip>
              <a:extLst>
                <a:ext uri="{96DAC541-7B7A-43D3-8B79-37D633B846F1}">
                  <asvg:svgBlip xmlns:asvg="http://schemas.microsoft.com/office/drawing/2016/SVG/main" r:embed="rId5"/>
                </a:ext>
              </a:extLst>
            </a:blip>
            <a:stretch>
              <a:fillRect/>
            </a:stretch>
          </p:blipFill>
          <p:spPr>
            <a:xfrm>
              <a:off x="6780212" y="955199"/>
              <a:ext cx="120015" cy="120015"/>
            </a:xfrm>
            <a:prstGeom prst="rect">
              <a:avLst/>
            </a:prstGeom>
          </p:spPr>
        </p:pic>
        <p:sp>
          <p:nvSpPr>
            <p:cNvPr id="28" name="New shape"/>
            <p:cNvSpPr txBox="1"/>
            <p:nvPr/>
          </p:nvSpPr>
          <p:spPr>
            <a:xfrm>
              <a:off x="697166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29" name="Group 28"/>
          <p:cNvGrpSpPr/>
          <p:nvPr/>
        </p:nvGrpSpPr>
        <p:grpSpPr>
          <a:xfrm rot="18900000">
            <a:off x="7669674" y="1107643"/>
            <a:ext cx="1477327" cy="120015"/>
            <a:chOff x="7294562" y="955199"/>
            <a:chExt cx="1477327" cy="120015"/>
          </a:xfrm>
        </p:grpSpPr>
        <p:pic>
          <p:nvPicPr>
            <p:cNvPr id="30" name="New picture"/>
            <p:cNvPicPr/>
            <p:nvPr/>
          </p:nvPicPr>
          <p:blipFill>
            <a:blip>
              <a:extLst>
                <a:ext uri="{96DAC541-7B7A-43D3-8B79-37D633B846F1}">
                  <asvg:svgBlip xmlns:asvg="http://schemas.microsoft.com/office/drawing/2016/SVG/main" r:embed="rId7"/>
                </a:ext>
              </a:extLst>
            </a:blip>
            <a:stretch>
              <a:fillRect/>
            </a:stretch>
          </p:blipFill>
          <p:spPr>
            <a:xfrm>
              <a:off x="7294562" y="955199"/>
              <a:ext cx="120015" cy="120015"/>
            </a:xfrm>
            <a:prstGeom prst="rect">
              <a:avLst/>
            </a:prstGeom>
          </p:spPr>
        </p:pic>
        <p:sp>
          <p:nvSpPr>
            <p:cNvPr id="31" name="New shape"/>
            <p:cNvSpPr txBox="1"/>
            <p:nvPr/>
          </p:nvSpPr>
          <p:spPr>
            <a:xfrm>
              <a:off x="748601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3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Scores op de thema’s</a:t>
            </a:r>
          </a:p>
        </p:txBody>
      </p:sp>
      <p:sp>
        <p:nvSpPr>
          <p:cNvPr id="3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Vergeleken met benchmarks</a:t>
            </a:r>
          </a:p>
        </p:txBody>
      </p:sp>
      <p:sp>
        <p:nvSpPr>
          <p:cNvPr id="3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2867C9"/>
                </a:solidFill>
                <a:latin typeface="Poppins"/>
              </a:rPr>
              <a:t>Huidig onderzoek is:</a:t>
            </a:r>
          </a:p>
        </p:txBody>
      </p:sp>
      <p:sp>
        <p:nvSpPr>
          <p:cNvPr id="35"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36"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37"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8"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39"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0"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1"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sp>
        <p:nvSpPr>
          <p:cNvPr id="4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a:t>
            </a:r>
          </a:p>
        </p:txBody>
      </p:sp>
      <p:sp>
        <p:nvSpPr>
          <p:cNvPr id="4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4" name="New picture"/>
          <p:cNvPicPr/>
          <p:nvPr/>
        </p:nvPicPr>
        <p:blipFill>
          <a:blip>
            <a:extLst>
              <a:ext uri="{96DAC541-7B7A-43D3-8B79-37D633B846F1}">
                <asvg:svgBlip xmlns:asvg="http://schemas.microsoft.com/office/drawing/2016/SVG/main" r:embed="rId8"/>
              </a:ext>
            </a:extLst>
          </a:blip>
          <a:stretch>
            <a:fillRect/>
          </a:stretch>
        </p:blipFill>
        <p:spPr>
          <a:xfrm>
            <a:off x="8829675" y="147661"/>
            <a:ext cx="217884" cy="217884"/>
          </a:xfrm>
          <a:prstGeom prst="rect">
            <a:avLst/>
          </a:prstGeom>
        </p:spPr>
      </p:pic>
      <p:sp>
        <p:nvSpPr>
          <p:cNvPr id="4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7" name="New shape"/>
          <p:cNvSpPr txBox="1"/>
          <p:nvPr/>
        </p:nvSpPr>
        <p:spPr>
          <a:xfrm flipV="1">
            <a:off x="0" y="0"/>
            <a:ext cx="125268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Belangrijke resultaten</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Scores op de thema’s</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Thema's vergeleken per groep</a:t>
            </a:r>
          </a:p>
        </p:txBody>
      </p:sp>
      <p:sp>
        <p:nvSpPr>
          <p:cNvPr id="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2867C9"/>
                </a:solidFill>
                <a:latin typeface="Poppins"/>
              </a:rPr>
              <a:t>Huidig onderzoek is:</a:t>
            </a:r>
          </a:p>
        </p:txBody>
      </p:sp>
      <p:sp>
        <p:nvSpPr>
          <p:cNvPr id="5"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6"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2" name="New Table"/>
          <p:cNvGraphicFramePr>
            <a:graphicFrameLocks noGrp="1"/>
          </p:cNvGraphicFramePr>
          <p:nvPr/>
        </p:nvGraphicFramePr>
        <p:xfrm>
          <a:off x="457200" y="1835944"/>
          <a:ext cx="7772400" cy="2286000"/>
        </p:xfrm>
        <a:graphic>
          <a:graphicData uri="http://schemas.openxmlformats.org/drawingml/2006/table">
            <a:tbl>
              <a:tblPr bandRow="1">
                <a:tableStyleId>{5C22544A-7EE6-4342-B048-85BDC9FD1C3A}</a:tableStyleId>
              </a:tblPr>
              <a:tblGrid>
                <a:gridCol w="36576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gridCol w="514350">
                  <a:extLst>
                    <a:ext uri="{9D8B030D-6E8A-4147-A177-3AD203B41FA5}">
                      <a16:colId xmlns:a16="http://schemas.microsoft.com/office/drawing/2014/main" val="20008"/>
                    </a:ext>
                  </a:extLst>
                </a:gridCol>
              </a:tblGrid>
              <a:tr h="285750">
                <a:tc>
                  <a:txBody>
                    <a:bodyPr/>
                    <a:lstStyle/>
                    <a:p>
                      <a:pPr algn="l"/>
                      <a:r>
                        <a:rPr sz="788" b="0" i="0">
                          <a:solidFill>
                            <a:srgbClr val="192743"/>
                          </a:solidFill>
                          <a:latin typeface="Poppins"/>
                        </a:rPr>
                        <a:t>Werkgeverschap</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Bevlogenheid</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Leiderschap bij verandering</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Medewerkers faciliteren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a:solidFill>
                            <a:srgbClr val="192743"/>
                          </a:solidFill>
                          <a:latin typeface="Poppins"/>
                        </a:rPr>
                        <a:t>Systemen beheren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0">
                          <a:solidFill>
                            <a:srgbClr val="192743"/>
                          </a:solidFill>
                          <a:latin typeface="Poppins"/>
                        </a:rPr>
                        <a:t>Prestatieomgeving</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Richting geven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67%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671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13" name="Group 12"/>
          <p:cNvGrpSpPr/>
          <p:nvPr/>
        </p:nvGrpSpPr>
        <p:grpSpPr>
          <a:xfrm rot="18900000">
            <a:off x="4106221" y="1030552"/>
            <a:ext cx="1471613" cy="240649"/>
            <a:chOff x="3694112" y="97234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3694112" y="1035209"/>
              <a:ext cx="114300" cy="137160"/>
            </a:xfrm>
            <a:prstGeom prst="rect">
              <a:avLst/>
            </a:prstGeom>
          </p:spPr>
        </p:pic>
        <p:sp>
          <p:nvSpPr>
            <p:cNvPr id="15" name="New shape"/>
            <p:cNvSpPr txBox="1"/>
            <p:nvPr/>
          </p:nvSpPr>
          <p:spPr>
            <a:xfrm>
              <a:off x="3879850" y="97234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2867C9"/>
                  </a:solidFill>
                  <a:latin typeface="Poppins"/>
                </a:rPr>
                <a:t>Huidig</a:t>
              </a:r>
            </a:p>
          </p:txBody>
        </p:sp>
        <p:sp>
          <p:nvSpPr>
            <p:cNvPr id="16" name="New shape"/>
            <p:cNvSpPr txBox="1"/>
            <p:nvPr/>
          </p:nvSpPr>
          <p:spPr>
            <a:xfrm>
              <a:off x="3879849" y="109174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2867C9"/>
                  </a:solidFill>
                  <a:latin typeface="Poppins"/>
                </a:rPr>
                <a:t>Novanta B.V.</a:t>
              </a:r>
              <a:endParaRPr sz="788" b="0" i="0" dirty="0">
                <a:solidFill>
                  <a:srgbClr val="2867C9"/>
                </a:solidFill>
                <a:latin typeface="Poppins"/>
              </a:endParaRPr>
            </a:p>
          </p:txBody>
        </p:sp>
      </p:grpSp>
      <p:grpSp>
        <p:nvGrpSpPr>
          <p:cNvPr id="17" name="Group 16"/>
          <p:cNvGrpSpPr/>
          <p:nvPr/>
        </p:nvGrpSpPr>
        <p:grpSpPr>
          <a:xfrm rot="18900000">
            <a:off x="4599812" y="1146845"/>
            <a:ext cx="1357312" cy="120015"/>
            <a:chOff x="4208462" y="955199"/>
            <a:chExt cx="1285875" cy="120015"/>
          </a:xfrm>
        </p:grpSpPr>
        <p:sp>
          <p:nvSpPr>
            <p:cNvPr id="18" name="New shape"/>
            <p:cNvSpPr txBox="1"/>
            <p:nvPr/>
          </p:nvSpPr>
          <p:spPr>
            <a:xfrm>
              <a:off x="42084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19" name="Group 18"/>
          <p:cNvGrpSpPr/>
          <p:nvPr/>
        </p:nvGrpSpPr>
        <p:grpSpPr>
          <a:xfrm rot="18900000">
            <a:off x="5114162" y="1146845"/>
            <a:ext cx="1357312" cy="120015"/>
            <a:chOff x="4722812" y="955199"/>
            <a:chExt cx="1285875" cy="120015"/>
          </a:xfrm>
        </p:grpSpPr>
        <p:sp>
          <p:nvSpPr>
            <p:cNvPr id="20" name="New shape"/>
            <p:cNvSpPr txBox="1"/>
            <p:nvPr/>
          </p:nvSpPr>
          <p:spPr>
            <a:xfrm>
              <a:off x="472281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1" name="Group 20"/>
          <p:cNvGrpSpPr/>
          <p:nvPr/>
        </p:nvGrpSpPr>
        <p:grpSpPr>
          <a:xfrm rot="18900000">
            <a:off x="5628512" y="1146845"/>
            <a:ext cx="1357312" cy="120015"/>
            <a:chOff x="5237162" y="955199"/>
            <a:chExt cx="1285875" cy="120015"/>
          </a:xfrm>
        </p:grpSpPr>
        <p:sp>
          <p:nvSpPr>
            <p:cNvPr id="22" name="New shape"/>
            <p:cNvSpPr txBox="1"/>
            <p:nvPr/>
          </p:nvSpPr>
          <p:spPr>
            <a:xfrm>
              <a:off x="52371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3" name="Group 22"/>
          <p:cNvGrpSpPr/>
          <p:nvPr/>
        </p:nvGrpSpPr>
        <p:grpSpPr>
          <a:xfrm rot="18900000">
            <a:off x="6142862" y="1146845"/>
            <a:ext cx="1357312" cy="120015"/>
            <a:chOff x="5751512" y="955199"/>
            <a:chExt cx="1285875" cy="120015"/>
          </a:xfrm>
        </p:grpSpPr>
        <p:sp>
          <p:nvSpPr>
            <p:cNvPr id="24" name="New shape"/>
            <p:cNvSpPr txBox="1"/>
            <p:nvPr/>
          </p:nvSpPr>
          <p:spPr>
            <a:xfrm>
              <a:off x="575151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25" name="Group 24"/>
          <p:cNvGrpSpPr/>
          <p:nvPr/>
        </p:nvGrpSpPr>
        <p:grpSpPr>
          <a:xfrm rot="18900000">
            <a:off x="6657212" y="1146845"/>
            <a:ext cx="1357312" cy="120015"/>
            <a:chOff x="6265862" y="955199"/>
            <a:chExt cx="1285875" cy="120015"/>
          </a:xfrm>
        </p:grpSpPr>
        <p:sp>
          <p:nvSpPr>
            <p:cNvPr id="26" name="New shape"/>
            <p:cNvSpPr txBox="1"/>
            <p:nvPr/>
          </p:nvSpPr>
          <p:spPr>
            <a:xfrm>
              <a:off x="62658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27" name="Group 26"/>
          <p:cNvGrpSpPr/>
          <p:nvPr/>
        </p:nvGrpSpPr>
        <p:grpSpPr>
          <a:xfrm rot="18900000">
            <a:off x="7171562" y="1146845"/>
            <a:ext cx="1357312" cy="120015"/>
            <a:chOff x="6780212" y="955199"/>
            <a:chExt cx="1285875" cy="120015"/>
          </a:xfrm>
        </p:grpSpPr>
        <p:sp>
          <p:nvSpPr>
            <p:cNvPr id="28" name="New shape"/>
            <p:cNvSpPr txBox="1"/>
            <p:nvPr/>
          </p:nvSpPr>
          <p:spPr>
            <a:xfrm>
              <a:off x="678021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grpSp>
        <p:nvGrpSpPr>
          <p:cNvPr id="29" name="Group 28"/>
          <p:cNvGrpSpPr/>
          <p:nvPr/>
        </p:nvGrpSpPr>
        <p:grpSpPr>
          <a:xfrm rot="18900000">
            <a:off x="7685912" y="1146845"/>
            <a:ext cx="1357312" cy="120015"/>
            <a:chOff x="7294562" y="955199"/>
            <a:chExt cx="1285875" cy="120015"/>
          </a:xfrm>
        </p:grpSpPr>
        <p:sp>
          <p:nvSpPr>
            <p:cNvPr id="30" name="New shape"/>
            <p:cNvSpPr txBox="1"/>
            <p:nvPr/>
          </p:nvSpPr>
          <p:spPr>
            <a:xfrm>
              <a:off x="72945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
        <p:nvSpPr>
          <p:cNvPr id="31"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Scores op de thema’s</a:t>
            </a:r>
          </a:p>
        </p:txBody>
      </p:sp>
      <p:sp>
        <p:nvSpPr>
          <p:cNvPr id="32"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Thema's vergeleken per groep</a:t>
            </a:r>
          </a:p>
        </p:txBody>
      </p:sp>
      <p:sp>
        <p:nvSpPr>
          <p:cNvPr id="33"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2867C9"/>
                </a:solidFill>
                <a:latin typeface="Poppins"/>
              </a:rPr>
              <a:t>Huidig onderzoek is:</a:t>
            </a:r>
          </a:p>
        </p:txBody>
      </p:sp>
      <p:sp>
        <p:nvSpPr>
          <p:cNvPr id="34"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35"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36"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7"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38"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9"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0"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sp>
        <p:nvSpPr>
          <p:cNvPr id="41"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a:t>
            </a:r>
          </a:p>
        </p:txBody>
      </p:sp>
      <p:sp>
        <p:nvSpPr>
          <p:cNvPr id="42"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3" name="New picture"/>
          <p:cNvPicPr/>
          <p:nvPr/>
        </p:nvPicPr>
        <p:blipFill>
          <a:blip>
            <a:extLst>
              <a:ext uri="{96DAC541-7B7A-43D3-8B79-37D633B846F1}">
                <asvg:svgBlip xmlns:asvg="http://schemas.microsoft.com/office/drawing/2016/SVG/main" r:embed="rId4"/>
              </a:ext>
            </a:extLst>
          </a:blip>
          <a:stretch>
            <a:fillRect/>
          </a:stretch>
        </p:blipFill>
        <p:spPr>
          <a:xfrm>
            <a:off x="8829675" y="147661"/>
            <a:ext cx="217884" cy="217884"/>
          </a:xfrm>
          <a:prstGeom prst="rect">
            <a:avLst/>
          </a:prstGeom>
        </p:spPr>
      </p:pic>
      <p:sp>
        <p:nvSpPr>
          <p:cNvPr id="4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6" name="New shape"/>
          <p:cNvSpPr txBox="1"/>
          <p:nvPr/>
        </p:nvSpPr>
        <p:spPr>
          <a:xfrm flipV="1">
            <a:off x="0" y="0"/>
            <a:ext cx="125268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Belangrijke resultaten</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eNPS en benchmarkvergelijking</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De ENPS laat zien in welke mate de medewerkers de organisatie zouden aanbevelen als goede werkgever.</a:t>
            </a:r>
          </a:p>
        </p:txBody>
      </p:sp>
      <p:sp>
        <p:nvSpPr>
          <p:cNvPr id="4" name="New shape"/>
          <p:cNvSpPr/>
          <p:nvPr/>
        </p:nvSpPr>
        <p:spPr>
          <a:xfrm>
            <a:off x="457200" y="1314450"/>
            <a:ext cx="1971675" cy="628650"/>
          </a:xfrm>
          <a:prstGeom prst="roundRect">
            <a:avLst>
              <a:gd name="adj" fmla="val 6000"/>
            </a:avLst>
          </a:prstGeom>
          <a:solidFill>
            <a:srgbClr val="F5F7FA"/>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5" name="Group 4"/>
          <p:cNvGrpSpPr/>
          <p:nvPr/>
        </p:nvGrpSpPr>
        <p:grpSpPr>
          <a:xfrm>
            <a:off x="1095748" y="1428750"/>
            <a:ext cx="808879" cy="171450"/>
            <a:chOff x="-120650" y="793750"/>
            <a:chExt cx="808879" cy="171450"/>
          </a:xfrm>
        </p:grpSpPr>
        <p:pic>
          <p:nvPicPr>
            <p:cNvPr id="6" name="New picture"/>
            <p:cNvPicPr/>
            <p:nvPr/>
          </p:nvPicPr>
          <p:blipFill>
            <a:blip>
              <a:extLst>
                <a:ext uri="{96DAC541-7B7A-43D3-8B79-37D633B846F1}">
                  <asvg:svgBlip xmlns:asvg="http://schemas.microsoft.com/office/drawing/2016/SVG/main" r:embed="rId2"/>
                </a:ext>
              </a:extLst>
            </a:blip>
            <a:stretch>
              <a:fillRect/>
            </a:stretch>
          </p:blipFill>
          <p:spPr>
            <a:xfrm>
              <a:off x="-120650" y="793750"/>
              <a:ext cx="171450" cy="171450"/>
            </a:xfrm>
            <a:prstGeom prst="rect">
              <a:avLst/>
            </a:prstGeom>
          </p:spPr>
        </p:pic>
        <p:sp>
          <p:nvSpPr>
            <p:cNvPr id="7" name="New shape"/>
            <p:cNvSpPr txBox="1"/>
            <p:nvPr/>
          </p:nvSpPr>
          <p:spPr>
            <a:xfrm>
              <a:off x="122238" y="810209"/>
              <a:ext cx="565991"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546178"/>
                  </a:solidFill>
                  <a:latin typeface="Poppins"/>
                </a:rPr>
                <a:t>Neutralen</a:t>
              </a:r>
            </a:p>
          </p:txBody>
        </p:sp>
      </p:grpSp>
      <p:sp>
        <p:nvSpPr>
          <p:cNvPr id="8" name="New shape"/>
          <p:cNvSpPr txBox="1"/>
          <p:nvPr/>
        </p:nvSpPr>
        <p:spPr>
          <a:xfrm>
            <a:off x="457200" y="1657350"/>
            <a:ext cx="197167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125" b="1" i="0">
                <a:solidFill>
                  <a:srgbClr val="192743"/>
                </a:solidFill>
                <a:latin typeface="Poppins"/>
              </a:rPr>
              <a:t>17%</a:t>
            </a:r>
          </a:p>
        </p:txBody>
      </p:sp>
      <p:grpSp>
        <p:nvGrpSpPr>
          <p:cNvPr id="9" name="Group 8"/>
          <p:cNvGrpSpPr/>
          <p:nvPr/>
        </p:nvGrpSpPr>
        <p:grpSpPr>
          <a:xfrm>
            <a:off x="1347827" y="2025367"/>
            <a:ext cx="304721" cy="121215"/>
            <a:chOff x="-120650" y="1390367"/>
            <a:chExt cx="304721" cy="121215"/>
          </a:xfrm>
        </p:grpSpPr>
        <p:pic>
          <p:nvPicPr>
            <p:cNvPr id="10" name="New picture"/>
            <p:cNvPicPr/>
            <p:nvPr/>
          </p:nvPicPr>
          <p:blipFill>
            <a:blip>
              <a:extLst>
                <a:ext uri="{96DAC541-7B7A-43D3-8B79-37D633B846F1}">
                  <asvg:svgBlip xmlns:asvg="http://schemas.microsoft.com/office/drawing/2016/SVG/main" r:embed="rId3"/>
                </a:ext>
              </a:extLst>
            </a:blip>
            <a:stretch>
              <a:fillRect/>
            </a:stretch>
          </p:blipFill>
          <p:spPr>
            <a:xfrm>
              <a:off x="-120650" y="1398468"/>
              <a:ext cx="105013" cy="105013"/>
            </a:xfrm>
            <a:prstGeom prst="rect">
              <a:avLst/>
            </a:prstGeom>
          </p:spPr>
        </p:pic>
        <p:sp>
          <p:nvSpPr>
            <p:cNvPr id="11" name="New shape"/>
            <p:cNvSpPr txBox="1"/>
            <p:nvPr/>
          </p:nvSpPr>
          <p:spPr>
            <a:xfrm>
              <a:off x="55801" y="1390367"/>
              <a:ext cx="12827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48</a:t>
              </a:r>
            </a:p>
          </p:txBody>
        </p:sp>
      </p:grpSp>
      <p:sp>
        <p:nvSpPr>
          <p:cNvPr id="12" name="New shape"/>
          <p:cNvSpPr/>
          <p:nvPr/>
        </p:nvSpPr>
        <p:spPr>
          <a:xfrm flipH="1">
            <a:off x="2571750" y="1457325"/>
            <a:ext cx="0" cy="342900"/>
          </a:xfrm>
          <a:prstGeom prst="line">
            <a:avLst/>
          </a:prstGeom>
          <a:ln w="254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3" name="New shape"/>
          <p:cNvSpPr/>
          <p:nvPr/>
        </p:nvSpPr>
        <p:spPr>
          <a:xfrm>
            <a:off x="2714625" y="1314450"/>
            <a:ext cx="1971675" cy="628650"/>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3368405" y="1428750"/>
            <a:ext cx="778415" cy="171450"/>
            <a:chOff x="2136775" y="793750"/>
            <a:chExt cx="778415" cy="171450"/>
          </a:xfrm>
        </p:grpSpPr>
        <p:pic>
          <p:nvPicPr>
            <p:cNvPr id="15" name="New picture"/>
            <p:cNvPicPr/>
            <p:nvPr/>
          </p:nvPicPr>
          <p:blipFill>
            <a:blip>
              <a:extLst>
                <a:ext uri="{96DAC541-7B7A-43D3-8B79-37D633B846F1}">
                  <asvg:svgBlip xmlns:asvg="http://schemas.microsoft.com/office/drawing/2016/SVG/main" r:embed="rId4"/>
                </a:ext>
              </a:extLst>
            </a:blip>
            <a:stretch>
              <a:fillRect/>
            </a:stretch>
          </p:blipFill>
          <p:spPr>
            <a:xfrm>
              <a:off x="2136775" y="793750"/>
              <a:ext cx="171450" cy="171450"/>
            </a:xfrm>
            <a:prstGeom prst="rect">
              <a:avLst/>
            </a:prstGeom>
          </p:spPr>
        </p:pic>
        <p:sp>
          <p:nvSpPr>
            <p:cNvPr id="16" name="New shape"/>
            <p:cNvSpPr txBox="1"/>
            <p:nvPr/>
          </p:nvSpPr>
          <p:spPr>
            <a:xfrm>
              <a:off x="2379662" y="810209"/>
              <a:ext cx="53552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546178"/>
                  </a:solidFill>
                  <a:latin typeface="Poppins"/>
                </a:rPr>
                <a:t>Promotor</a:t>
              </a:r>
            </a:p>
          </p:txBody>
        </p:sp>
      </p:grpSp>
      <p:sp>
        <p:nvSpPr>
          <p:cNvPr id="17" name="New shape"/>
          <p:cNvSpPr txBox="1"/>
          <p:nvPr/>
        </p:nvSpPr>
        <p:spPr>
          <a:xfrm>
            <a:off x="2714625" y="1657350"/>
            <a:ext cx="197167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125" b="1" i="0">
                <a:solidFill>
                  <a:srgbClr val="192743"/>
                </a:solidFill>
                <a:latin typeface="Poppins"/>
              </a:rPr>
              <a:t>59%</a:t>
            </a:r>
          </a:p>
        </p:txBody>
      </p:sp>
      <p:grpSp>
        <p:nvGrpSpPr>
          <p:cNvPr id="18" name="Group 17"/>
          <p:cNvGrpSpPr/>
          <p:nvPr/>
        </p:nvGrpSpPr>
        <p:grpSpPr>
          <a:xfrm>
            <a:off x="3596434" y="2025367"/>
            <a:ext cx="322358" cy="121215"/>
            <a:chOff x="2136775" y="1390367"/>
            <a:chExt cx="322358" cy="121215"/>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2136775" y="1398468"/>
              <a:ext cx="105013" cy="105013"/>
            </a:xfrm>
            <a:prstGeom prst="rect">
              <a:avLst/>
            </a:prstGeom>
          </p:spPr>
        </p:pic>
        <p:sp>
          <p:nvSpPr>
            <p:cNvPr id="20" name="New shape"/>
            <p:cNvSpPr txBox="1"/>
            <p:nvPr/>
          </p:nvSpPr>
          <p:spPr>
            <a:xfrm>
              <a:off x="2313225" y="1390367"/>
              <a:ext cx="14590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173</a:t>
              </a:r>
            </a:p>
          </p:txBody>
        </p:sp>
      </p:grpSp>
      <p:sp>
        <p:nvSpPr>
          <p:cNvPr id="21" name="New shape"/>
          <p:cNvSpPr/>
          <p:nvPr/>
        </p:nvSpPr>
        <p:spPr>
          <a:xfrm>
            <a:off x="4829175" y="1628775"/>
            <a:ext cx="142875" cy="28575"/>
          </a:xfrm>
          <a:prstGeom prst="roundRect">
            <a:avLst>
              <a:gd name="adj" fmla="val 48000"/>
            </a:avLst>
          </a:prstGeom>
          <a:solidFill>
            <a:srgbClr val="5B8EF5"/>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2" name="New shape"/>
          <p:cNvSpPr/>
          <p:nvPr/>
        </p:nvSpPr>
        <p:spPr>
          <a:xfrm>
            <a:off x="5114925" y="1314450"/>
            <a:ext cx="1971675" cy="628650"/>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23" name="Group 22"/>
          <p:cNvGrpSpPr/>
          <p:nvPr/>
        </p:nvGrpSpPr>
        <p:grpSpPr>
          <a:xfrm>
            <a:off x="5736637" y="1428750"/>
            <a:ext cx="842550" cy="171450"/>
            <a:chOff x="4537075" y="793750"/>
            <a:chExt cx="842550" cy="171450"/>
          </a:xfrm>
        </p:grpSpPr>
        <p:pic>
          <p:nvPicPr>
            <p:cNvPr id="24" name="New picture"/>
            <p:cNvPicPr/>
            <p:nvPr/>
          </p:nvPicPr>
          <p:blipFill>
            <a:blip>
              <a:extLst>
                <a:ext uri="{96DAC541-7B7A-43D3-8B79-37D633B846F1}">
                  <asvg:svgBlip xmlns:asvg="http://schemas.microsoft.com/office/drawing/2016/SVG/main" r:embed="rId5"/>
                </a:ext>
              </a:extLst>
            </a:blip>
            <a:stretch>
              <a:fillRect/>
            </a:stretch>
          </p:blipFill>
          <p:spPr>
            <a:xfrm>
              <a:off x="4537075" y="793750"/>
              <a:ext cx="171450" cy="171450"/>
            </a:xfrm>
            <a:prstGeom prst="rect">
              <a:avLst/>
            </a:prstGeom>
          </p:spPr>
        </p:pic>
        <p:sp>
          <p:nvSpPr>
            <p:cNvPr id="25" name="New shape"/>
            <p:cNvSpPr txBox="1"/>
            <p:nvPr/>
          </p:nvSpPr>
          <p:spPr>
            <a:xfrm>
              <a:off x="4779962" y="810209"/>
              <a:ext cx="599662"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546178"/>
                  </a:solidFill>
                  <a:latin typeface="Poppins"/>
                </a:rPr>
                <a:t>Criticaster</a:t>
              </a:r>
            </a:p>
          </p:txBody>
        </p:sp>
      </p:grpSp>
      <p:sp>
        <p:nvSpPr>
          <p:cNvPr id="26" name="New shape"/>
          <p:cNvSpPr txBox="1"/>
          <p:nvPr/>
        </p:nvSpPr>
        <p:spPr>
          <a:xfrm>
            <a:off x="5114925" y="1657350"/>
            <a:ext cx="197167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125" b="1" i="0">
                <a:solidFill>
                  <a:srgbClr val="192743"/>
                </a:solidFill>
                <a:latin typeface="Poppins"/>
              </a:rPr>
              <a:t>24%</a:t>
            </a:r>
          </a:p>
        </p:txBody>
      </p:sp>
      <p:grpSp>
        <p:nvGrpSpPr>
          <p:cNvPr id="27" name="Group 26"/>
          <p:cNvGrpSpPr/>
          <p:nvPr/>
        </p:nvGrpSpPr>
        <p:grpSpPr>
          <a:xfrm>
            <a:off x="6010362" y="2025367"/>
            <a:ext cx="295101" cy="121215"/>
            <a:chOff x="4537075" y="1390367"/>
            <a:chExt cx="295101" cy="121215"/>
          </a:xfrm>
        </p:grpSpPr>
        <p:pic>
          <p:nvPicPr>
            <p:cNvPr id="28" name="New picture"/>
            <p:cNvPicPr/>
            <p:nvPr/>
          </p:nvPicPr>
          <p:blipFill>
            <a:blip>
              <a:extLst>
                <a:ext uri="{96DAC541-7B7A-43D3-8B79-37D633B846F1}">
                  <asvg:svgBlip xmlns:asvg="http://schemas.microsoft.com/office/drawing/2016/SVG/main" r:embed="rId3"/>
                </a:ext>
              </a:extLst>
            </a:blip>
            <a:stretch>
              <a:fillRect/>
            </a:stretch>
          </p:blipFill>
          <p:spPr>
            <a:xfrm>
              <a:off x="4537075" y="1398468"/>
              <a:ext cx="105013" cy="105013"/>
            </a:xfrm>
            <a:prstGeom prst="rect">
              <a:avLst/>
            </a:prstGeom>
          </p:spPr>
        </p:pic>
        <p:sp>
          <p:nvSpPr>
            <p:cNvPr id="29" name="New shape"/>
            <p:cNvSpPr txBox="1"/>
            <p:nvPr/>
          </p:nvSpPr>
          <p:spPr>
            <a:xfrm>
              <a:off x="4713526" y="1390367"/>
              <a:ext cx="11865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70</a:t>
              </a:r>
            </a:p>
          </p:txBody>
        </p:sp>
      </p:grpSp>
      <p:sp>
        <p:nvSpPr>
          <p:cNvPr id="30" name="New shape"/>
          <p:cNvSpPr/>
          <p:nvPr/>
        </p:nvSpPr>
        <p:spPr>
          <a:xfrm>
            <a:off x="7229475" y="1600200"/>
            <a:ext cx="142875" cy="28575"/>
          </a:xfrm>
          <a:prstGeom prst="roundRect">
            <a:avLst>
              <a:gd name="adj" fmla="val 48000"/>
            </a:avLst>
          </a:prstGeom>
          <a:solidFill>
            <a:srgbClr val="5B8EF5"/>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1" name="New shape"/>
          <p:cNvSpPr/>
          <p:nvPr/>
        </p:nvSpPr>
        <p:spPr>
          <a:xfrm>
            <a:off x="7229475" y="1657350"/>
            <a:ext cx="142875" cy="28575"/>
          </a:xfrm>
          <a:prstGeom prst="roundRect">
            <a:avLst>
              <a:gd name="adj" fmla="val 48000"/>
            </a:avLst>
          </a:prstGeom>
          <a:solidFill>
            <a:srgbClr val="5B8EF5"/>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2" name="New shape"/>
          <p:cNvSpPr/>
          <p:nvPr/>
        </p:nvSpPr>
        <p:spPr>
          <a:xfrm>
            <a:off x="7515225" y="1314450"/>
            <a:ext cx="1143000" cy="628650"/>
          </a:xfrm>
          <a:prstGeom prst="roundRect">
            <a:avLst>
              <a:gd name="adj" fmla="val 6000"/>
            </a:avLst>
          </a:prstGeom>
          <a:solidFill>
            <a:srgbClr val="EFF4FF"/>
          </a:solidFill>
          <a:ln w="12700">
            <a:solidFill>
              <a:srgbClr val="E4EB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3" name="New shape"/>
          <p:cNvSpPr txBox="1"/>
          <p:nvPr/>
        </p:nvSpPr>
        <p:spPr>
          <a:xfrm>
            <a:off x="7515225" y="1428750"/>
            <a:ext cx="11430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0" i="0">
                <a:solidFill>
                  <a:srgbClr val="2867C9"/>
                </a:solidFill>
                <a:latin typeface="Poppins"/>
              </a:rPr>
              <a:t>eNPS</a:t>
            </a:r>
          </a:p>
        </p:txBody>
      </p:sp>
      <p:sp>
        <p:nvSpPr>
          <p:cNvPr id="34" name="New shape"/>
          <p:cNvSpPr txBox="1"/>
          <p:nvPr/>
        </p:nvSpPr>
        <p:spPr>
          <a:xfrm>
            <a:off x="7515225" y="1657350"/>
            <a:ext cx="11430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462" b="1" i="0">
                <a:solidFill>
                  <a:srgbClr val="192743"/>
                </a:solidFill>
                <a:latin typeface="Poppins"/>
              </a:rPr>
              <a:t>35</a:t>
            </a:r>
          </a:p>
        </p:txBody>
      </p:sp>
      <p:sp>
        <p:nvSpPr>
          <p:cNvPr id="35" name="New shape"/>
          <p:cNvSpPr/>
          <p:nvPr/>
        </p:nvSpPr>
        <p:spPr>
          <a:xfrm>
            <a:off x="457200" y="2443162"/>
            <a:ext cx="8229600" cy="257175"/>
          </a:xfrm>
          <a:prstGeom prst="roundRect">
            <a:avLst>
              <a:gd name="adj" fmla="val 12000"/>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6" name="New shape"/>
          <p:cNvSpPr/>
          <p:nvPr/>
        </p:nvSpPr>
        <p:spPr>
          <a:xfrm>
            <a:off x="4572000" y="2443162"/>
            <a:ext cx="1440180" cy="257175"/>
          </a:xfrm>
          <a:prstGeom prst="roundRect">
            <a:avLst>
              <a:gd name="adj" fmla="val 12000"/>
            </a:avLst>
          </a:prstGeom>
          <a:solidFill>
            <a:srgbClr val="C3D4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7" name="New shape"/>
          <p:cNvSpPr txBox="1"/>
          <p:nvPr/>
        </p:nvSpPr>
        <p:spPr>
          <a:xfrm>
            <a:off x="4572000" y="2443162"/>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35</a:t>
            </a:r>
          </a:p>
        </p:txBody>
      </p:sp>
      <p:pic>
        <p:nvPicPr>
          <p:cNvPr id="38" name="New picture"/>
          <p:cNvPicPr/>
          <p:nvPr/>
        </p:nvPicPr>
        <p:blipFill>
          <a:blip>
            <a:extLst>
              <a:ext uri="{96DAC541-7B7A-43D3-8B79-37D633B846F1}">
                <asvg:svgBlip xmlns:asvg="http://schemas.microsoft.com/office/drawing/2016/SVG/main" r:embed="rId6"/>
              </a:ext>
            </a:extLst>
          </a:blip>
          <a:stretch>
            <a:fillRect/>
          </a:stretch>
        </p:blipFill>
        <p:spPr>
          <a:xfrm>
            <a:off x="571500" y="2486025"/>
            <a:ext cx="142875" cy="171450"/>
          </a:xfrm>
          <a:prstGeom prst="rect">
            <a:avLst/>
          </a:prstGeom>
        </p:spPr>
      </p:pic>
      <p:sp>
        <p:nvSpPr>
          <p:cNvPr id="39" name="New shape"/>
          <p:cNvSpPr txBox="1"/>
          <p:nvPr/>
        </p:nvSpPr>
        <p:spPr>
          <a:xfrm>
            <a:off x="785812" y="2443162"/>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2867C9"/>
                </a:solidFill>
                <a:latin typeface="Poppins"/>
              </a:rPr>
              <a:t>Huidig</a:t>
            </a:r>
          </a:p>
        </p:txBody>
      </p:sp>
      <p:sp>
        <p:nvSpPr>
          <p:cNvPr id="40" name="New shape"/>
          <p:cNvSpPr/>
          <p:nvPr/>
        </p:nvSpPr>
        <p:spPr>
          <a:xfrm>
            <a:off x="457200" y="2757488"/>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1" name="New shape"/>
          <p:cNvSpPr/>
          <p:nvPr/>
        </p:nvSpPr>
        <p:spPr>
          <a:xfrm>
            <a:off x="4572000" y="2757488"/>
            <a:ext cx="946404"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2" name="New shape"/>
          <p:cNvSpPr txBox="1"/>
          <p:nvPr/>
        </p:nvSpPr>
        <p:spPr>
          <a:xfrm>
            <a:off x="4572000" y="2757488"/>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23</a:t>
            </a:r>
          </a:p>
        </p:txBody>
      </p:sp>
      <p:pic>
        <p:nvPicPr>
          <p:cNvPr id="43" name="New picture"/>
          <p:cNvPicPr/>
          <p:nvPr/>
        </p:nvPicPr>
        <p:blipFill>
          <a:blip>
            <a:extLst>
              <a:ext uri="{96DAC541-7B7A-43D3-8B79-37D633B846F1}">
                <asvg:svgBlip xmlns:asvg="http://schemas.microsoft.com/office/drawing/2016/SVG/main" r:embed="rId7"/>
              </a:ext>
            </a:extLst>
          </a:blip>
          <a:stretch>
            <a:fillRect/>
          </a:stretch>
        </p:blipFill>
        <p:spPr>
          <a:xfrm>
            <a:off x="571500" y="2811066"/>
            <a:ext cx="150019" cy="150019"/>
          </a:xfrm>
          <a:prstGeom prst="rect">
            <a:avLst/>
          </a:prstGeom>
        </p:spPr>
      </p:pic>
      <p:sp>
        <p:nvSpPr>
          <p:cNvPr id="44" name="New shape"/>
          <p:cNvSpPr txBox="1"/>
          <p:nvPr/>
        </p:nvSpPr>
        <p:spPr>
          <a:xfrm>
            <a:off x="792956" y="2757488"/>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Vorig onderzoek</a:t>
            </a:r>
          </a:p>
        </p:txBody>
      </p:sp>
      <p:sp>
        <p:nvSpPr>
          <p:cNvPr id="45" name="New shape"/>
          <p:cNvSpPr/>
          <p:nvPr/>
        </p:nvSpPr>
        <p:spPr>
          <a:xfrm>
            <a:off x="457200" y="3071812"/>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6" name="New shape"/>
          <p:cNvSpPr/>
          <p:nvPr/>
        </p:nvSpPr>
        <p:spPr>
          <a:xfrm>
            <a:off x="4572000" y="3071812"/>
            <a:ext cx="82296"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7" name="New shape"/>
          <p:cNvSpPr txBox="1"/>
          <p:nvPr/>
        </p:nvSpPr>
        <p:spPr>
          <a:xfrm>
            <a:off x="4572000" y="3071812"/>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2</a:t>
            </a:r>
          </a:p>
        </p:txBody>
      </p:sp>
      <p:pic>
        <p:nvPicPr>
          <p:cNvPr id="48" name="New picture"/>
          <p:cNvPicPr/>
          <p:nvPr/>
        </p:nvPicPr>
        <p:blipFill>
          <a:blip>
            <a:extLst>
              <a:ext uri="{96DAC541-7B7A-43D3-8B79-37D633B846F1}">
                <asvg:svgBlip xmlns:asvg="http://schemas.microsoft.com/office/drawing/2016/SVG/main" r:embed="rId8"/>
              </a:ext>
            </a:extLst>
          </a:blip>
          <a:stretch>
            <a:fillRect/>
          </a:stretch>
        </p:blipFill>
        <p:spPr>
          <a:xfrm>
            <a:off x="571500" y="3125391"/>
            <a:ext cx="150019" cy="150019"/>
          </a:xfrm>
          <a:prstGeom prst="rect">
            <a:avLst/>
          </a:prstGeom>
        </p:spPr>
      </p:pic>
      <p:sp>
        <p:nvSpPr>
          <p:cNvPr id="49" name="New shape"/>
          <p:cNvSpPr txBox="1"/>
          <p:nvPr/>
        </p:nvSpPr>
        <p:spPr>
          <a:xfrm>
            <a:off x="792956" y="3071812"/>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Globaal</a:t>
            </a:r>
          </a:p>
        </p:txBody>
      </p:sp>
      <p:sp>
        <p:nvSpPr>
          <p:cNvPr id="50" name="New shape"/>
          <p:cNvSpPr/>
          <p:nvPr/>
        </p:nvSpPr>
        <p:spPr>
          <a:xfrm>
            <a:off x="457200" y="3386138"/>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1" name="New shape"/>
          <p:cNvSpPr txBox="1"/>
          <p:nvPr/>
        </p:nvSpPr>
        <p:spPr>
          <a:xfrm>
            <a:off x="457200" y="3386138"/>
            <a:ext cx="822960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0" i="0">
                <a:solidFill>
                  <a:srgbClr val="192743"/>
                </a:solidFill>
                <a:latin typeface="Poppins"/>
              </a:rPr>
              <a:t>resultaten niet beschikbaar</a:t>
            </a:r>
          </a:p>
        </p:txBody>
      </p:sp>
      <p:pic>
        <p:nvPicPr>
          <p:cNvPr id="52" name="New picture"/>
          <p:cNvPicPr/>
          <p:nvPr/>
        </p:nvPicPr>
        <p:blipFill>
          <a:blip>
            <a:extLst>
              <a:ext uri="{96DAC541-7B7A-43D3-8B79-37D633B846F1}">
                <asvg:svgBlip xmlns:asvg="http://schemas.microsoft.com/office/drawing/2016/SVG/main" r:embed="rId9"/>
              </a:ext>
            </a:extLst>
          </a:blip>
          <a:stretch>
            <a:fillRect/>
          </a:stretch>
        </p:blipFill>
        <p:spPr>
          <a:xfrm>
            <a:off x="571500" y="3439716"/>
            <a:ext cx="150019" cy="150019"/>
          </a:xfrm>
          <a:prstGeom prst="rect">
            <a:avLst/>
          </a:prstGeom>
        </p:spPr>
      </p:pic>
      <p:sp>
        <p:nvSpPr>
          <p:cNvPr id="53" name="New shape"/>
          <p:cNvSpPr txBox="1"/>
          <p:nvPr/>
        </p:nvSpPr>
        <p:spPr>
          <a:xfrm>
            <a:off x="792956" y="3386138"/>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Top 3 Globaal</a:t>
            </a:r>
          </a:p>
        </p:txBody>
      </p:sp>
      <p:sp>
        <p:nvSpPr>
          <p:cNvPr id="54" name="New shape"/>
          <p:cNvSpPr/>
          <p:nvPr/>
        </p:nvSpPr>
        <p:spPr>
          <a:xfrm>
            <a:off x="457200" y="3700462"/>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5" name="New shape"/>
          <p:cNvSpPr/>
          <p:nvPr/>
        </p:nvSpPr>
        <p:spPr>
          <a:xfrm>
            <a:off x="4572000" y="3700462"/>
            <a:ext cx="658368"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6" name="New shape"/>
          <p:cNvSpPr txBox="1"/>
          <p:nvPr/>
        </p:nvSpPr>
        <p:spPr>
          <a:xfrm>
            <a:off x="4572000" y="3700462"/>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16</a:t>
            </a:r>
          </a:p>
        </p:txBody>
      </p:sp>
      <p:pic>
        <p:nvPicPr>
          <p:cNvPr id="57" name="New picture"/>
          <p:cNvPicPr/>
          <p:nvPr/>
        </p:nvPicPr>
        <p:blipFill>
          <a:blip>
            <a:extLst>
              <a:ext uri="{96DAC541-7B7A-43D3-8B79-37D633B846F1}">
                <asvg:svgBlip xmlns:asvg="http://schemas.microsoft.com/office/drawing/2016/SVG/main" r:embed="rId8"/>
              </a:ext>
            </a:extLst>
          </a:blip>
          <a:stretch>
            <a:fillRect/>
          </a:stretch>
        </p:blipFill>
        <p:spPr>
          <a:xfrm>
            <a:off x="571500" y="3754041"/>
            <a:ext cx="150019" cy="150019"/>
          </a:xfrm>
          <a:prstGeom prst="rect">
            <a:avLst/>
          </a:prstGeom>
        </p:spPr>
      </p:pic>
      <p:sp>
        <p:nvSpPr>
          <p:cNvPr id="58" name="New shape"/>
          <p:cNvSpPr txBox="1"/>
          <p:nvPr/>
        </p:nvSpPr>
        <p:spPr>
          <a:xfrm>
            <a:off x="792956" y="3700462"/>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Benchmark B2B</a:t>
            </a:r>
          </a:p>
        </p:txBody>
      </p:sp>
      <p:sp>
        <p:nvSpPr>
          <p:cNvPr id="59" name="New shape"/>
          <p:cNvSpPr/>
          <p:nvPr/>
        </p:nvSpPr>
        <p:spPr>
          <a:xfrm>
            <a:off x="457200" y="4014788"/>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0" name="New shape"/>
          <p:cNvSpPr/>
          <p:nvPr/>
        </p:nvSpPr>
        <p:spPr>
          <a:xfrm>
            <a:off x="4572000" y="4014788"/>
            <a:ext cx="2798064"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1" name="New shape"/>
          <p:cNvSpPr txBox="1"/>
          <p:nvPr/>
        </p:nvSpPr>
        <p:spPr>
          <a:xfrm>
            <a:off x="4572000" y="4014788"/>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68</a:t>
            </a:r>
          </a:p>
        </p:txBody>
      </p:sp>
      <p:pic>
        <p:nvPicPr>
          <p:cNvPr id="62" name="New picture"/>
          <p:cNvPicPr/>
          <p:nvPr/>
        </p:nvPicPr>
        <p:blipFill>
          <a:blip>
            <a:extLst>
              <a:ext uri="{96DAC541-7B7A-43D3-8B79-37D633B846F1}">
                <asvg:svgBlip xmlns:asvg="http://schemas.microsoft.com/office/drawing/2016/SVG/main" r:embed="rId10"/>
              </a:ext>
            </a:extLst>
          </a:blip>
          <a:stretch>
            <a:fillRect/>
          </a:stretch>
        </p:blipFill>
        <p:spPr>
          <a:xfrm>
            <a:off x="571500" y="4068366"/>
            <a:ext cx="150019" cy="150019"/>
          </a:xfrm>
          <a:prstGeom prst="rect">
            <a:avLst/>
          </a:prstGeom>
        </p:spPr>
      </p:pic>
      <p:sp>
        <p:nvSpPr>
          <p:cNvPr id="63" name="New shape"/>
          <p:cNvSpPr txBox="1"/>
          <p:nvPr/>
        </p:nvSpPr>
        <p:spPr>
          <a:xfrm>
            <a:off x="792956" y="4014788"/>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Top 3 Benchmark B2B</a:t>
            </a:r>
          </a:p>
        </p:txBody>
      </p:sp>
      <p:sp>
        <p:nvSpPr>
          <p:cNvPr id="64" name="New shape"/>
          <p:cNvSpPr/>
          <p:nvPr/>
        </p:nvSpPr>
        <p:spPr>
          <a:xfrm>
            <a:off x="457200" y="4400550"/>
            <a:ext cx="8229600" cy="0"/>
          </a:xfrm>
          <a:prstGeom prst="line">
            <a:avLst/>
          </a:prstGeom>
          <a:ln w="1270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5" name="New shape"/>
          <p:cNvSpPr/>
          <p:nvPr/>
        </p:nvSpPr>
        <p:spPr>
          <a:xfrm flipH="1">
            <a:off x="457200" y="4329112"/>
            <a:ext cx="0" cy="71438"/>
          </a:xfrm>
          <a:prstGeom prst="line">
            <a:avLst/>
          </a:prstGeom>
          <a:ln w="889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6" name="New shape"/>
          <p:cNvSpPr txBox="1"/>
          <p:nvPr/>
        </p:nvSpPr>
        <p:spPr>
          <a:xfrm>
            <a:off x="457200" y="4471988"/>
            <a:ext cx="285750" cy="15716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788" b="0" i="0">
                <a:solidFill>
                  <a:srgbClr val="546178"/>
                </a:solidFill>
                <a:latin typeface="Poppins"/>
              </a:rPr>
              <a:t>-100</a:t>
            </a:r>
          </a:p>
        </p:txBody>
      </p:sp>
      <p:sp>
        <p:nvSpPr>
          <p:cNvPr id="67" name="New shape"/>
          <p:cNvSpPr/>
          <p:nvPr/>
        </p:nvSpPr>
        <p:spPr>
          <a:xfrm flipH="1">
            <a:off x="4572000" y="4329112"/>
            <a:ext cx="0" cy="71438"/>
          </a:xfrm>
          <a:prstGeom prst="line">
            <a:avLst/>
          </a:prstGeom>
          <a:ln w="889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8" name="New shape"/>
          <p:cNvSpPr txBox="1"/>
          <p:nvPr/>
        </p:nvSpPr>
        <p:spPr>
          <a:xfrm>
            <a:off x="4429125" y="4471988"/>
            <a:ext cx="285750" cy="15716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788" b="0" i="0">
                <a:solidFill>
                  <a:srgbClr val="546178"/>
                </a:solidFill>
                <a:latin typeface="Poppins"/>
              </a:rPr>
              <a:t>0</a:t>
            </a:r>
          </a:p>
        </p:txBody>
      </p:sp>
      <p:sp>
        <p:nvSpPr>
          <p:cNvPr id="69" name="New shape"/>
          <p:cNvSpPr/>
          <p:nvPr/>
        </p:nvSpPr>
        <p:spPr>
          <a:xfrm flipH="1">
            <a:off x="8686800" y="4329112"/>
            <a:ext cx="0" cy="71438"/>
          </a:xfrm>
          <a:prstGeom prst="line">
            <a:avLst/>
          </a:prstGeom>
          <a:ln w="889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0" name="New shape"/>
          <p:cNvSpPr txBox="1"/>
          <p:nvPr/>
        </p:nvSpPr>
        <p:spPr>
          <a:xfrm>
            <a:off x="8401050" y="4471988"/>
            <a:ext cx="285750" cy="15716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r">
              <a:lnSpc>
                <a:spcPct val="100000"/>
              </a:lnSpc>
            </a:pPr>
            <a:r>
              <a:rPr sz="788" b="0" i="0">
                <a:solidFill>
                  <a:srgbClr val="546178"/>
                </a:solidFill>
                <a:latin typeface="Poppins"/>
              </a:rPr>
              <a:t>100</a:t>
            </a:r>
          </a:p>
        </p:txBody>
      </p:sp>
      <p:pic>
        <p:nvPicPr>
          <p:cNvPr id="71" name="New picture"/>
          <p:cNvPicPr/>
          <p:nvPr/>
        </p:nvPicPr>
        <p:blipFill>
          <a:blip>
            <a:extLst>
              <a:ext uri="{96DAC541-7B7A-43D3-8B79-37D633B846F1}">
                <asvg:svgBlip xmlns:asvg="http://schemas.microsoft.com/office/drawing/2016/SVG/main" r:embed="rId11"/>
              </a:ext>
            </a:extLst>
          </a:blip>
          <a:stretch>
            <a:fillRect/>
          </a:stretch>
        </p:blipFill>
        <p:spPr>
          <a:xfrm>
            <a:off x="114300" y="4882753"/>
            <a:ext cx="150019" cy="150019"/>
          </a:xfrm>
          <a:prstGeom prst="rect">
            <a:avLst/>
          </a:prstGeom>
        </p:spPr>
      </p:pic>
      <p:sp>
        <p:nvSpPr>
          <p:cNvPr id="72" name="New shape"/>
          <p:cNvSpPr txBox="1"/>
          <p:nvPr/>
        </p:nvSpPr>
        <p:spPr>
          <a:xfrm>
            <a:off x="335756" y="4897155"/>
            <a:ext cx="70869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respondenten</a:t>
            </a:r>
          </a:p>
        </p:txBody>
      </p:sp>
      <p:sp>
        <p:nvSpPr>
          <p:cNvPr id="73" name="New shape"/>
          <p:cNvSpPr txBox="1"/>
          <p:nvPr/>
        </p:nvSpPr>
        <p:spPr>
          <a:xfrm>
            <a:off x="2093119" y="4829368"/>
            <a:ext cx="3571875" cy="24250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dirty="0">
                <a:solidFill>
                  <a:srgbClr val="192743"/>
                </a:solidFill>
                <a:latin typeface="Poppins"/>
              </a:rPr>
              <a:t>Hoe </a:t>
            </a:r>
            <a:r>
              <a:rPr sz="788" b="0" i="0" dirty="0" err="1">
                <a:solidFill>
                  <a:srgbClr val="192743"/>
                </a:solidFill>
                <a:latin typeface="Poppins"/>
              </a:rPr>
              <a:t>waarschijnlijk</a:t>
            </a:r>
            <a:r>
              <a:rPr sz="788" b="0" i="0" dirty="0">
                <a:solidFill>
                  <a:srgbClr val="192743"/>
                </a:solidFill>
                <a:latin typeface="Poppins"/>
              </a:rPr>
              <a:t> is het </a:t>
            </a:r>
            <a:r>
              <a:rPr sz="788" b="0" i="0" dirty="0" err="1">
                <a:solidFill>
                  <a:srgbClr val="192743"/>
                </a:solidFill>
                <a:latin typeface="Poppins"/>
              </a:rPr>
              <a:t>dat</a:t>
            </a:r>
            <a:r>
              <a:rPr sz="788" b="0" i="0" dirty="0">
                <a:solidFill>
                  <a:srgbClr val="192743"/>
                </a:solidFill>
                <a:latin typeface="Poppins"/>
              </a:rPr>
              <a:t> je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a:t>
            </a:r>
            <a:r>
              <a:rPr sz="788" b="0" i="0" dirty="0" err="1">
                <a:solidFill>
                  <a:srgbClr val="192743"/>
                </a:solidFill>
                <a:latin typeface="Poppins"/>
              </a:rPr>
              <a:t>werkgever</a:t>
            </a:r>
            <a:r>
              <a:rPr sz="788" b="0" i="0" dirty="0">
                <a:solidFill>
                  <a:srgbClr val="192743"/>
                </a:solidFill>
                <a:latin typeface="Poppins"/>
              </a:rPr>
              <a:t> </a:t>
            </a:r>
            <a:r>
              <a:rPr sz="788" b="0" i="0" dirty="0" err="1">
                <a:solidFill>
                  <a:srgbClr val="192743"/>
                </a:solidFill>
                <a:latin typeface="Poppins"/>
              </a:rPr>
              <a:t>zou</a:t>
            </a:r>
            <a:r>
              <a:rPr sz="788" b="0" i="0" dirty="0">
                <a:solidFill>
                  <a:srgbClr val="192743"/>
                </a:solidFill>
                <a:latin typeface="Poppins"/>
              </a:rPr>
              <a:t> </a:t>
            </a:r>
            <a:r>
              <a:rPr sz="788" b="0" i="0" dirty="0" err="1">
                <a:solidFill>
                  <a:srgbClr val="192743"/>
                </a:solidFill>
                <a:latin typeface="Poppins"/>
              </a:rPr>
              <a:t>aanbevelen</a:t>
            </a:r>
            <a:r>
              <a:rPr sz="788" b="0" i="0" dirty="0">
                <a:solidFill>
                  <a:srgbClr val="192743"/>
                </a:solidFill>
                <a:latin typeface="Poppins"/>
              </a:rPr>
              <a:t> </a:t>
            </a:r>
            <a:r>
              <a:rPr sz="788" b="0" i="0" dirty="0" err="1">
                <a:solidFill>
                  <a:srgbClr val="192743"/>
                </a:solidFill>
                <a:latin typeface="Poppins"/>
              </a:rPr>
              <a:t>bij</a:t>
            </a:r>
            <a:r>
              <a:rPr sz="788" b="0" i="0" dirty="0">
                <a:solidFill>
                  <a:srgbClr val="192743"/>
                </a:solidFill>
                <a:latin typeface="Poppins"/>
              </a:rPr>
              <a:t> </a:t>
            </a:r>
            <a:r>
              <a:rPr sz="788" b="0" i="0" dirty="0" err="1">
                <a:solidFill>
                  <a:srgbClr val="192743"/>
                </a:solidFill>
                <a:latin typeface="Poppins"/>
              </a:rPr>
              <a:t>anderen</a:t>
            </a:r>
            <a:r>
              <a:rPr sz="788" b="0" i="0" dirty="0">
                <a:solidFill>
                  <a:srgbClr val="192743"/>
                </a:solidFill>
                <a:latin typeface="Poppins"/>
              </a:rPr>
              <a:t>?</a:t>
            </a:r>
          </a:p>
        </p:txBody>
      </p:sp>
      <p:pic>
        <p:nvPicPr>
          <p:cNvPr id="74" name="New picture"/>
          <p:cNvPicPr/>
          <p:nvPr/>
        </p:nvPicPr>
        <p:blipFill>
          <a:blip>
            <a:extLst>
              <a:ext uri="{96DAC541-7B7A-43D3-8B79-37D633B846F1}">
                <asvg:svgBlip xmlns:asvg="http://schemas.microsoft.com/office/drawing/2016/SVG/main" r:embed="rId5"/>
              </a:ext>
            </a:extLst>
          </a:blip>
          <a:stretch>
            <a:fillRect/>
          </a:stretch>
        </p:blipFill>
        <p:spPr>
          <a:xfrm>
            <a:off x="5750719" y="4857750"/>
            <a:ext cx="171450" cy="171450"/>
          </a:xfrm>
          <a:prstGeom prst="rect">
            <a:avLst/>
          </a:prstGeom>
        </p:spPr>
      </p:pic>
      <p:sp>
        <p:nvSpPr>
          <p:cNvPr id="75" name="New shape"/>
          <p:cNvSpPr txBox="1"/>
          <p:nvPr/>
        </p:nvSpPr>
        <p:spPr>
          <a:xfrm>
            <a:off x="5979319"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0</a:t>
            </a:r>
          </a:p>
        </p:txBody>
      </p:sp>
      <p:sp>
        <p:nvSpPr>
          <p:cNvPr id="76" name="New shape"/>
          <p:cNvSpPr txBox="1"/>
          <p:nvPr/>
        </p:nvSpPr>
        <p:spPr>
          <a:xfrm>
            <a:off x="6165056"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1</a:t>
            </a:r>
          </a:p>
        </p:txBody>
      </p:sp>
      <p:sp>
        <p:nvSpPr>
          <p:cNvPr id="77" name="New shape"/>
          <p:cNvSpPr txBox="1"/>
          <p:nvPr/>
        </p:nvSpPr>
        <p:spPr>
          <a:xfrm>
            <a:off x="6350794"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2</a:t>
            </a:r>
          </a:p>
        </p:txBody>
      </p:sp>
      <p:sp>
        <p:nvSpPr>
          <p:cNvPr id="78" name="New shape"/>
          <p:cNvSpPr txBox="1"/>
          <p:nvPr/>
        </p:nvSpPr>
        <p:spPr>
          <a:xfrm>
            <a:off x="6536531"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3</a:t>
            </a:r>
          </a:p>
        </p:txBody>
      </p:sp>
      <p:sp>
        <p:nvSpPr>
          <p:cNvPr id="79" name="New shape"/>
          <p:cNvSpPr txBox="1"/>
          <p:nvPr/>
        </p:nvSpPr>
        <p:spPr>
          <a:xfrm>
            <a:off x="6722269"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4</a:t>
            </a:r>
          </a:p>
        </p:txBody>
      </p:sp>
      <p:sp>
        <p:nvSpPr>
          <p:cNvPr id="80" name="New shape"/>
          <p:cNvSpPr txBox="1"/>
          <p:nvPr/>
        </p:nvSpPr>
        <p:spPr>
          <a:xfrm>
            <a:off x="6908006"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5</a:t>
            </a:r>
          </a:p>
        </p:txBody>
      </p:sp>
      <p:sp>
        <p:nvSpPr>
          <p:cNvPr id="81" name="New shape"/>
          <p:cNvSpPr txBox="1"/>
          <p:nvPr/>
        </p:nvSpPr>
        <p:spPr>
          <a:xfrm>
            <a:off x="7093744"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6</a:t>
            </a:r>
          </a:p>
        </p:txBody>
      </p:sp>
      <p:pic>
        <p:nvPicPr>
          <p:cNvPr id="82" name="New picture"/>
          <p:cNvPicPr/>
          <p:nvPr/>
        </p:nvPicPr>
        <p:blipFill>
          <a:blip>
            <a:extLst>
              <a:ext uri="{96DAC541-7B7A-43D3-8B79-37D633B846F1}">
                <asvg:svgBlip xmlns:asvg="http://schemas.microsoft.com/office/drawing/2016/SVG/main" r:embed="rId2"/>
              </a:ext>
            </a:extLst>
          </a:blip>
          <a:stretch>
            <a:fillRect/>
          </a:stretch>
        </p:blipFill>
        <p:spPr>
          <a:xfrm>
            <a:off x="7350919" y="4857750"/>
            <a:ext cx="171450" cy="171450"/>
          </a:xfrm>
          <a:prstGeom prst="rect">
            <a:avLst/>
          </a:prstGeom>
        </p:spPr>
      </p:pic>
      <p:sp>
        <p:nvSpPr>
          <p:cNvPr id="83" name="New shape"/>
          <p:cNvSpPr txBox="1"/>
          <p:nvPr/>
        </p:nvSpPr>
        <p:spPr>
          <a:xfrm>
            <a:off x="7579519" y="4857750"/>
            <a:ext cx="171450" cy="1714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DBA900"/>
                </a:solidFill>
                <a:latin typeface="Poppins"/>
              </a:rPr>
              <a:t>7</a:t>
            </a:r>
          </a:p>
        </p:txBody>
      </p:sp>
      <p:sp>
        <p:nvSpPr>
          <p:cNvPr id="84" name="New shape"/>
          <p:cNvSpPr txBox="1"/>
          <p:nvPr/>
        </p:nvSpPr>
        <p:spPr>
          <a:xfrm>
            <a:off x="7765256" y="4857750"/>
            <a:ext cx="171450" cy="1714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DBA900"/>
                </a:solidFill>
                <a:latin typeface="Poppins"/>
              </a:rPr>
              <a:t>8</a:t>
            </a:r>
          </a:p>
        </p:txBody>
      </p:sp>
      <p:pic>
        <p:nvPicPr>
          <p:cNvPr id="85" name="New picture"/>
          <p:cNvPicPr/>
          <p:nvPr/>
        </p:nvPicPr>
        <p:blipFill>
          <a:blip>
            <a:extLst>
              <a:ext uri="{96DAC541-7B7A-43D3-8B79-37D633B846F1}">
                <asvg:svgBlip xmlns:asvg="http://schemas.microsoft.com/office/drawing/2016/SVG/main" r:embed="rId4"/>
              </a:ext>
            </a:extLst>
          </a:blip>
          <a:stretch>
            <a:fillRect/>
          </a:stretch>
        </p:blipFill>
        <p:spPr>
          <a:xfrm>
            <a:off x="8022431" y="4857750"/>
            <a:ext cx="171450" cy="171450"/>
          </a:xfrm>
          <a:prstGeom prst="rect">
            <a:avLst/>
          </a:prstGeom>
        </p:spPr>
      </p:pic>
      <p:sp>
        <p:nvSpPr>
          <p:cNvPr id="86" name="New shape"/>
          <p:cNvSpPr txBox="1"/>
          <p:nvPr/>
        </p:nvSpPr>
        <p:spPr>
          <a:xfrm>
            <a:off x="8251031" y="4857750"/>
            <a:ext cx="171450" cy="1714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66B881"/>
                </a:solidFill>
                <a:latin typeface="Poppins"/>
              </a:rPr>
              <a:t>9</a:t>
            </a:r>
          </a:p>
        </p:txBody>
      </p:sp>
      <p:sp>
        <p:nvSpPr>
          <p:cNvPr id="87" name="New shape"/>
          <p:cNvSpPr txBox="1"/>
          <p:nvPr/>
        </p:nvSpPr>
        <p:spPr>
          <a:xfrm>
            <a:off x="8436769" y="4857750"/>
            <a:ext cx="171450" cy="1714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66B881"/>
                </a:solidFill>
                <a:latin typeface="Poppins"/>
              </a:rPr>
              <a:t>10</a:t>
            </a:r>
          </a:p>
        </p:txBody>
      </p:sp>
      <p:sp>
        <p:nvSpPr>
          <p:cNvPr id="8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a:t>
            </a:r>
          </a:p>
        </p:txBody>
      </p:sp>
      <p:sp>
        <p:nvSpPr>
          <p:cNvPr id="89"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90"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92" name="New shape"/>
          <p:cNvSpPr txBox="1"/>
          <p:nvPr/>
        </p:nvSpPr>
        <p:spPr>
          <a:xfrm flipV="1">
            <a:off x="0" y="0"/>
            <a:ext cx="125268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Belangrijke resultaten</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Opsplitsing per groep</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Een vergelijking van de eNPS-score tussen al je groepen.</a:t>
            </a:r>
          </a:p>
        </p:txBody>
      </p:sp>
      <p:sp>
        <p:nvSpPr>
          <p:cNvPr id="4" name="New shape"/>
          <p:cNvSpPr/>
          <p:nvPr/>
        </p:nvSpPr>
        <p:spPr>
          <a:xfrm>
            <a:off x="457200" y="1314450"/>
            <a:ext cx="7572375" cy="342900"/>
          </a:xfrm>
          <a:prstGeom prst="roundRect">
            <a:avLst>
              <a:gd name="adj" fmla="val 6000"/>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 name="New picture"/>
          <p:cNvPicPr/>
          <p:nvPr/>
        </p:nvPicPr>
        <p:blipFill>
          <a:blip>
            <a:extLst>
              <a:ext uri="{96DAC541-7B7A-43D3-8B79-37D633B846F1}">
                <asvg:svgBlip xmlns:asvg="http://schemas.microsoft.com/office/drawing/2016/SVG/main" r:embed="rId2"/>
              </a:ext>
            </a:extLst>
          </a:blip>
          <a:stretch>
            <a:fillRect/>
          </a:stretch>
        </p:blipFill>
        <p:spPr>
          <a:xfrm>
            <a:off x="600075" y="1400175"/>
            <a:ext cx="142875" cy="171450"/>
          </a:xfrm>
          <a:prstGeom prst="rect">
            <a:avLst/>
          </a:prstGeom>
        </p:spPr>
      </p:pic>
      <p:sp>
        <p:nvSpPr>
          <p:cNvPr id="6" name="New shape"/>
          <p:cNvSpPr txBox="1"/>
          <p:nvPr/>
        </p:nvSpPr>
        <p:spPr>
          <a:xfrm>
            <a:off x="814388" y="1399318"/>
            <a:ext cx="375190" cy="17316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1125" b="1" i="0">
                <a:solidFill>
                  <a:srgbClr val="2867C9"/>
                </a:solidFill>
                <a:latin typeface="Poppins"/>
              </a:rPr>
              <a:t>eNPS</a:t>
            </a:r>
          </a:p>
        </p:txBody>
      </p:sp>
      <p:sp>
        <p:nvSpPr>
          <p:cNvPr id="7" name="New shape"/>
          <p:cNvSpPr txBox="1"/>
          <p:nvPr/>
        </p:nvSpPr>
        <p:spPr>
          <a:xfrm>
            <a:off x="7679579" y="1373343"/>
            <a:ext cx="235696" cy="225114"/>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1462" b="1" i="0">
                <a:solidFill>
                  <a:srgbClr val="2867C9"/>
                </a:solidFill>
                <a:latin typeface="Poppins"/>
              </a:rPr>
              <a:t>35</a:t>
            </a:r>
          </a:p>
        </p:txBody>
      </p:sp>
      <p:sp>
        <p:nvSpPr>
          <p:cNvPr id="8" name="New shape"/>
          <p:cNvSpPr/>
          <p:nvPr/>
        </p:nvSpPr>
        <p:spPr>
          <a:xfrm>
            <a:off x="1303877" y="1485900"/>
            <a:ext cx="6261402" cy="0"/>
          </a:xfrm>
          <a:prstGeom prst="line">
            <a:avLst/>
          </a:prstGeom>
          <a:ln w="10160">
            <a:solidFill>
              <a:srgbClr val="5B8EF5"/>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8129588" y="1425893"/>
            <a:ext cx="120015" cy="120015"/>
          </a:xfrm>
          <a:prstGeom prst="rect">
            <a:avLst/>
          </a:prstGeom>
        </p:spPr>
      </p:pic>
      <p:sp>
        <p:nvSpPr>
          <p:cNvPr id="10" name="New shape"/>
          <p:cNvSpPr txBox="1"/>
          <p:nvPr/>
        </p:nvSpPr>
        <p:spPr>
          <a:xfrm>
            <a:off x="8321040" y="1425292"/>
            <a:ext cx="153924"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291</a:t>
            </a:r>
          </a:p>
        </p:txBody>
      </p:sp>
      <p:sp>
        <p:nvSpPr>
          <p:cNvPr id="11" name="New shape"/>
          <p:cNvSpPr txBox="1"/>
          <p:nvPr/>
        </p:nvSpPr>
        <p:spPr>
          <a:xfrm>
            <a:off x="457200" y="2131009"/>
            <a:ext cx="944388"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Communication</a:t>
            </a:r>
          </a:p>
        </p:txBody>
      </p:sp>
      <p:sp>
        <p:nvSpPr>
          <p:cNvPr id="12" name="New shape"/>
          <p:cNvSpPr/>
          <p:nvPr/>
        </p:nvSpPr>
        <p:spPr>
          <a:xfrm>
            <a:off x="1458738" y="2200275"/>
            <a:ext cx="6056487"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3" name="New shape"/>
          <p:cNvSpPr txBox="1"/>
          <p:nvPr/>
        </p:nvSpPr>
        <p:spPr>
          <a:xfrm>
            <a:off x="7572375" y="20574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35</a:t>
            </a:r>
          </a:p>
        </p:txBody>
      </p:sp>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8129588" y="2128361"/>
            <a:ext cx="120015" cy="120015"/>
          </a:xfrm>
          <a:prstGeom prst="rect">
            <a:avLst/>
          </a:prstGeom>
        </p:spPr>
      </p:pic>
      <p:sp>
        <p:nvSpPr>
          <p:cNvPr id="15" name="New shape"/>
          <p:cNvSpPr txBox="1"/>
          <p:nvPr/>
        </p:nvSpPr>
        <p:spPr>
          <a:xfrm>
            <a:off x="8321040" y="2127761"/>
            <a:ext cx="8658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17</a:t>
            </a:r>
          </a:p>
        </p:txBody>
      </p:sp>
      <p:sp>
        <p:nvSpPr>
          <p:cNvPr id="16" name="New shape"/>
          <p:cNvSpPr txBox="1"/>
          <p:nvPr/>
        </p:nvSpPr>
        <p:spPr>
          <a:xfrm>
            <a:off x="457200" y="2473909"/>
            <a:ext cx="1080675"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Customer Success</a:t>
            </a:r>
          </a:p>
        </p:txBody>
      </p:sp>
      <p:sp>
        <p:nvSpPr>
          <p:cNvPr id="17" name="New shape"/>
          <p:cNvSpPr/>
          <p:nvPr/>
        </p:nvSpPr>
        <p:spPr>
          <a:xfrm>
            <a:off x="1595025" y="2543175"/>
            <a:ext cx="59202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8" name="New shape"/>
          <p:cNvSpPr txBox="1"/>
          <p:nvPr/>
        </p:nvSpPr>
        <p:spPr>
          <a:xfrm>
            <a:off x="7572375" y="24003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39</a:t>
            </a:r>
          </a:p>
        </p:txBody>
      </p:sp>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8129588" y="2471261"/>
            <a:ext cx="120015" cy="120015"/>
          </a:xfrm>
          <a:prstGeom prst="rect">
            <a:avLst/>
          </a:prstGeom>
        </p:spPr>
      </p:pic>
      <p:sp>
        <p:nvSpPr>
          <p:cNvPr id="20" name="New shape"/>
          <p:cNvSpPr txBox="1"/>
          <p:nvPr/>
        </p:nvSpPr>
        <p:spPr>
          <a:xfrm>
            <a:off x="8321040" y="2470661"/>
            <a:ext cx="12185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112</a:t>
            </a:r>
          </a:p>
        </p:txBody>
      </p:sp>
      <p:sp>
        <p:nvSpPr>
          <p:cNvPr id="21" name="New shape"/>
          <p:cNvSpPr txBox="1"/>
          <p:nvPr/>
        </p:nvSpPr>
        <p:spPr>
          <a:xfrm>
            <a:off x="457200" y="2816809"/>
            <a:ext cx="455358"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Finance</a:t>
            </a:r>
          </a:p>
        </p:txBody>
      </p:sp>
      <p:sp>
        <p:nvSpPr>
          <p:cNvPr id="22" name="New shape"/>
          <p:cNvSpPr/>
          <p:nvPr/>
        </p:nvSpPr>
        <p:spPr>
          <a:xfrm>
            <a:off x="969709" y="2886075"/>
            <a:ext cx="6545516"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3" name="New shape"/>
          <p:cNvSpPr txBox="1"/>
          <p:nvPr/>
        </p:nvSpPr>
        <p:spPr>
          <a:xfrm>
            <a:off x="7572375" y="27432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40</a:t>
            </a:r>
          </a:p>
        </p:txBody>
      </p:sp>
      <p:pic>
        <p:nvPicPr>
          <p:cNvPr id="24" name="New picture"/>
          <p:cNvPicPr/>
          <p:nvPr/>
        </p:nvPicPr>
        <p:blipFill>
          <a:blip>
            <a:extLst>
              <a:ext uri="{96DAC541-7B7A-43D3-8B79-37D633B846F1}">
                <asvg:svgBlip xmlns:asvg="http://schemas.microsoft.com/office/drawing/2016/SVG/main" r:embed="rId3"/>
              </a:ext>
            </a:extLst>
          </a:blip>
          <a:stretch>
            <a:fillRect/>
          </a:stretch>
        </p:blipFill>
        <p:spPr>
          <a:xfrm>
            <a:off x="8129588" y="2814161"/>
            <a:ext cx="120015" cy="120015"/>
          </a:xfrm>
          <a:prstGeom prst="rect">
            <a:avLst/>
          </a:prstGeom>
        </p:spPr>
      </p:pic>
      <p:sp>
        <p:nvSpPr>
          <p:cNvPr id="25" name="New shape"/>
          <p:cNvSpPr txBox="1"/>
          <p:nvPr/>
        </p:nvSpPr>
        <p:spPr>
          <a:xfrm>
            <a:off x="8321040" y="2813561"/>
            <a:ext cx="12346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30</a:t>
            </a:r>
          </a:p>
        </p:txBody>
      </p:sp>
      <p:sp>
        <p:nvSpPr>
          <p:cNvPr id="26" name="New shape"/>
          <p:cNvSpPr txBox="1"/>
          <p:nvPr/>
        </p:nvSpPr>
        <p:spPr>
          <a:xfrm>
            <a:off x="457200" y="3159709"/>
            <a:ext cx="105341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Human Resources</a:t>
            </a:r>
          </a:p>
        </p:txBody>
      </p:sp>
      <p:sp>
        <p:nvSpPr>
          <p:cNvPr id="27" name="New shape"/>
          <p:cNvSpPr/>
          <p:nvPr/>
        </p:nvSpPr>
        <p:spPr>
          <a:xfrm>
            <a:off x="1567767" y="3228975"/>
            <a:ext cx="594745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8" name="New shape"/>
          <p:cNvSpPr txBox="1"/>
          <p:nvPr/>
        </p:nvSpPr>
        <p:spPr>
          <a:xfrm>
            <a:off x="7572375" y="30861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47</a:t>
            </a:r>
          </a:p>
        </p:txBody>
      </p:sp>
      <p:pic>
        <p:nvPicPr>
          <p:cNvPr id="29" name="New picture"/>
          <p:cNvPicPr/>
          <p:nvPr/>
        </p:nvPicPr>
        <p:blipFill>
          <a:blip>
            <a:extLst>
              <a:ext uri="{96DAC541-7B7A-43D3-8B79-37D633B846F1}">
                <asvg:svgBlip xmlns:asvg="http://schemas.microsoft.com/office/drawing/2016/SVG/main" r:embed="rId3"/>
              </a:ext>
            </a:extLst>
          </a:blip>
          <a:stretch>
            <a:fillRect/>
          </a:stretch>
        </p:blipFill>
        <p:spPr>
          <a:xfrm>
            <a:off x="8129588" y="3157061"/>
            <a:ext cx="120015" cy="120015"/>
          </a:xfrm>
          <a:prstGeom prst="rect">
            <a:avLst/>
          </a:prstGeom>
        </p:spPr>
      </p:pic>
      <p:sp>
        <p:nvSpPr>
          <p:cNvPr id="30" name="New shape"/>
          <p:cNvSpPr txBox="1"/>
          <p:nvPr/>
        </p:nvSpPr>
        <p:spPr>
          <a:xfrm>
            <a:off x="8321040" y="3156461"/>
            <a:ext cx="8658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17</a:t>
            </a:r>
          </a:p>
        </p:txBody>
      </p:sp>
      <p:sp>
        <p:nvSpPr>
          <p:cNvPr id="31" name="New shape"/>
          <p:cNvSpPr txBox="1"/>
          <p:nvPr/>
        </p:nvSpPr>
        <p:spPr>
          <a:xfrm>
            <a:off x="457200" y="3502609"/>
            <a:ext cx="78725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Management</a:t>
            </a:r>
          </a:p>
        </p:txBody>
      </p:sp>
      <p:sp>
        <p:nvSpPr>
          <p:cNvPr id="32" name="New shape"/>
          <p:cNvSpPr/>
          <p:nvPr/>
        </p:nvSpPr>
        <p:spPr>
          <a:xfrm>
            <a:off x="1301607" y="3571875"/>
            <a:ext cx="621361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3" name="New shape"/>
          <p:cNvSpPr txBox="1"/>
          <p:nvPr/>
        </p:nvSpPr>
        <p:spPr>
          <a:xfrm>
            <a:off x="7572375" y="3429000"/>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a:t>
            </a:r>
          </a:p>
        </p:txBody>
      </p:sp>
      <p:pic>
        <p:nvPicPr>
          <p:cNvPr id="34" name="New picture"/>
          <p:cNvPicPr/>
          <p:nvPr/>
        </p:nvPicPr>
        <p:blipFill>
          <a:blip>
            <a:extLst>
              <a:ext uri="{96DAC541-7B7A-43D3-8B79-37D633B846F1}">
                <asvg:svgBlip xmlns:asvg="http://schemas.microsoft.com/office/drawing/2016/SVG/main" r:embed="rId4"/>
              </a:ext>
            </a:extLst>
          </a:blip>
          <a:stretch>
            <a:fillRect/>
          </a:stretch>
        </p:blipFill>
        <p:spPr>
          <a:xfrm>
            <a:off x="8129588" y="3511391"/>
            <a:ext cx="91440" cy="97155"/>
          </a:xfrm>
          <a:prstGeom prst="rect">
            <a:avLst/>
          </a:prstGeom>
        </p:spPr>
      </p:pic>
      <p:sp>
        <p:nvSpPr>
          <p:cNvPr id="35" name="New shape"/>
          <p:cNvSpPr/>
          <p:nvPr/>
        </p:nvSpPr>
        <p:spPr>
          <a:xfrm flipH="1">
            <a:off x="8292465" y="3499361"/>
            <a:ext cx="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endParaRPr sz="788" b="0" i="0">
              <a:solidFill>
                <a:srgbClr val="546178"/>
              </a:solidFill>
              <a:latin typeface="Poppins"/>
            </a:endParaRPr>
          </a:p>
        </p:txBody>
      </p:sp>
      <p:sp>
        <p:nvSpPr>
          <p:cNvPr id="36" name="New shape"/>
          <p:cNvSpPr txBox="1"/>
          <p:nvPr/>
        </p:nvSpPr>
        <p:spPr>
          <a:xfrm>
            <a:off x="457200" y="3845509"/>
            <a:ext cx="102936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Marketing &amp; Sales</a:t>
            </a:r>
          </a:p>
        </p:txBody>
      </p:sp>
      <p:sp>
        <p:nvSpPr>
          <p:cNvPr id="37" name="New shape"/>
          <p:cNvSpPr/>
          <p:nvPr/>
        </p:nvSpPr>
        <p:spPr>
          <a:xfrm>
            <a:off x="1543717" y="3914775"/>
            <a:ext cx="597150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8" name="New shape"/>
          <p:cNvSpPr txBox="1"/>
          <p:nvPr/>
        </p:nvSpPr>
        <p:spPr>
          <a:xfrm>
            <a:off x="7572375" y="37719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34</a:t>
            </a:r>
          </a:p>
        </p:txBody>
      </p:sp>
      <p:pic>
        <p:nvPicPr>
          <p:cNvPr id="39" name="New picture"/>
          <p:cNvPicPr/>
          <p:nvPr/>
        </p:nvPicPr>
        <p:blipFill>
          <a:blip>
            <a:extLst>
              <a:ext uri="{96DAC541-7B7A-43D3-8B79-37D633B846F1}">
                <asvg:svgBlip xmlns:asvg="http://schemas.microsoft.com/office/drawing/2016/SVG/main" r:embed="rId3"/>
              </a:ext>
            </a:extLst>
          </a:blip>
          <a:stretch>
            <a:fillRect/>
          </a:stretch>
        </p:blipFill>
        <p:spPr>
          <a:xfrm>
            <a:off x="8129588" y="3842861"/>
            <a:ext cx="120015" cy="120015"/>
          </a:xfrm>
          <a:prstGeom prst="rect">
            <a:avLst/>
          </a:prstGeom>
        </p:spPr>
      </p:pic>
      <p:sp>
        <p:nvSpPr>
          <p:cNvPr id="40" name="New shape"/>
          <p:cNvSpPr txBox="1"/>
          <p:nvPr/>
        </p:nvSpPr>
        <p:spPr>
          <a:xfrm>
            <a:off x="8321040" y="3842261"/>
            <a:ext cx="12346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30</a:t>
            </a:r>
          </a:p>
        </p:txBody>
      </p:sp>
      <p:sp>
        <p:nvSpPr>
          <p:cNvPr id="41" name="New shape"/>
          <p:cNvSpPr txBox="1"/>
          <p:nvPr/>
        </p:nvSpPr>
        <p:spPr>
          <a:xfrm>
            <a:off x="457200" y="4188409"/>
            <a:ext cx="1372489"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Product &amp; Development</a:t>
            </a:r>
          </a:p>
        </p:txBody>
      </p:sp>
      <p:sp>
        <p:nvSpPr>
          <p:cNvPr id="42" name="New shape"/>
          <p:cNvSpPr/>
          <p:nvPr/>
        </p:nvSpPr>
        <p:spPr>
          <a:xfrm>
            <a:off x="1886839" y="4257675"/>
            <a:ext cx="5628386"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3" name="New shape"/>
          <p:cNvSpPr txBox="1"/>
          <p:nvPr/>
        </p:nvSpPr>
        <p:spPr>
          <a:xfrm>
            <a:off x="7572375" y="41148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33</a:t>
            </a:r>
          </a:p>
        </p:txBody>
      </p:sp>
      <p:pic>
        <p:nvPicPr>
          <p:cNvPr id="44" name="New picture"/>
          <p:cNvPicPr/>
          <p:nvPr/>
        </p:nvPicPr>
        <p:blipFill>
          <a:blip>
            <a:extLst>
              <a:ext uri="{96DAC541-7B7A-43D3-8B79-37D633B846F1}">
                <asvg:svgBlip xmlns:asvg="http://schemas.microsoft.com/office/drawing/2016/SVG/main" r:embed="rId3"/>
              </a:ext>
            </a:extLst>
          </a:blip>
          <a:stretch>
            <a:fillRect/>
          </a:stretch>
        </p:blipFill>
        <p:spPr>
          <a:xfrm>
            <a:off x="8129588" y="4185761"/>
            <a:ext cx="120015" cy="120015"/>
          </a:xfrm>
          <a:prstGeom prst="rect">
            <a:avLst/>
          </a:prstGeom>
        </p:spPr>
      </p:pic>
      <p:sp>
        <p:nvSpPr>
          <p:cNvPr id="45" name="New shape"/>
          <p:cNvSpPr txBox="1"/>
          <p:nvPr/>
        </p:nvSpPr>
        <p:spPr>
          <a:xfrm>
            <a:off x="8321040" y="4185161"/>
            <a:ext cx="9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81</a:t>
            </a:r>
          </a:p>
        </p:txBody>
      </p:sp>
      <p:pic>
        <p:nvPicPr>
          <p:cNvPr id="46" name="New picture"/>
          <p:cNvPicPr/>
          <p:nvPr/>
        </p:nvPicPr>
        <p:blipFill>
          <a:blip>
            <a:extLst>
              <a:ext uri="{96DAC541-7B7A-43D3-8B79-37D633B846F1}">
                <asvg:svgBlip xmlns:asvg="http://schemas.microsoft.com/office/drawing/2016/SVG/main" r:embed="rId5"/>
              </a:ext>
            </a:extLst>
          </a:blip>
          <a:stretch>
            <a:fillRect/>
          </a:stretch>
        </p:blipFill>
        <p:spPr>
          <a:xfrm>
            <a:off x="114300" y="4882753"/>
            <a:ext cx="150019" cy="150019"/>
          </a:xfrm>
          <a:prstGeom prst="rect">
            <a:avLst/>
          </a:prstGeom>
        </p:spPr>
      </p:pic>
      <p:sp>
        <p:nvSpPr>
          <p:cNvPr id="47" name="New shape"/>
          <p:cNvSpPr txBox="1"/>
          <p:nvPr/>
        </p:nvSpPr>
        <p:spPr>
          <a:xfrm>
            <a:off x="335756" y="4897155"/>
            <a:ext cx="70869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respondenten</a:t>
            </a:r>
          </a:p>
        </p:txBody>
      </p:sp>
      <p:pic>
        <p:nvPicPr>
          <p:cNvPr id="48" name="New picture"/>
          <p:cNvPicPr/>
          <p:nvPr/>
        </p:nvPicPr>
        <p:blipFill>
          <a:blip>
            <a:extLst>
              <a:ext uri="{96DAC541-7B7A-43D3-8B79-37D633B846F1}">
                <asvg:svgBlip xmlns:asvg="http://schemas.microsoft.com/office/drawing/2016/SVG/main" r:embed="rId4"/>
              </a:ext>
            </a:extLst>
          </a:blip>
          <a:stretch>
            <a:fillRect/>
          </a:stretch>
        </p:blipFill>
        <p:spPr>
          <a:xfrm>
            <a:off x="1301623" y="4897041"/>
            <a:ext cx="114300" cy="121444"/>
          </a:xfrm>
          <a:prstGeom prst="rect">
            <a:avLst/>
          </a:prstGeom>
        </p:spPr>
      </p:pic>
      <p:sp>
        <p:nvSpPr>
          <p:cNvPr id="49" name="New shape"/>
          <p:cNvSpPr txBox="1"/>
          <p:nvPr/>
        </p:nvSpPr>
        <p:spPr>
          <a:xfrm>
            <a:off x="1487360"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Respons te laag</a:t>
            </a:r>
          </a:p>
        </p:txBody>
      </p:sp>
      <p:sp>
        <p:nvSpPr>
          <p:cNvPr id="50"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8</a:t>
            </a:r>
          </a:p>
        </p:txBody>
      </p:sp>
      <p:sp>
        <p:nvSpPr>
          <p:cNvPr id="51"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2"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4" name="New shape"/>
          <p:cNvSpPr txBox="1"/>
          <p:nvPr/>
        </p:nvSpPr>
        <p:spPr>
          <a:xfrm flipV="1">
            <a:off x="0" y="0"/>
            <a:ext cx="125268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Belangrijke resultaten</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7858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Grootste verschillen vergeleken met vorig onderzoek</a:t>
            </a:r>
          </a:p>
        </p:txBody>
      </p:sp>
      <p:grpSp>
        <p:nvGrpSpPr>
          <p:cNvPr id="3" name="Group 2"/>
          <p:cNvGrpSpPr/>
          <p:nvPr/>
        </p:nvGrpSpPr>
        <p:grpSpPr>
          <a:xfrm>
            <a:off x="457200" y="1114425"/>
            <a:ext cx="2871788" cy="285750"/>
            <a:chOff x="-177800" y="479425"/>
            <a:chExt cx="2871788" cy="285750"/>
          </a:xfrm>
        </p:grpSpPr>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177800" y="479425"/>
              <a:ext cx="285750" cy="285750"/>
            </a:xfrm>
            <a:prstGeom prst="rect">
              <a:avLst/>
            </a:prstGeom>
          </p:spPr>
        </p:pic>
        <p:sp>
          <p:nvSpPr>
            <p:cNvPr id="5" name="New shape"/>
            <p:cNvSpPr txBox="1"/>
            <p:nvPr/>
          </p:nvSpPr>
          <p:spPr>
            <a:xfrm>
              <a:off x="179388" y="536575"/>
              <a:ext cx="25146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1125" b="0" i="0">
                  <a:solidFill>
                    <a:srgbClr val="192743"/>
                  </a:solidFill>
                  <a:latin typeface="Poppins"/>
                </a:rPr>
                <a:t>Hoger dan vorig onderzoek</a:t>
              </a:r>
            </a:p>
          </p:txBody>
        </p:sp>
      </p:grpSp>
      <p:grpSp>
        <p:nvGrpSpPr>
          <p:cNvPr id="6" name="Group 5"/>
          <p:cNvGrpSpPr/>
          <p:nvPr/>
        </p:nvGrpSpPr>
        <p:grpSpPr>
          <a:xfrm>
            <a:off x="4857750" y="1114425"/>
            <a:ext cx="2871788" cy="285750"/>
            <a:chOff x="4222750" y="479425"/>
            <a:chExt cx="2871788" cy="285750"/>
          </a:xfrm>
        </p:grpSpPr>
        <p:pic>
          <p:nvPicPr>
            <p:cNvPr id="7" name="New picture"/>
            <p:cNvPicPr/>
            <p:nvPr/>
          </p:nvPicPr>
          <p:blipFill>
            <a:blip>
              <a:extLst>
                <a:ext uri="{96DAC541-7B7A-43D3-8B79-37D633B846F1}">
                  <asvg:svgBlip xmlns:asvg="http://schemas.microsoft.com/office/drawing/2016/SVG/main" r:embed="rId3"/>
                </a:ext>
              </a:extLst>
            </a:blip>
            <a:stretch>
              <a:fillRect/>
            </a:stretch>
          </p:blipFill>
          <p:spPr>
            <a:xfrm>
              <a:off x="4222750" y="479425"/>
              <a:ext cx="285750" cy="285750"/>
            </a:xfrm>
            <a:prstGeom prst="rect">
              <a:avLst/>
            </a:prstGeom>
          </p:spPr>
        </p:pic>
        <p:sp>
          <p:nvSpPr>
            <p:cNvPr id="8" name="New shape"/>
            <p:cNvSpPr txBox="1"/>
            <p:nvPr/>
          </p:nvSpPr>
          <p:spPr>
            <a:xfrm>
              <a:off x="4579938" y="536575"/>
              <a:ext cx="25146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1125" b="0" i="0">
                  <a:solidFill>
                    <a:srgbClr val="192743"/>
                  </a:solidFill>
                  <a:latin typeface="Poppins"/>
                </a:rPr>
                <a:t>Lager dan vorig onderzoek</a:t>
              </a:r>
            </a:p>
          </p:txBody>
        </p:sp>
      </p:grpSp>
      <p:pic>
        <p:nvPicPr>
          <p:cNvPr id="9" name="New picture"/>
          <p:cNvPicPr/>
          <p:nvPr/>
        </p:nvPicPr>
        <p:blipFill>
          <a:blip>
            <a:extLst>
              <a:ext uri="{96DAC541-7B7A-43D3-8B79-37D633B846F1}">
                <asvg:svgBlip xmlns:asvg="http://schemas.microsoft.com/office/drawing/2016/SVG/main" r:embed="rId4"/>
              </a:ext>
            </a:extLst>
          </a:blip>
          <a:stretch>
            <a:fillRect/>
          </a:stretch>
        </p:blipFill>
        <p:spPr>
          <a:xfrm>
            <a:off x="3557588" y="1203325"/>
            <a:ext cx="142875" cy="171450"/>
          </a:xfrm>
          <a:prstGeom prst="rect">
            <a:avLst/>
          </a:prstGeom>
        </p:spPr>
      </p:pic>
      <p:pic>
        <p:nvPicPr>
          <p:cNvPr id="10" name="New picture"/>
          <p:cNvPicPr/>
          <p:nvPr/>
        </p:nvPicPr>
        <p:blipFill>
          <a:blip>
            <a:extLst>
              <a:ext uri="{96DAC541-7B7A-43D3-8B79-37D633B846F1}">
                <asvg:svgBlip xmlns:asvg="http://schemas.microsoft.com/office/drawing/2016/SVG/main" r:embed="rId5"/>
              </a:ext>
            </a:extLst>
          </a:blip>
          <a:stretch>
            <a:fillRect/>
          </a:stretch>
        </p:blipFill>
        <p:spPr>
          <a:xfrm>
            <a:off x="4032290" y="1206540"/>
            <a:ext cx="165021" cy="165021"/>
          </a:xfrm>
          <a:prstGeom prst="rect">
            <a:avLst/>
          </a:prstGeom>
        </p:spPr>
      </p:pic>
      <p:sp>
        <p:nvSpPr>
          <p:cNvPr id="11" name="New shape"/>
          <p:cNvSpPr txBox="1"/>
          <p:nvPr/>
        </p:nvSpPr>
        <p:spPr>
          <a:xfrm>
            <a:off x="457200" y="1689100"/>
            <a:ext cx="2494273"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Ik </a:t>
            </a:r>
            <a:r>
              <a:rPr sz="900" b="0" i="0" dirty="0" err="1">
                <a:solidFill>
                  <a:srgbClr val="192743"/>
                </a:solidFill>
                <a:latin typeface="Poppins"/>
              </a:rPr>
              <a:t>heb</a:t>
            </a:r>
            <a:r>
              <a:rPr sz="900" b="0" i="0" dirty="0">
                <a:solidFill>
                  <a:srgbClr val="192743"/>
                </a:solidFill>
                <a:latin typeface="Poppins"/>
              </a:rPr>
              <a:t> het </a:t>
            </a:r>
            <a:r>
              <a:rPr sz="900" b="0" i="0" dirty="0" err="1">
                <a:solidFill>
                  <a:srgbClr val="192743"/>
                </a:solidFill>
                <a:latin typeface="Poppins"/>
              </a:rPr>
              <a:t>gevoel</a:t>
            </a:r>
            <a:r>
              <a:rPr sz="900" b="0" i="0" dirty="0">
                <a:solidFill>
                  <a:srgbClr val="192743"/>
                </a:solidFill>
                <a:latin typeface="Poppins"/>
              </a:rPr>
              <a:t> </a:t>
            </a:r>
            <a:r>
              <a:rPr sz="900" b="0" i="0" dirty="0" err="1">
                <a:solidFill>
                  <a:srgbClr val="192743"/>
                </a:solidFill>
                <a:latin typeface="Poppins"/>
              </a:rPr>
              <a:t>dat</a:t>
            </a:r>
            <a:r>
              <a:rPr sz="900" b="0" i="0" dirty="0">
                <a:solidFill>
                  <a:srgbClr val="192743"/>
                </a:solidFill>
                <a:latin typeface="Poppins"/>
              </a:rPr>
              <a:t> </a:t>
            </a:r>
            <a:r>
              <a:rPr sz="900" b="0" i="0" dirty="0" err="1">
                <a:solidFill>
                  <a:srgbClr val="192743"/>
                </a:solidFill>
                <a:latin typeface="Poppins"/>
              </a:rPr>
              <a:t>ik</a:t>
            </a:r>
            <a:r>
              <a:rPr sz="900" b="0" i="0" dirty="0">
                <a:solidFill>
                  <a:srgbClr val="192743"/>
                </a:solidFill>
                <a:latin typeface="Poppins"/>
              </a:rPr>
              <a:t> </a:t>
            </a:r>
            <a:r>
              <a:rPr sz="900" b="0" i="0" dirty="0" err="1">
                <a:solidFill>
                  <a:srgbClr val="192743"/>
                </a:solidFill>
                <a:latin typeface="Poppins"/>
              </a:rPr>
              <a:t>bij</a:t>
            </a:r>
            <a:r>
              <a:rPr sz="900" b="0" i="0" dirty="0">
                <a:solidFill>
                  <a:srgbClr val="192743"/>
                </a:solidFill>
                <a:latin typeface="Poppins"/>
              </a:rPr>
              <a:t> </a:t>
            </a:r>
            <a:r>
              <a:rPr lang="en-US" sz="900" b="0" i="0" dirty="0">
                <a:solidFill>
                  <a:srgbClr val="192743"/>
                </a:solidFill>
                <a:latin typeface="Poppins"/>
              </a:rPr>
              <a:t>Novanta B.V.</a:t>
            </a:r>
            <a:r>
              <a:rPr sz="900" b="0" i="0" dirty="0">
                <a:solidFill>
                  <a:srgbClr val="192743"/>
                </a:solidFill>
                <a:latin typeface="Poppins"/>
              </a:rPr>
              <a:t> pas</a:t>
            </a:r>
          </a:p>
        </p:txBody>
      </p:sp>
      <p:sp>
        <p:nvSpPr>
          <p:cNvPr id="12" name="New shape"/>
          <p:cNvSpPr/>
          <p:nvPr/>
        </p:nvSpPr>
        <p:spPr>
          <a:xfrm>
            <a:off x="2904982" y="1746250"/>
            <a:ext cx="438293"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3" name="New shape"/>
          <p:cNvSpPr txBox="1"/>
          <p:nvPr/>
        </p:nvSpPr>
        <p:spPr>
          <a:xfrm>
            <a:off x="3400425" y="16033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76%</a:t>
            </a:r>
          </a:p>
        </p:txBody>
      </p:sp>
      <p:sp>
        <p:nvSpPr>
          <p:cNvPr id="14" name="New shape"/>
          <p:cNvSpPr txBox="1"/>
          <p:nvPr/>
        </p:nvSpPr>
        <p:spPr>
          <a:xfrm>
            <a:off x="3886200" y="160337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a:t>
            </a:r>
          </a:p>
        </p:txBody>
      </p:sp>
      <p:sp>
        <p:nvSpPr>
          <p:cNvPr id="15" name="New shape"/>
          <p:cNvSpPr txBox="1"/>
          <p:nvPr/>
        </p:nvSpPr>
        <p:spPr>
          <a:xfrm>
            <a:off x="457200" y="2203450"/>
            <a:ext cx="2773195"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De </a:t>
            </a:r>
            <a:r>
              <a:rPr sz="900" b="0" i="0" dirty="0" err="1">
                <a:solidFill>
                  <a:srgbClr val="192743"/>
                </a:solidFill>
                <a:latin typeface="Poppins"/>
              </a:rPr>
              <a:t>toekomstvisie</a:t>
            </a:r>
            <a:r>
              <a:rPr sz="900" b="0" i="0" dirty="0">
                <a:solidFill>
                  <a:srgbClr val="192743"/>
                </a:solidFill>
                <a:latin typeface="Poppins"/>
              </a:rPr>
              <a:t> van </a:t>
            </a:r>
            <a:r>
              <a:rPr lang="en-US" sz="900" b="0" i="0" dirty="0">
                <a:solidFill>
                  <a:srgbClr val="192743"/>
                </a:solidFill>
                <a:latin typeface="Poppins"/>
              </a:rPr>
              <a:t>Novanta B.V.</a:t>
            </a:r>
            <a:r>
              <a:rPr sz="900" b="0" i="0" dirty="0">
                <a:solidFill>
                  <a:srgbClr val="192743"/>
                </a:solidFill>
                <a:latin typeface="Poppins"/>
              </a:rPr>
              <a:t> </a:t>
            </a:r>
            <a:r>
              <a:rPr sz="900" b="0" i="0" dirty="0" err="1">
                <a:solidFill>
                  <a:srgbClr val="192743"/>
                </a:solidFill>
                <a:latin typeface="Poppins"/>
              </a:rPr>
              <a:t>inspireert</a:t>
            </a:r>
            <a:r>
              <a:rPr sz="900" b="0" i="0" dirty="0">
                <a:solidFill>
                  <a:srgbClr val="192743"/>
                </a:solidFill>
                <a:latin typeface="Poppins"/>
              </a:rPr>
              <a:t> me</a:t>
            </a:r>
          </a:p>
        </p:txBody>
      </p:sp>
      <p:sp>
        <p:nvSpPr>
          <p:cNvPr id="16" name="New shape"/>
          <p:cNvSpPr/>
          <p:nvPr/>
        </p:nvSpPr>
        <p:spPr>
          <a:xfrm>
            <a:off x="3183969" y="2260600"/>
            <a:ext cx="159306"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7" name="New shape"/>
          <p:cNvSpPr txBox="1"/>
          <p:nvPr/>
        </p:nvSpPr>
        <p:spPr>
          <a:xfrm>
            <a:off x="3400425" y="211772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74%</a:t>
            </a:r>
          </a:p>
        </p:txBody>
      </p:sp>
      <p:sp>
        <p:nvSpPr>
          <p:cNvPr id="18" name="New shape"/>
          <p:cNvSpPr txBox="1"/>
          <p:nvPr/>
        </p:nvSpPr>
        <p:spPr>
          <a:xfrm>
            <a:off x="3886200" y="211772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a:t>
            </a:r>
          </a:p>
        </p:txBody>
      </p:sp>
      <p:sp>
        <p:nvSpPr>
          <p:cNvPr id="20" name="New shape"/>
          <p:cNvSpPr txBox="1"/>
          <p:nvPr/>
        </p:nvSpPr>
        <p:spPr>
          <a:xfrm>
            <a:off x="457200" y="263207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dirty="0">
                <a:solidFill>
                  <a:srgbClr val="192743"/>
                </a:solidFill>
                <a:latin typeface="Poppins"/>
              </a:rPr>
              <a:t>Binnen </a:t>
            </a:r>
            <a:r>
              <a:rPr lang="en-US" sz="900" b="0" i="0" dirty="0">
                <a:solidFill>
                  <a:srgbClr val="192743"/>
                </a:solidFill>
                <a:latin typeface="Poppins"/>
              </a:rPr>
              <a:t>Novanta B.V.</a:t>
            </a:r>
            <a:r>
              <a:rPr sz="900" b="0" i="0" dirty="0">
                <a:solidFill>
                  <a:srgbClr val="192743"/>
                </a:solidFill>
                <a:latin typeface="Poppins"/>
              </a:rPr>
              <a:t> </a:t>
            </a:r>
            <a:r>
              <a:rPr sz="900" b="0" i="0" dirty="0" err="1">
                <a:solidFill>
                  <a:srgbClr val="192743"/>
                </a:solidFill>
                <a:latin typeface="Poppins"/>
              </a:rPr>
              <a:t>heb</a:t>
            </a:r>
            <a:r>
              <a:rPr sz="900" b="0" i="0" dirty="0">
                <a:solidFill>
                  <a:srgbClr val="192743"/>
                </a:solidFill>
                <a:latin typeface="Poppins"/>
              </a:rPr>
              <a:t> </a:t>
            </a:r>
            <a:r>
              <a:rPr sz="900" b="0" i="0" dirty="0" err="1">
                <a:solidFill>
                  <a:srgbClr val="192743"/>
                </a:solidFill>
                <a:latin typeface="Poppins"/>
              </a:rPr>
              <a:t>ik</a:t>
            </a:r>
            <a:r>
              <a:rPr sz="900" b="0" i="0" dirty="0">
                <a:solidFill>
                  <a:srgbClr val="192743"/>
                </a:solidFill>
                <a:latin typeface="Poppins"/>
              </a:rPr>
              <a:t> diverse </a:t>
            </a:r>
            <a:r>
              <a:rPr sz="900" b="0" i="0" dirty="0" err="1">
                <a:solidFill>
                  <a:srgbClr val="192743"/>
                </a:solidFill>
                <a:latin typeface="Poppins"/>
              </a:rPr>
              <a:t>mogelijkheden</a:t>
            </a:r>
            <a:r>
              <a:rPr sz="900" b="0" i="0" dirty="0">
                <a:solidFill>
                  <a:srgbClr val="192743"/>
                </a:solidFill>
                <a:latin typeface="Poppins"/>
              </a:rPr>
              <a:t> om </a:t>
            </a:r>
            <a:r>
              <a:rPr sz="900" b="0" i="0" dirty="0" err="1">
                <a:solidFill>
                  <a:srgbClr val="192743"/>
                </a:solidFill>
                <a:latin typeface="Poppins"/>
              </a:rPr>
              <a:t>mijzelf</a:t>
            </a:r>
            <a:r>
              <a:rPr sz="900" b="0" i="0" dirty="0">
                <a:solidFill>
                  <a:srgbClr val="192743"/>
                </a:solidFill>
                <a:latin typeface="Poppins"/>
              </a:rPr>
              <a:t> </a:t>
            </a:r>
            <a:r>
              <a:rPr sz="900" b="0" i="0" dirty="0" err="1">
                <a:solidFill>
                  <a:srgbClr val="192743"/>
                </a:solidFill>
                <a:latin typeface="Poppins"/>
              </a:rPr>
              <a:t>te</a:t>
            </a:r>
            <a:r>
              <a:rPr sz="900" b="0" i="0" dirty="0">
                <a:solidFill>
                  <a:srgbClr val="192743"/>
                </a:solidFill>
                <a:latin typeface="Poppins"/>
              </a:rPr>
              <a:t> </a:t>
            </a:r>
            <a:r>
              <a:rPr sz="900" b="0" i="0" dirty="0" err="1">
                <a:solidFill>
                  <a:srgbClr val="192743"/>
                </a:solidFill>
                <a:latin typeface="Poppins"/>
              </a:rPr>
              <a:t>ontwikkelen</a:t>
            </a:r>
            <a:endParaRPr sz="900" b="0" i="0" dirty="0">
              <a:solidFill>
                <a:srgbClr val="192743"/>
              </a:solidFill>
              <a:latin typeface="Poppins"/>
            </a:endParaRPr>
          </a:p>
        </p:txBody>
      </p:sp>
      <p:sp>
        <p:nvSpPr>
          <p:cNvPr id="21" name="New shape"/>
          <p:cNvSpPr txBox="1"/>
          <p:nvPr/>
        </p:nvSpPr>
        <p:spPr>
          <a:xfrm>
            <a:off x="3400425" y="26320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76%</a:t>
            </a:r>
          </a:p>
        </p:txBody>
      </p:sp>
      <p:sp>
        <p:nvSpPr>
          <p:cNvPr id="22" name="New shape"/>
          <p:cNvSpPr txBox="1"/>
          <p:nvPr/>
        </p:nvSpPr>
        <p:spPr>
          <a:xfrm>
            <a:off x="3886200" y="263207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a:t>
            </a:r>
          </a:p>
        </p:txBody>
      </p:sp>
      <p:sp>
        <p:nvSpPr>
          <p:cNvPr id="23" name="New shape"/>
          <p:cNvSpPr txBox="1"/>
          <p:nvPr/>
        </p:nvSpPr>
        <p:spPr>
          <a:xfrm>
            <a:off x="457200" y="3232150"/>
            <a:ext cx="154244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Mijn werk geeft mij energie</a:t>
            </a:r>
          </a:p>
        </p:txBody>
      </p:sp>
      <p:sp>
        <p:nvSpPr>
          <p:cNvPr id="24" name="New shape"/>
          <p:cNvSpPr/>
          <p:nvPr/>
        </p:nvSpPr>
        <p:spPr>
          <a:xfrm>
            <a:off x="2056797" y="3289300"/>
            <a:ext cx="128647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5" name="New shape"/>
          <p:cNvSpPr txBox="1"/>
          <p:nvPr/>
        </p:nvSpPr>
        <p:spPr>
          <a:xfrm>
            <a:off x="3400425" y="314642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72%</a:t>
            </a:r>
          </a:p>
        </p:txBody>
      </p:sp>
      <p:sp>
        <p:nvSpPr>
          <p:cNvPr id="26" name="New shape"/>
          <p:cNvSpPr txBox="1"/>
          <p:nvPr/>
        </p:nvSpPr>
        <p:spPr>
          <a:xfrm>
            <a:off x="3886200" y="314642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a:t>
            </a:r>
          </a:p>
        </p:txBody>
      </p:sp>
      <p:sp>
        <p:nvSpPr>
          <p:cNvPr id="28" name="New shape"/>
          <p:cNvSpPr txBox="1"/>
          <p:nvPr/>
        </p:nvSpPr>
        <p:spPr>
          <a:xfrm>
            <a:off x="457200" y="366077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Mijn werkzaamheden sluiten aan bij wat ik goed kan</a:t>
            </a:r>
          </a:p>
        </p:txBody>
      </p:sp>
      <p:sp>
        <p:nvSpPr>
          <p:cNvPr id="29" name="New shape"/>
          <p:cNvSpPr txBox="1"/>
          <p:nvPr/>
        </p:nvSpPr>
        <p:spPr>
          <a:xfrm>
            <a:off x="3400425" y="36607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74%</a:t>
            </a:r>
          </a:p>
        </p:txBody>
      </p:sp>
      <p:sp>
        <p:nvSpPr>
          <p:cNvPr id="30" name="New shape"/>
          <p:cNvSpPr txBox="1"/>
          <p:nvPr/>
        </p:nvSpPr>
        <p:spPr>
          <a:xfrm>
            <a:off x="3886200" y="366077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+2%</a:t>
            </a:r>
          </a:p>
        </p:txBody>
      </p:sp>
      <p:pic>
        <p:nvPicPr>
          <p:cNvPr id="31" name="New picture"/>
          <p:cNvPicPr/>
          <p:nvPr/>
        </p:nvPicPr>
        <p:blipFill>
          <a:blip>
            <a:extLst>
              <a:ext uri="{96DAC541-7B7A-43D3-8B79-37D633B846F1}">
                <asvg:svgBlip xmlns:asvg="http://schemas.microsoft.com/office/drawing/2016/SVG/main" r:embed="rId4"/>
              </a:ext>
            </a:extLst>
          </a:blip>
          <a:stretch>
            <a:fillRect/>
          </a:stretch>
        </p:blipFill>
        <p:spPr>
          <a:xfrm>
            <a:off x="7958138" y="1203325"/>
            <a:ext cx="142875" cy="171450"/>
          </a:xfrm>
          <a:prstGeom prst="rect">
            <a:avLst/>
          </a:prstGeom>
        </p:spPr>
      </p:pic>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8432840" y="1206540"/>
            <a:ext cx="165021" cy="165021"/>
          </a:xfrm>
          <a:prstGeom prst="rect">
            <a:avLst/>
          </a:prstGeom>
        </p:spPr>
      </p:pic>
      <p:sp>
        <p:nvSpPr>
          <p:cNvPr id="33" name="New shape"/>
          <p:cNvSpPr txBox="1"/>
          <p:nvPr/>
        </p:nvSpPr>
        <p:spPr>
          <a:xfrm>
            <a:off x="4857750" y="1689100"/>
            <a:ext cx="1463881"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Ik heb plezier in mijn werk</a:t>
            </a:r>
          </a:p>
        </p:txBody>
      </p:sp>
      <p:sp>
        <p:nvSpPr>
          <p:cNvPr id="34" name="New shape"/>
          <p:cNvSpPr/>
          <p:nvPr/>
        </p:nvSpPr>
        <p:spPr>
          <a:xfrm>
            <a:off x="6378781" y="1746250"/>
            <a:ext cx="1365044"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5" name="New shape"/>
          <p:cNvSpPr txBox="1"/>
          <p:nvPr/>
        </p:nvSpPr>
        <p:spPr>
          <a:xfrm>
            <a:off x="7800975" y="16033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64%</a:t>
            </a:r>
          </a:p>
        </p:txBody>
      </p:sp>
      <p:sp>
        <p:nvSpPr>
          <p:cNvPr id="36" name="New shape"/>
          <p:cNvSpPr txBox="1"/>
          <p:nvPr/>
        </p:nvSpPr>
        <p:spPr>
          <a:xfrm>
            <a:off x="8286750" y="160337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a:t>
            </a:r>
          </a:p>
        </p:txBody>
      </p:sp>
      <p:sp>
        <p:nvSpPr>
          <p:cNvPr id="38" name="New shape"/>
          <p:cNvSpPr txBox="1"/>
          <p:nvPr/>
        </p:nvSpPr>
        <p:spPr>
          <a:xfrm>
            <a:off x="4857750" y="211772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Binnen mijn team is het duidelijk hoe wij kunnen bijdragen aan het succes van de organisatie</a:t>
            </a:r>
          </a:p>
        </p:txBody>
      </p:sp>
      <p:sp>
        <p:nvSpPr>
          <p:cNvPr id="39" name="New shape"/>
          <p:cNvSpPr txBox="1"/>
          <p:nvPr/>
        </p:nvSpPr>
        <p:spPr>
          <a:xfrm>
            <a:off x="7800975" y="211772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72%</a:t>
            </a:r>
          </a:p>
        </p:txBody>
      </p:sp>
      <p:sp>
        <p:nvSpPr>
          <p:cNvPr id="40" name="New shape"/>
          <p:cNvSpPr txBox="1"/>
          <p:nvPr/>
        </p:nvSpPr>
        <p:spPr>
          <a:xfrm>
            <a:off x="8286750" y="211772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-5%</a:t>
            </a:r>
          </a:p>
        </p:txBody>
      </p:sp>
      <p:sp>
        <p:nvSpPr>
          <p:cNvPr id="42" name="New shape"/>
          <p:cNvSpPr txBox="1"/>
          <p:nvPr/>
        </p:nvSpPr>
        <p:spPr>
          <a:xfrm>
            <a:off x="4857750" y="263207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dirty="0">
                <a:solidFill>
                  <a:srgbClr val="192743"/>
                </a:solidFill>
                <a:latin typeface="Poppins"/>
              </a:rPr>
              <a:t>Binnen </a:t>
            </a:r>
            <a:r>
              <a:rPr lang="en-US" sz="900" b="0" i="0" dirty="0">
                <a:solidFill>
                  <a:srgbClr val="192743"/>
                </a:solidFill>
                <a:latin typeface="Poppins"/>
              </a:rPr>
              <a:t>Novanta B.V.</a:t>
            </a:r>
            <a:r>
              <a:rPr sz="900" b="0" i="0" dirty="0">
                <a:solidFill>
                  <a:srgbClr val="192743"/>
                </a:solidFill>
                <a:latin typeface="Poppins"/>
              </a:rPr>
              <a:t> </a:t>
            </a:r>
            <a:r>
              <a:rPr sz="900" b="0" i="0" dirty="0" err="1">
                <a:solidFill>
                  <a:srgbClr val="192743"/>
                </a:solidFill>
                <a:latin typeface="Poppins"/>
              </a:rPr>
              <a:t>worden</a:t>
            </a:r>
            <a:r>
              <a:rPr sz="900" b="0" i="0" dirty="0">
                <a:solidFill>
                  <a:srgbClr val="192743"/>
                </a:solidFill>
                <a:latin typeface="Poppins"/>
              </a:rPr>
              <a:t> </a:t>
            </a:r>
            <a:r>
              <a:rPr sz="900" b="0" i="0" dirty="0" err="1">
                <a:solidFill>
                  <a:srgbClr val="192743"/>
                </a:solidFill>
                <a:latin typeface="Poppins"/>
              </a:rPr>
              <a:t>medewerkers</a:t>
            </a:r>
            <a:r>
              <a:rPr sz="900" b="0" i="0" dirty="0">
                <a:solidFill>
                  <a:srgbClr val="192743"/>
                </a:solidFill>
                <a:latin typeface="Poppins"/>
              </a:rPr>
              <a:t> op </a:t>
            </a:r>
            <a:r>
              <a:rPr sz="900" b="0" i="0" dirty="0" err="1">
                <a:solidFill>
                  <a:srgbClr val="192743"/>
                </a:solidFill>
                <a:latin typeface="Poppins"/>
              </a:rPr>
              <a:t>een</a:t>
            </a:r>
            <a:r>
              <a:rPr sz="900" b="0" i="0" dirty="0">
                <a:solidFill>
                  <a:srgbClr val="192743"/>
                </a:solidFill>
                <a:latin typeface="Poppins"/>
              </a:rPr>
              <a:t> </a:t>
            </a:r>
            <a:r>
              <a:rPr sz="900" b="0" i="0" dirty="0" err="1">
                <a:solidFill>
                  <a:srgbClr val="192743"/>
                </a:solidFill>
                <a:latin typeface="Poppins"/>
              </a:rPr>
              <a:t>eerlijke</a:t>
            </a:r>
            <a:r>
              <a:rPr sz="900" b="0" i="0" dirty="0">
                <a:solidFill>
                  <a:srgbClr val="192743"/>
                </a:solidFill>
                <a:latin typeface="Poppins"/>
              </a:rPr>
              <a:t> </a:t>
            </a:r>
            <a:r>
              <a:rPr sz="900" b="0" i="0" dirty="0" err="1">
                <a:solidFill>
                  <a:srgbClr val="192743"/>
                </a:solidFill>
                <a:latin typeface="Poppins"/>
              </a:rPr>
              <a:t>manier</a:t>
            </a:r>
            <a:r>
              <a:rPr sz="900" b="0" i="0" dirty="0">
                <a:solidFill>
                  <a:srgbClr val="192743"/>
                </a:solidFill>
                <a:latin typeface="Poppins"/>
              </a:rPr>
              <a:t> </a:t>
            </a:r>
            <a:r>
              <a:rPr sz="900" b="0" i="0" dirty="0" err="1">
                <a:solidFill>
                  <a:srgbClr val="192743"/>
                </a:solidFill>
                <a:latin typeface="Poppins"/>
              </a:rPr>
              <a:t>behandeld</a:t>
            </a:r>
            <a:endParaRPr sz="900" b="0" i="0" dirty="0">
              <a:solidFill>
                <a:srgbClr val="192743"/>
              </a:solidFill>
              <a:latin typeface="Poppins"/>
            </a:endParaRPr>
          </a:p>
        </p:txBody>
      </p:sp>
      <p:sp>
        <p:nvSpPr>
          <p:cNvPr id="43" name="New shape"/>
          <p:cNvSpPr txBox="1"/>
          <p:nvPr/>
        </p:nvSpPr>
        <p:spPr>
          <a:xfrm>
            <a:off x="7800975" y="26320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67%</a:t>
            </a:r>
          </a:p>
        </p:txBody>
      </p:sp>
      <p:sp>
        <p:nvSpPr>
          <p:cNvPr id="44" name="New shape"/>
          <p:cNvSpPr txBox="1"/>
          <p:nvPr/>
        </p:nvSpPr>
        <p:spPr>
          <a:xfrm>
            <a:off x="8286750" y="263207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-4%</a:t>
            </a:r>
          </a:p>
        </p:txBody>
      </p:sp>
      <p:sp>
        <p:nvSpPr>
          <p:cNvPr id="45" name="New shape"/>
          <p:cNvSpPr txBox="1"/>
          <p:nvPr/>
        </p:nvSpPr>
        <p:spPr>
          <a:xfrm>
            <a:off x="4857750" y="3232150"/>
            <a:ext cx="1567737"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Ik ben trots op </a:t>
            </a:r>
            <a:r>
              <a:rPr lang="en-US" sz="900" b="0" i="0" dirty="0">
                <a:solidFill>
                  <a:srgbClr val="192743"/>
                </a:solidFill>
                <a:latin typeface="Poppins"/>
              </a:rPr>
              <a:t>Novanta B.V.</a:t>
            </a:r>
            <a:endParaRPr sz="900" b="0" i="0" dirty="0">
              <a:solidFill>
                <a:srgbClr val="192743"/>
              </a:solidFill>
              <a:latin typeface="Poppins"/>
            </a:endParaRPr>
          </a:p>
        </p:txBody>
      </p:sp>
      <p:sp>
        <p:nvSpPr>
          <p:cNvPr id="46" name="New shape"/>
          <p:cNvSpPr/>
          <p:nvPr/>
        </p:nvSpPr>
        <p:spPr>
          <a:xfrm>
            <a:off x="6378781" y="3289300"/>
            <a:ext cx="1365044"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7" name="New shape"/>
          <p:cNvSpPr txBox="1"/>
          <p:nvPr/>
        </p:nvSpPr>
        <p:spPr>
          <a:xfrm>
            <a:off x="7800975" y="314642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69%</a:t>
            </a:r>
          </a:p>
        </p:txBody>
      </p:sp>
      <p:sp>
        <p:nvSpPr>
          <p:cNvPr id="48" name="New shape"/>
          <p:cNvSpPr txBox="1"/>
          <p:nvPr/>
        </p:nvSpPr>
        <p:spPr>
          <a:xfrm>
            <a:off x="8286750" y="314642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a:t>
            </a:r>
          </a:p>
        </p:txBody>
      </p:sp>
      <p:sp>
        <p:nvSpPr>
          <p:cNvPr id="50" name="New shape"/>
          <p:cNvSpPr txBox="1"/>
          <p:nvPr/>
        </p:nvSpPr>
        <p:spPr>
          <a:xfrm>
            <a:off x="4857750" y="366077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Mijn team ontwikkelt regelmatig goede ideeën voor verbetering</a:t>
            </a:r>
          </a:p>
        </p:txBody>
      </p:sp>
      <p:sp>
        <p:nvSpPr>
          <p:cNvPr id="51" name="New shape"/>
          <p:cNvSpPr txBox="1"/>
          <p:nvPr/>
        </p:nvSpPr>
        <p:spPr>
          <a:xfrm>
            <a:off x="7800975" y="36607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74%</a:t>
            </a:r>
          </a:p>
        </p:txBody>
      </p:sp>
      <p:sp>
        <p:nvSpPr>
          <p:cNvPr id="52" name="New shape"/>
          <p:cNvSpPr txBox="1"/>
          <p:nvPr/>
        </p:nvSpPr>
        <p:spPr>
          <a:xfrm>
            <a:off x="8286750" y="366077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a:t>
            </a:r>
          </a:p>
        </p:txBody>
      </p:sp>
      <p:sp>
        <p:nvSpPr>
          <p:cNvPr id="53" name="New shape"/>
          <p:cNvSpPr/>
          <p:nvPr/>
        </p:nvSpPr>
        <p:spPr>
          <a:xfrm flipH="1">
            <a:off x="4572000" y="1517650"/>
            <a:ext cx="0" cy="257175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54" name="New picture"/>
          <p:cNvPicPr/>
          <p:nvPr/>
        </p:nvPicPr>
        <p:blipFill>
          <a:blip>
            <a:extLst>
              <a:ext uri="{96DAC541-7B7A-43D3-8B79-37D633B846F1}">
                <asvg:svgBlip xmlns:asvg="http://schemas.microsoft.com/office/drawing/2016/SVG/main" r:embed="rId4"/>
              </a:ext>
            </a:extLst>
          </a:blip>
          <a:stretch>
            <a:fillRect/>
          </a:stretch>
        </p:blipFill>
        <p:spPr>
          <a:xfrm>
            <a:off x="157162" y="4883467"/>
            <a:ext cx="100012" cy="120015"/>
          </a:xfrm>
          <a:prstGeom prst="rect">
            <a:avLst/>
          </a:prstGeom>
        </p:spPr>
      </p:pic>
      <p:sp>
        <p:nvSpPr>
          <p:cNvPr id="55" name="New shape"/>
          <p:cNvSpPr txBox="1"/>
          <p:nvPr/>
        </p:nvSpPr>
        <p:spPr>
          <a:xfrm>
            <a:off x="32861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dirty="0" err="1">
                <a:solidFill>
                  <a:srgbClr val="2867C9"/>
                </a:solidFill>
                <a:latin typeface="Poppins"/>
              </a:rPr>
              <a:t>Huidig</a:t>
            </a:r>
            <a:r>
              <a:rPr sz="675" b="0" i="0" dirty="0">
                <a:solidFill>
                  <a:srgbClr val="2867C9"/>
                </a:solidFill>
                <a:latin typeface="Poppins"/>
              </a:rPr>
              <a:t>: </a:t>
            </a:r>
            <a:r>
              <a:rPr lang="en-US" sz="675" b="0" i="0" dirty="0">
                <a:solidFill>
                  <a:srgbClr val="2867C9"/>
                </a:solidFill>
                <a:latin typeface="Poppins"/>
              </a:rPr>
              <a:t>Novanta B.V.</a:t>
            </a:r>
            <a:endParaRPr sz="675" b="0" i="0" dirty="0">
              <a:solidFill>
                <a:srgbClr val="2867C9"/>
              </a:solidFill>
              <a:latin typeface="Poppins"/>
            </a:endParaRPr>
          </a:p>
        </p:txBody>
      </p:sp>
      <p:pic>
        <p:nvPicPr>
          <p:cNvPr id="56" name="New picture"/>
          <p:cNvPicPr/>
          <p:nvPr/>
        </p:nvPicPr>
        <p:blipFill>
          <a:blip>
            <a:extLst>
              <a:ext uri="{96DAC541-7B7A-43D3-8B79-37D633B846F1}">
                <asvg:svgBlip xmlns:asvg="http://schemas.microsoft.com/office/drawing/2016/SVG/main" r:embed="rId5"/>
              </a:ext>
            </a:extLst>
          </a:blip>
          <a:stretch>
            <a:fillRect/>
          </a:stretch>
        </p:blipFill>
        <p:spPr>
          <a:xfrm>
            <a:off x="1114425" y="4890969"/>
            <a:ext cx="105013" cy="105013"/>
          </a:xfrm>
          <a:prstGeom prst="rect">
            <a:avLst/>
          </a:prstGeom>
        </p:spPr>
      </p:pic>
      <p:sp>
        <p:nvSpPr>
          <p:cNvPr id="57" name="New shape"/>
          <p:cNvSpPr txBox="1"/>
          <p:nvPr/>
        </p:nvSpPr>
        <p:spPr>
          <a:xfrm>
            <a:off x="129087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Vorig onderzoek</a:t>
            </a:r>
          </a:p>
        </p:txBody>
      </p:sp>
      <p:sp>
        <p:nvSpPr>
          <p:cNvPr id="5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9</a:t>
            </a:r>
          </a:p>
        </p:txBody>
      </p:sp>
      <p:sp>
        <p:nvSpPr>
          <p:cNvPr id="59"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60" name="New picture"/>
          <p:cNvPicPr/>
          <p:nvPr/>
        </p:nvPicPr>
        <p:blipFill>
          <a:blip>
            <a:extLst>
              <a:ext uri="{96DAC541-7B7A-43D3-8B79-37D633B846F1}">
                <asvg:svgBlip xmlns:asvg="http://schemas.microsoft.com/office/drawing/2016/SVG/main" r:embed="rId6"/>
              </a:ext>
            </a:extLst>
          </a:blip>
          <a:stretch>
            <a:fillRect/>
          </a:stretch>
        </p:blipFill>
        <p:spPr>
          <a:xfrm>
            <a:off x="8829675" y="147661"/>
            <a:ext cx="217884" cy="217884"/>
          </a:xfrm>
          <a:prstGeom prst="rect">
            <a:avLst/>
          </a:prstGeom>
        </p:spPr>
      </p:pic>
      <p:sp>
        <p:nvSpPr>
          <p:cNvPr id="61"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3" name="New shape"/>
          <p:cNvSpPr txBox="1"/>
          <p:nvPr/>
        </p:nvSpPr>
        <p:spPr>
          <a:xfrm flipV="1">
            <a:off x="0" y="0"/>
            <a:ext cx="125268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Belangrijke resultaten</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7858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Grootste verschillen vergeleken met de benchmark</a:t>
            </a:r>
          </a:p>
        </p:txBody>
      </p:sp>
      <p:grpSp>
        <p:nvGrpSpPr>
          <p:cNvPr id="3" name="Group 2"/>
          <p:cNvGrpSpPr/>
          <p:nvPr/>
        </p:nvGrpSpPr>
        <p:grpSpPr>
          <a:xfrm>
            <a:off x="457200" y="1114425"/>
            <a:ext cx="2871788" cy="285750"/>
            <a:chOff x="-177800" y="479425"/>
            <a:chExt cx="2871788" cy="285750"/>
          </a:xfrm>
        </p:grpSpPr>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177800" y="479425"/>
              <a:ext cx="285750" cy="285750"/>
            </a:xfrm>
            <a:prstGeom prst="rect">
              <a:avLst/>
            </a:prstGeom>
          </p:spPr>
        </p:pic>
        <p:sp>
          <p:nvSpPr>
            <p:cNvPr id="5" name="New shape"/>
            <p:cNvSpPr txBox="1"/>
            <p:nvPr/>
          </p:nvSpPr>
          <p:spPr>
            <a:xfrm>
              <a:off x="179388" y="536575"/>
              <a:ext cx="25146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1125" b="0" i="0">
                  <a:solidFill>
                    <a:srgbClr val="192743"/>
                  </a:solidFill>
                  <a:latin typeface="Poppins"/>
                </a:rPr>
                <a:t>Hoger dan de benchmark</a:t>
              </a:r>
            </a:p>
          </p:txBody>
        </p:sp>
      </p:grpSp>
      <p:grpSp>
        <p:nvGrpSpPr>
          <p:cNvPr id="6" name="Group 5"/>
          <p:cNvGrpSpPr/>
          <p:nvPr/>
        </p:nvGrpSpPr>
        <p:grpSpPr>
          <a:xfrm>
            <a:off x="4857750" y="1114425"/>
            <a:ext cx="2871788" cy="285750"/>
            <a:chOff x="4222750" y="479425"/>
            <a:chExt cx="2871788" cy="285750"/>
          </a:xfrm>
        </p:grpSpPr>
        <p:pic>
          <p:nvPicPr>
            <p:cNvPr id="7" name="New picture"/>
            <p:cNvPicPr/>
            <p:nvPr/>
          </p:nvPicPr>
          <p:blipFill>
            <a:blip>
              <a:extLst>
                <a:ext uri="{96DAC541-7B7A-43D3-8B79-37D633B846F1}">
                  <asvg:svgBlip xmlns:asvg="http://schemas.microsoft.com/office/drawing/2016/SVG/main" r:embed="rId3"/>
                </a:ext>
              </a:extLst>
            </a:blip>
            <a:stretch>
              <a:fillRect/>
            </a:stretch>
          </p:blipFill>
          <p:spPr>
            <a:xfrm>
              <a:off x="4222750" y="479425"/>
              <a:ext cx="285750" cy="285750"/>
            </a:xfrm>
            <a:prstGeom prst="rect">
              <a:avLst/>
            </a:prstGeom>
          </p:spPr>
        </p:pic>
        <p:sp>
          <p:nvSpPr>
            <p:cNvPr id="8" name="New shape"/>
            <p:cNvSpPr txBox="1"/>
            <p:nvPr/>
          </p:nvSpPr>
          <p:spPr>
            <a:xfrm>
              <a:off x="4579938" y="536575"/>
              <a:ext cx="25146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1125" b="0" i="0">
                  <a:solidFill>
                    <a:srgbClr val="192743"/>
                  </a:solidFill>
                  <a:latin typeface="Poppins"/>
                </a:rPr>
                <a:t>Lager dan de benchmark</a:t>
              </a:r>
            </a:p>
          </p:txBody>
        </p:sp>
      </p:grpSp>
      <p:pic>
        <p:nvPicPr>
          <p:cNvPr id="9" name="New picture"/>
          <p:cNvPicPr/>
          <p:nvPr/>
        </p:nvPicPr>
        <p:blipFill>
          <a:blip>
            <a:extLst>
              <a:ext uri="{96DAC541-7B7A-43D3-8B79-37D633B846F1}">
                <asvg:svgBlip xmlns:asvg="http://schemas.microsoft.com/office/drawing/2016/SVG/main" r:embed="rId4"/>
              </a:ext>
            </a:extLst>
          </a:blip>
          <a:stretch>
            <a:fillRect/>
          </a:stretch>
        </p:blipFill>
        <p:spPr>
          <a:xfrm>
            <a:off x="3557588" y="1203325"/>
            <a:ext cx="142875" cy="171450"/>
          </a:xfrm>
          <a:prstGeom prst="rect">
            <a:avLst/>
          </a:prstGeom>
        </p:spPr>
      </p:pic>
      <p:pic>
        <p:nvPicPr>
          <p:cNvPr id="10" name="New picture"/>
          <p:cNvPicPr/>
          <p:nvPr/>
        </p:nvPicPr>
        <p:blipFill>
          <a:blip>
            <a:extLst>
              <a:ext uri="{96DAC541-7B7A-43D3-8B79-37D633B846F1}">
                <asvg:svgBlip xmlns:asvg="http://schemas.microsoft.com/office/drawing/2016/SVG/main" r:embed="rId5"/>
              </a:ext>
            </a:extLst>
          </a:blip>
          <a:stretch>
            <a:fillRect/>
          </a:stretch>
        </p:blipFill>
        <p:spPr>
          <a:xfrm>
            <a:off x="4032290" y="1206540"/>
            <a:ext cx="165021" cy="165021"/>
          </a:xfrm>
          <a:prstGeom prst="rect">
            <a:avLst/>
          </a:prstGeom>
        </p:spPr>
      </p:pic>
      <p:sp>
        <p:nvSpPr>
          <p:cNvPr id="12" name="New shape"/>
          <p:cNvSpPr txBox="1"/>
          <p:nvPr/>
        </p:nvSpPr>
        <p:spPr>
          <a:xfrm>
            <a:off x="457200" y="160337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dirty="0">
                <a:solidFill>
                  <a:srgbClr val="192743"/>
                </a:solidFill>
                <a:latin typeface="Poppins"/>
              </a:rPr>
              <a:t>Binnen </a:t>
            </a:r>
            <a:r>
              <a:rPr lang="en-US" sz="900" b="0" i="0" dirty="0">
                <a:solidFill>
                  <a:srgbClr val="192743"/>
                </a:solidFill>
                <a:latin typeface="Poppins"/>
              </a:rPr>
              <a:t>Novanta B.V.</a:t>
            </a:r>
            <a:r>
              <a:rPr sz="900" b="0" i="0" dirty="0">
                <a:solidFill>
                  <a:srgbClr val="192743"/>
                </a:solidFill>
                <a:latin typeface="Poppins"/>
              </a:rPr>
              <a:t> </a:t>
            </a:r>
            <a:r>
              <a:rPr sz="900" b="0" i="0" dirty="0" err="1">
                <a:solidFill>
                  <a:srgbClr val="192743"/>
                </a:solidFill>
                <a:latin typeface="Poppins"/>
              </a:rPr>
              <a:t>heb</a:t>
            </a:r>
            <a:r>
              <a:rPr sz="900" b="0" i="0" dirty="0">
                <a:solidFill>
                  <a:srgbClr val="192743"/>
                </a:solidFill>
                <a:latin typeface="Poppins"/>
              </a:rPr>
              <a:t> </a:t>
            </a:r>
            <a:r>
              <a:rPr sz="900" b="0" i="0" dirty="0" err="1">
                <a:solidFill>
                  <a:srgbClr val="192743"/>
                </a:solidFill>
                <a:latin typeface="Poppins"/>
              </a:rPr>
              <a:t>ik</a:t>
            </a:r>
            <a:r>
              <a:rPr sz="900" b="0" i="0" dirty="0">
                <a:solidFill>
                  <a:srgbClr val="192743"/>
                </a:solidFill>
                <a:latin typeface="Poppins"/>
              </a:rPr>
              <a:t> diverse </a:t>
            </a:r>
            <a:r>
              <a:rPr sz="900" b="0" i="0" dirty="0" err="1">
                <a:solidFill>
                  <a:srgbClr val="192743"/>
                </a:solidFill>
                <a:latin typeface="Poppins"/>
              </a:rPr>
              <a:t>mogelijkheden</a:t>
            </a:r>
            <a:r>
              <a:rPr sz="900" b="0" i="0" dirty="0">
                <a:solidFill>
                  <a:srgbClr val="192743"/>
                </a:solidFill>
                <a:latin typeface="Poppins"/>
              </a:rPr>
              <a:t> om </a:t>
            </a:r>
            <a:r>
              <a:rPr sz="900" b="0" i="0" dirty="0" err="1">
                <a:solidFill>
                  <a:srgbClr val="192743"/>
                </a:solidFill>
                <a:latin typeface="Poppins"/>
              </a:rPr>
              <a:t>mijzelf</a:t>
            </a:r>
            <a:r>
              <a:rPr sz="900" b="0" i="0" dirty="0">
                <a:solidFill>
                  <a:srgbClr val="192743"/>
                </a:solidFill>
                <a:latin typeface="Poppins"/>
              </a:rPr>
              <a:t> </a:t>
            </a:r>
            <a:r>
              <a:rPr sz="900" b="0" i="0" dirty="0" err="1">
                <a:solidFill>
                  <a:srgbClr val="192743"/>
                </a:solidFill>
                <a:latin typeface="Poppins"/>
              </a:rPr>
              <a:t>te</a:t>
            </a:r>
            <a:r>
              <a:rPr sz="900" b="0" i="0" dirty="0">
                <a:solidFill>
                  <a:srgbClr val="192743"/>
                </a:solidFill>
                <a:latin typeface="Poppins"/>
              </a:rPr>
              <a:t> </a:t>
            </a:r>
            <a:r>
              <a:rPr sz="900" b="0" i="0" dirty="0" err="1">
                <a:solidFill>
                  <a:srgbClr val="192743"/>
                </a:solidFill>
                <a:latin typeface="Poppins"/>
              </a:rPr>
              <a:t>ontwikkelen</a:t>
            </a:r>
            <a:endParaRPr sz="900" b="0" i="0" dirty="0">
              <a:solidFill>
                <a:srgbClr val="192743"/>
              </a:solidFill>
              <a:latin typeface="Poppins"/>
            </a:endParaRPr>
          </a:p>
        </p:txBody>
      </p:sp>
      <p:sp>
        <p:nvSpPr>
          <p:cNvPr id="13" name="New shape"/>
          <p:cNvSpPr txBox="1"/>
          <p:nvPr/>
        </p:nvSpPr>
        <p:spPr>
          <a:xfrm>
            <a:off x="3400425" y="16033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76%</a:t>
            </a:r>
          </a:p>
        </p:txBody>
      </p:sp>
      <p:sp>
        <p:nvSpPr>
          <p:cNvPr id="14" name="New shape"/>
          <p:cNvSpPr txBox="1"/>
          <p:nvPr/>
        </p:nvSpPr>
        <p:spPr>
          <a:xfrm>
            <a:off x="3886200" y="160337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+13%</a:t>
            </a:r>
          </a:p>
        </p:txBody>
      </p:sp>
      <p:sp>
        <p:nvSpPr>
          <p:cNvPr id="15" name="New shape"/>
          <p:cNvSpPr txBox="1"/>
          <p:nvPr/>
        </p:nvSpPr>
        <p:spPr>
          <a:xfrm>
            <a:off x="457200" y="2203450"/>
            <a:ext cx="2773195"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De </a:t>
            </a:r>
            <a:r>
              <a:rPr sz="900" b="0" i="0" dirty="0" err="1">
                <a:solidFill>
                  <a:srgbClr val="192743"/>
                </a:solidFill>
                <a:latin typeface="Poppins"/>
              </a:rPr>
              <a:t>toekomstvisie</a:t>
            </a:r>
            <a:r>
              <a:rPr sz="900" b="0" i="0" dirty="0">
                <a:solidFill>
                  <a:srgbClr val="192743"/>
                </a:solidFill>
                <a:latin typeface="Poppins"/>
              </a:rPr>
              <a:t> van </a:t>
            </a:r>
            <a:r>
              <a:rPr lang="en-US" sz="900" b="0" i="0" dirty="0">
                <a:solidFill>
                  <a:srgbClr val="192743"/>
                </a:solidFill>
                <a:latin typeface="Poppins"/>
              </a:rPr>
              <a:t>Novanta B.V.</a:t>
            </a:r>
            <a:r>
              <a:rPr sz="900" b="0" i="0" dirty="0">
                <a:solidFill>
                  <a:srgbClr val="192743"/>
                </a:solidFill>
                <a:latin typeface="Poppins"/>
              </a:rPr>
              <a:t> </a:t>
            </a:r>
            <a:r>
              <a:rPr sz="900" b="0" i="0" dirty="0" err="1">
                <a:solidFill>
                  <a:srgbClr val="192743"/>
                </a:solidFill>
                <a:latin typeface="Poppins"/>
              </a:rPr>
              <a:t>inspireert</a:t>
            </a:r>
            <a:r>
              <a:rPr sz="900" b="0" i="0" dirty="0">
                <a:solidFill>
                  <a:srgbClr val="192743"/>
                </a:solidFill>
                <a:latin typeface="Poppins"/>
              </a:rPr>
              <a:t> me</a:t>
            </a:r>
          </a:p>
        </p:txBody>
      </p:sp>
      <p:sp>
        <p:nvSpPr>
          <p:cNvPr id="16" name="New shape"/>
          <p:cNvSpPr/>
          <p:nvPr/>
        </p:nvSpPr>
        <p:spPr>
          <a:xfrm>
            <a:off x="3183969" y="2260600"/>
            <a:ext cx="159306"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7" name="New shape"/>
          <p:cNvSpPr txBox="1"/>
          <p:nvPr/>
        </p:nvSpPr>
        <p:spPr>
          <a:xfrm>
            <a:off x="3400425" y="211772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74%</a:t>
            </a:r>
          </a:p>
        </p:txBody>
      </p:sp>
      <p:sp>
        <p:nvSpPr>
          <p:cNvPr id="18" name="New shape"/>
          <p:cNvSpPr txBox="1"/>
          <p:nvPr/>
        </p:nvSpPr>
        <p:spPr>
          <a:xfrm>
            <a:off x="3886200" y="211772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+13%</a:t>
            </a:r>
          </a:p>
        </p:txBody>
      </p:sp>
      <p:sp>
        <p:nvSpPr>
          <p:cNvPr id="19" name="New shape"/>
          <p:cNvSpPr txBox="1"/>
          <p:nvPr/>
        </p:nvSpPr>
        <p:spPr>
          <a:xfrm>
            <a:off x="457200" y="2717800"/>
            <a:ext cx="154244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Mijn werk geeft mij energie</a:t>
            </a:r>
          </a:p>
        </p:txBody>
      </p:sp>
      <p:sp>
        <p:nvSpPr>
          <p:cNvPr id="20" name="New shape"/>
          <p:cNvSpPr/>
          <p:nvPr/>
        </p:nvSpPr>
        <p:spPr>
          <a:xfrm>
            <a:off x="2056797" y="2774950"/>
            <a:ext cx="128647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txBox="1"/>
          <p:nvPr/>
        </p:nvSpPr>
        <p:spPr>
          <a:xfrm>
            <a:off x="3400425" y="26320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72%</a:t>
            </a:r>
          </a:p>
        </p:txBody>
      </p:sp>
      <p:sp>
        <p:nvSpPr>
          <p:cNvPr id="22" name="New shape"/>
          <p:cNvSpPr txBox="1"/>
          <p:nvPr/>
        </p:nvSpPr>
        <p:spPr>
          <a:xfrm>
            <a:off x="3886200" y="263207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+13%</a:t>
            </a:r>
          </a:p>
        </p:txBody>
      </p:sp>
      <p:sp>
        <p:nvSpPr>
          <p:cNvPr id="23" name="New shape"/>
          <p:cNvSpPr txBox="1"/>
          <p:nvPr/>
        </p:nvSpPr>
        <p:spPr>
          <a:xfrm>
            <a:off x="457200" y="3232150"/>
            <a:ext cx="2728311"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Binnen </a:t>
            </a:r>
            <a:r>
              <a:rPr lang="en-US" sz="900" b="0" i="0" dirty="0">
                <a:solidFill>
                  <a:srgbClr val="192743"/>
                </a:solidFill>
                <a:latin typeface="Poppins"/>
              </a:rPr>
              <a:t>Novanta B.V.</a:t>
            </a:r>
            <a:r>
              <a:rPr sz="900" b="0" i="0" dirty="0">
                <a:solidFill>
                  <a:srgbClr val="192743"/>
                </a:solidFill>
                <a:latin typeface="Poppins"/>
              </a:rPr>
              <a:t> </a:t>
            </a:r>
            <a:r>
              <a:rPr sz="900" b="0" i="0" dirty="0" err="1">
                <a:solidFill>
                  <a:srgbClr val="192743"/>
                </a:solidFill>
                <a:latin typeface="Poppins"/>
              </a:rPr>
              <a:t>worden</a:t>
            </a:r>
            <a:r>
              <a:rPr sz="900" b="0" i="0" dirty="0">
                <a:solidFill>
                  <a:srgbClr val="192743"/>
                </a:solidFill>
                <a:latin typeface="Poppins"/>
              </a:rPr>
              <a:t> </a:t>
            </a:r>
            <a:r>
              <a:rPr sz="900" b="0" i="0" dirty="0" err="1">
                <a:solidFill>
                  <a:srgbClr val="192743"/>
                </a:solidFill>
                <a:latin typeface="Poppins"/>
              </a:rPr>
              <a:t>prestaties</a:t>
            </a:r>
            <a:r>
              <a:rPr sz="900" b="0" i="0" dirty="0">
                <a:solidFill>
                  <a:srgbClr val="192743"/>
                </a:solidFill>
                <a:latin typeface="Poppins"/>
              </a:rPr>
              <a:t> </a:t>
            </a:r>
            <a:r>
              <a:rPr sz="900" b="0" i="0" dirty="0" err="1">
                <a:solidFill>
                  <a:srgbClr val="192743"/>
                </a:solidFill>
                <a:latin typeface="Poppins"/>
              </a:rPr>
              <a:t>beloond</a:t>
            </a:r>
            <a:endParaRPr sz="900" b="0" i="0" dirty="0">
              <a:solidFill>
                <a:srgbClr val="192743"/>
              </a:solidFill>
              <a:latin typeface="Poppins"/>
            </a:endParaRPr>
          </a:p>
        </p:txBody>
      </p:sp>
      <p:sp>
        <p:nvSpPr>
          <p:cNvPr id="24" name="New shape"/>
          <p:cNvSpPr/>
          <p:nvPr/>
        </p:nvSpPr>
        <p:spPr>
          <a:xfrm>
            <a:off x="3139075" y="3289300"/>
            <a:ext cx="2042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5" name="New shape"/>
          <p:cNvSpPr txBox="1"/>
          <p:nvPr/>
        </p:nvSpPr>
        <p:spPr>
          <a:xfrm>
            <a:off x="3400425" y="314642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71%</a:t>
            </a:r>
          </a:p>
        </p:txBody>
      </p:sp>
      <p:sp>
        <p:nvSpPr>
          <p:cNvPr id="26" name="New shape"/>
          <p:cNvSpPr txBox="1"/>
          <p:nvPr/>
        </p:nvSpPr>
        <p:spPr>
          <a:xfrm>
            <a:off x="3886200" y="314642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+12%</a:t>
            </a:r>
          </a:p>
        </p:txBody>
      </p:sp>
      <p:sp>
        <p:nvSpPr>
          <p:cNvPr id="28" name="New shape"/>
          <p:cNvSpPr txBox="1"/>
          <p:nvPr/>
        </p:nvSpPr>
        <p:spPr>
          <a:xfrm>
            <a:off x="457200" y="366077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Ik krijg regelmatig nuttige feedback over mijn functioneren</a:t>
            </a:r>
          </a:p>
        </p:txBody>
      </p:sp>
      <p:sp>
        <p:nvSpPr>
          <p:cNvPr id="29" name="New shape"/>
          <p:cNvSpPr txBox="1"/>
          <p:nvPr/>
        </p:nvSpPr>
        <p:spPr>
          <a:xfrm>
            <a:off x="3400425" y="36607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72%</a:t>
            </a:r>
          </a:p>
        </p:txBody>
      </p:sp>
      <p:sp>
        <p:nvSpPr>
          <p:cNvPr id="30" name="New shape"/>
          <p:cNvSpPr txBox="1"/>
          <p:nvPr/>
        </p:nvSpPr>
        <p:spPr>
          <a:xfrm>
            <a:off x="3886200" y="366077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+10%</a:t>
            </a:r>
          </a:p>
        </p:txBody>
      </p:sp>
      <p:pic>
        <p:nvPicPr>
          <p:cNvPr id="31" name="New picture"/>
          <p:cNvPicPr/>
          <p:nvPr/>
        </p:nvPicPr>
        <p:blipFill>
          <a:blip>
            <a:extLst>
              <a:ext uri="{96DAC541-7B7A-43D3-8B79-37D633B846F1}">
                <asvg:svgBlip xmlns:asvg="http://schemas.microsoft.com/office/drawing/2016/SVG/main" r:embed="rId4"/>
              </a:ext>
            </a:extLst>
          </a:blip>
          <a:stretch>
            <a:fillRect/>
          </a:stretch>
        </p:blipFill>
        <p:spPr>
          <a:xfrm>
            <a:off x="7958138" y="1203325"/>
            <a:ext cx="142875" cy="171450"/>
          </a:xfrm>
          <a:prstGeom prst="rect">
            <a:avLst/>
          </a:prstGeom>
        </p:spPr>
      </p:pic>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8432840" y="1206540"/>
            <a:ext cx="165021" cy="165021"/>
          </a:xfrm>
          <a:prstGeom prst="rect">
            <a:avLst/>
          </a:prstGeom>
        </p:spPr>
      </p:pic>
      <p:sp>
        <p:nvSpPr>
          <p:cNvPr id="34" name="New shape"/>
          <p:cNvSpPr txBox="1"/>
          <p:nvPr/>
        </p:nvSpPr>
        <p:spPr>
          <a:xfrm>
            <a:off x="4857750" y="160337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Ik weet welke resultaten er van mij worden verwacht</a:t>
            </a:r>
          </a:p>
        </p:txBody>
      </p:sp>
      <p:sp>
        <p:nvSpPr>
          <p:cNvPr id="35" name="New shape"/>
          <p:cNvSpPr txBox="1"/>
          <p:nvPr/>
        </p:nvSpPr>
        <p:spPr>
          <a:xfrm>
            <a:off x="7800975" y="16033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66%</a:t>
            </a:r>
          </a:p>
        </p:txBody>
      </p:sp>
      <p:sp>
        <p:nvSpPr>
          <p:cNvPr id="36" name="New shape"/>
          <p:cNvSpPr txBox="1"/>
          <p:nvPr/>
        </p:nvSpPr>
        <p:spPr>
          <a:xfrm>
            <a:off x="8286750" y="160337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-25%</a:t>
            </a:r>
          </a:p>
        </p:txBody>
      </p:sp>
      <p:sp>
        <p:nvSpPr>
          <p:cNvPr id="37" name="New shape"/>
          <p:cNvSpPr txBox="1"/>
          <p:nvPr/>
        </p:nvSpPr>
        <p:spPr>
          <a:xfrm>
            <a:off x="4857750" y="2203450"/>
            <a:ext cx="1463881"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Ik heb plezier in mijn werk</a:t>
            </a:r>
          </a:p>
        </p:txBody>
      </p:sp>
      <p:sp>
        <p:nvSpPr>
          <p:cNvPr id="38" name="New shape"/>
          <p:cNvSpPr/>
          <p:nvPr/>
        </p:nvSpPr>
        <p:spPr>
          <a:xfrm>
            <a:off x="6378781" y="2260600"/>
            <a:ext cx="1365044"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9" name="New shape"/>
          <p:cNvSpPr txBox="1"/>
          <p:nvPr/>
        </p:nvSpPr>
        <p:spPr>
          <a:xfrm>
            <a:off x="7800975" y="211772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64%</a:t>
            </a:r>
          </a:p>
        </p:txBody>
      </p:sp>
      <p:sp>
        <p:nvSpPr>
          <p:cNvPr id="40" name="New shape"/>
          <p:cNvSpPr txBox="1"/>
          <p:nvPr/>
        </p:nvSpPr>
        <p:spPr>
          <a:xfrm>
            <a:off x="8286750" y="211772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-12%</a:t>
            </a:r>
          </a:p>
        </p:txBody>
      </p:sp>
      <p:sp>
        <p:nvSpPr>
          <p:cNvPr id="42" name="New shape"/>
          <p:cNvSpPr txBox="1"/>
          <p:nvPr/>
        </p:nvSpPr>
        <p:spPr>
          <a:xfrm>
            <a:off x="4857750" y="263207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Ik beschik over voldoende middelen (apparatuur en materiaal) om mijn werk goed te kunnen doen</a:t>
            </a:r>
          </a:p>
        </p:txBody>
      </p:sp>
      <p:sp>
        <p:nvSpPr>
          <p:cNvPr id="43" name="New shape"/>
          <p:cNvSpPr txBox="1"/>
          <p:nvPr/>
        </p:nvSpPr>
        <p:spPr>
          <a:xfrm>
            <a:off x="7800975" y="26320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69%</a:t>
            </a:r>
          </a:p>
        </p:txBody>
      </p:sp>
      <p:sp>
        <p:nvSpPr>
          <p:cNvPr id="44" name="New shape"/>
          <p:cNvSpPr txBox="1"/>
          <p:nvPr/>
        </p:nvSpPr>
        <p:spPr>
          <a:xfrm>
            <a:off x="8286750" y="263207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-10%</a:t>
            </a:r>
          </a:p>
        </p:txBody>
      </p:sp>
      <p:sp>
        <p:nvSpPr>
          <p:cNvPr id="46" name="New shape"/>
          <p:cNvSpPr txBox="1"/>
          <p:nvPr/>
        </p:nvSpPr>
        <p:spPr>
          <a:xfrm>
            <a:off x="4857750" y="314642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Mijn werkzaamheden sluiten aan bij wat ik goed kan</a:t>
            </a:r>
          </a:p>
        </p:txBody>
      </p:sp>
      <p:sp>
        <p:nvSpPr>
          <p:cNvPr id="47" name="New shape"/>
          <p:cNvSpPr txBox="1"/>
          <p:nvPr/>
        </p:nvSpPr>
        <p:spPr>
          <a:xfrm>
            <a:off x="7800975" y="314642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74%</a:t>
            </a:r>
          </a:p>
        </p:txBody>
      </p:sp>
      <p:sp>
        <p:nvSpPr>
          <p:cNvPr id="48" name="New shape"/>
          <p:cNvSpPr txBox="1"/>
          <p:nvPr/>
        </p:nvSpPr>
        <p:spPr>
          <a:xfrm>
            <a:off x="8286750" y="314642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-10%</a:t>
            </a:r>
          </a:p>
        </p:txBody>
      </p:sp>
      <p:sp>
        <p:nvSpPr>
          <p:cNvPr id="49" name="New shape"/>
          <p:cNvSpPr txBox="1"/>
          <p:nvPr/>
        </p:nvSpPr>
        <p:spPr>
          <a:xfrm>
            <a:off x="4857750" y="3746500"/>
            <a:ext cx="2845991"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De informatie die ik nodig heb kan ik goed vinden</a:t>
            </a:r>
          </a:p>
        </p:txBody>
      </p:sp>
      <p:sp>
        <p:nvSpPr>
          <p:cNvPr id="50" name="New shape"/>
          <p:cNvSpPr/>
          <p:nvPr/>
        </p:nvSpPr>
        <p:spPr>
          <a:xfrm>
            <a:off x="7743825" y="3803650"/>
            <a:ext cx="17066" cy="0"/>
          </a:xfrm>
          <a:prstGeom prst="lineInv">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1" name="New shape"/>
          <p:cNvSpPr txBox="1"/>
          <p:nvPr/>
        </p:nvSpPr>
        <p:spPr>
          <a:xfrm>
            <a:off x="7800975" y="36607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69%</a:t>
            </a:r>
          </a:p>
        </p:txBody>
      </p:sp>
      <p:sp>
        <p:nvSpPr>
          <p:cNvPr id="52" name="New shape"/>
          <p:cNvSpPr txBox="1"/>
          <p:nvPr/>
        </p:nvSpPr>
        <p:spPr>
          <a:xfrm>
            <a:off x="8286750" y="366077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a:t>
            </a:r>
          </a:p>
        </p:txBody>
      </p:sp>
      <p:sp>
        <p:nvSpPr>
          <p:cNvPr id="53" name="New shape"/>
          <p:cNvSpPr/>
          <p:nvPr/>
        </p:nvSpPr>
        <p:spPr>
          <a:xfrm flipH="1">
            <a:off x="4572000" y="1517650"/>
            <a:ext cx="0" cy="257175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54" name="New picture"/>
          <p:cNvPicPr/>
          <p:nvPr/>
        </p:nvPicPr>
        <p:blipFill>
          <a:blip>
            <a:extLst>
              <a:ext uri="{96DAC541-7B7A-43D3-8B79-37D633B846F1}">
                <asvg:svgBlip xmlns:asvg="http://schemas.microsoft.com/office/drawing/2016/SVG/main" r:embed="rId4"/>
              </a:ext>
            </a:extLst>
          </a:blip>
          <a:stretch>
            <a:fillRect/>
          </a:stretch>
        </p:blipFill>
        <p:spPr>
          <a:xfrm>
            <a:off x="157162" y="4883467"/>
            <a:ext cx="100012" cy="120015"/>
          </a:xfrm>
          <a:prstGeom prst="rect">
            <a:avLst/>
          </a:prstGeom>
        </p:spPr>
      </p:pic>
      <p:sp>
        <p:nvSpPr>
          <p:cNvPr id="55" name="New shape"/>
          <p:cNvSpPr txBox="1"/>
          <p:nvPr/>
        </p:nvSpPr>
        <p:spPr>
          <a:xfrm>
            <a:off x="32861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dirty="0" err="1">
                <a:solidFill>
                  <a:srgbClr val="2867C9"/>
                </a:solidFill>
                <a:latin typeface="Poppins"/>
              </a:rPr>
              <a:t>Huidig</a:t>
            </a:r>
            <a:r>
              <a:rPr sz="675" b="0" i="0" dirty="0">
                <a:solidFill>
                  <a:srgbClr val="2867C9"/>
                </a:solidFill>
                <a:latin typeface="Poppins"/>
              </a:rPr>
              <a:t>: </a:t>
            </a:r>
            <a:r>
              <a:rPr lang="en-US" sz="675" b="0" i="0" dirty="0">
                <a:solidFill>
                  <a:srgbClr val="2867C9"/>
                </a:solidFill>
                <a:latin typeface="Poppins"/>
              </a:rPr>
              <a:t>Novanta B.V.</a:t>
            </a:r>
            <a:endParaRPr sz="675" b="0" i="0" dirty="0">
              <a:solidFill>
                <a:srgbClr val="2867C9"/>
              </a:solidFill>
              <a:latin typeface="Poppins"/>
            </a:endParaRPr>
          </a:p>
        </p:txBody>
      </p:sp>
      <p:pic>
        <p:nvPicPr>
          <p:cNvPr id="56" name="New picture"/>
          <p:cNvPicPr/>
          <p:nvPr/>
        </p:nvPicPr>
        <p:blipFill>
          <a:blip>
            <a:extLst>
              <a:ext uri="{96DAC541-7B7A-43D3-8B79-37D633B846F1}">
                <asvg:svgBlip xmlns:asvg="http://schemas.microsoft.com/office/drawing/2016/SVG/main" r:embed="rId5"/>
              </a:ext>
            </a:extLst>
          </a:blip>
          <a:stretch>
            <a:fillRect/>
          </a:stretch>
        </p:blipFill>
        <p:spPr>
          <a:xfrm>
            <a:off x="1114425" y="4890969"/>
            <a:ext cx="105013" cy="105013"/>
          </a:xfrm>
          <a:prstGeom prst="rect">
            <a:avLst/>
          </a:prstGeom>
        </p:spPr>
      </p:pic>
      <p:sp>
        <p:nvSpPr>
          <p:cNvPr id="57" name="New shape"/>
          <p:cNvSpPr txBox="1"/>
          <p:nvPr/>
        </p:nvSpPr>
        <p:spPr>
          <a:xfrm>
            <a:off x="129087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Globaal</a:t>
            </a:r>
          </a:p>
        </p:txBody>
      </p:sp>
      <p:sp>
        <p:nvSpPr>
          <p:cNvPr id="5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10</a:t>
            </a:r>
          </a:p>
        </p:txBody>
      </p:sp>
      <p:sp>
        <p:nvSpPr>
          <p:cNvPr id="59"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60" name="New picture"/>
          <p:cNvPicPr/>
          <p:nvPr/>
        </p:nvPicPr>
        <p:blipFill>
          <a:blip>
            <a:extLst>
              <a:ext uri="{96DAC541-7B7A-43D3-8B79-37D633B846F1}">
                <asvg:svgBlip xmlns:asvg="http://schemas.microsoft.com/office/drawing/2016/SVG/main" r:embed="rId6"/>
              </a:ext>
            </a:extLst>
          </a:blip>
          <a:stretch>
            <a:fillRect/>
          </a:stretch>
        </p:blipFill>
        <p:spPr>
          <a:xfrm>
            <a:off x="8829675" y="147661"/>
            <a:ext cx="217884" cy="217884"/>
          </a:xfrm>
          <a:prstGeom prst="rect">
            <a:avLst/>
          </a:prstGeom>
        </p:spPr>
      </p:pic>
      <p:sp>
        <p:nvSpPr>
          <p:cNvPr id="61"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3" name="New shape"/>
          <p:cNvSpPr txBox="1"/>
          <p:nvPr/>
        </p:nvSpPr>
        <p:spPr>
          <a:xfrm flipV="1">
            <a:off x="0" y="0"/>
            <a:ext cx="125268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Belangrijke resultaten</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5525"/>
            <a:ext cx="4740080" cy="34624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2250" b="1" i="0" dirty="0" err="1">
                <a:solidFill>
                  <a:srgbClr val="192743"/>
                </a:solidFill>
                <a:latin typeface="Poppins"/>
              </a:rPr>
              <a:t>Onderwerpen</a:t>
            </a:r>
            <a:r>
              <a:rPr sz="2250" b="1" i="0" dirty="0">
                <a:solidFill>
                  <a:srgbClr val="192743"/>
                </a:solidFill>
                <a:latin typeface="Poppins"/>
              </a:rPr>
              <a:t> </a:t>
            </a:r>
            <a:r>
              <a:rPr sz="2250" b="1" i="0" dirty="0" err="1">
                <a:solidFill>
                  <a:srgbClr val="192743"/>
                </a:solidFill>
                <a:latin typeface="Poppins"/>
              </a:rPr>
              <a:t>voor</a:t>
            </a:r>
            <a:r>
              <a:rPr sz="2250" b="1" i="0" dirty="0">
                <a:solidFill>
                  <a:srgbClr val="192743"/>
                </a:solidFill>
                <a:latin typeface="Poppins"/>
              </a:rPr>
              <a:t> </a:t>
            </a:r>
            <a:r>
              <a:rPr lang="en-US" sz="2250" b="1" i="0" dirty="0">
                <a:solidFill>
                  <a:srgbClr val="192743"/>
                </a:solidFill>
                <a:latin typeface="Poppins"/>
              </a:rPr>
              <a:t>Novanta B.V.</a:t>
            </a:r>
            <a:endParaRPr sz="2250" b="1" i="0" dirty="0">
              <a:solidFill>
                <a:srgbClr val="192743"/>
              </a:solidFill>
              <a:latin typeface="Poppins"/>
            </a:endParaRPr>
          </a:p>
        </p:txBody>
      </p:sp>
      <p:sp>
        <p:nvSpPr>
          <p:cNvPr id="3" name="New shape"/>
          <p:cNvSpPr txBox="1"/>
          <p:nvPr/>
        </p:nvSpPr>
        <p:spPr>
          <a:xfrm>
            <a:off x="457200" y="838007"/>
            <a:ext cx="1543692"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dirty="0" err="1">
                <a:solidFill>
                  <a:srgbClr val="546178"/>
                </a:solidFill>
                <a:latin typeface="Poppins"/>
              </a:rPr>
              <a:t>Gekozen</a:t>
            </a:r>
            <a:r>
              <a:rPr sz="900" b="0" i="0" dirty="0">
                <a:solidFill>
                  <a:srgbClr val="546178"/>
                </a:solidFill>
                <a:latin typeface="Poppins"/>
              </a:rPr>
              <a:t> door </a:t>
            </a:r>
            <a:r>
              <a:rPr lang="en-US" sz="900" b="0" i="0" dirty="0">
                <a:solidFill>
                  <a:srgbClr val="546178"/>
                </a:solidFill>
                <a:latin typeface="Poppins"/>
              </a:rPr>
              <a:t>Novanta B.V.</a:t>
            </a:r>
            <a:endParaRPr sz="900" b="0" i="0" dirty="0">
              <a:solidFill>
                <a:srgbClr val="546178"/>
              </a:solidFill>
              <a:latin typeface="Poppins"/>
            </a:endParaRPr>
          </a:p>
        </p:txBody>
      </p:sp>
      <p:sp>
        <p:nvSpPr>
          <p:cNvPr id="4" name="New shape"/>
          <p:cNvSpPr/>
          <p:nvPr/>
        </p:nvSpPr>
        <p:spPr>
          <a:xfrm flipH="1">
            <a:off x="4572000" y="1243012"/>
            <a:ext cx="0" cy="280035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5" name="New picture"/>
          <p:cNvPicPr/>
          <p:nvPr/>
        </p:nvPicPr>
        <p:blipFill>
          <a:blip>
            <a:extLst>
              <a:ext uri="{96DAC541-7B7A-43D3-8B79-37D633B846F1}">
                <asvg:svgBlip xmlns:asvg="http://schemas.microsoft.com/office/drawing/2016/SVG/main" r:embed="rId2"/>
              </a:ext>
            </a:extLst>
          </a:blip>
          <a:stretch>
            <a:fillRect/>
          </a:stretch>
        </p:blipFill>
        <p:spPr>
          <a:xfrm>
            <a:off x="457200" y="1271588"/>
            <a:ext cx="228600" cy="228600"/>
          </a:xfrm>
          <a:prstGeom prst="rect">
            <a:avLst/>
          </a:prstGeom>
        </p:spPr>
      </p:pic>
      <p:sp>
        <p:nvSpPr>
          <p:cNvPr id="6" name="New shape"/>
          <p:cNvSpPr txBox="1"/>
          <p:nvPr/>
        </p:nvSpPr>
        <p:spPr>
          <a:xfrm>
            <a:off x="757238" y="1317307"/>
            <a:ext cx="3214688"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900" b="1" i="0">
                <a:solidFill>
                  <a:srgbClr val="192743"/>
                </a:solidFill>
                <a:latin typeface="Poppins"/>
              </a:rPr>
              <a:t>Wat springt er voor jou in positieve zin uit?</a:t>
            </a:r>
          </a:p>
        </p:txBody>
      </p:sp>
      <p:sp>
        <p:nvSpPr>
          <p:cNvPr id="7" name="New shape"/>
          <p:cNvSpPr/>
          <p:nvPr/>
        </p:nvSpPr>
        <p:spPr>
          <a:xfrm>
            <a:off x="457200" y="17002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457200" y="1700212"/>
            <a:ext cx="1446609" cy="285750"/>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txBox="1"/>
          <p:nvPr/>
        </p:nvSpPr>
        <p:spPr>
          <a:xfrm>
            <a:off x="528638" y="17002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Mijn organisatie als werkgever</a:t>
            </a:r>
          </a:p>
        </p:txBody>
      </p:sp>
      <p:sp>
        <p:nvSpPr>
          <p:cNvPr id="10" name="New shape"/>
          <p:cNvSpPr txBox="1"/>
          <p:nvPr/>
        </p:nvSpPr>
        <p:spPr>
          <a:xfrm>
            <a:off x="3118247"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45%</a:t>
            </a:r>
          </a:p>
        </p:txBody>
      </p:sp>
      <p:pic>
        <p:nvPicPr>
          <p:cNvPr id="11" name="New picture"/>
          <p:cNvPicPr/>
          <p:nvPr/>
        </p:nvPicPr>
        <p:blipFill>
          <a:blip>
            <a:extLst>
              <a:ext uri="{96DAC541-7B7A-43D3-8B79-37D633B846F1}">
                <asvg:svgBlip xmlns:asvg="http://schemas.microsoft.com/office/drawing/2016/SVG/main" r:embed="rId3"/>
              </a:ext>
            </a:extLst>
          </a:blip>
          <a:stretch>
            <a:fillRect/>
          </a:stretch>
        </p:blipFill>
        <p:spPr>
          <a:xfrm>
            <a:off x="3786188" y="1768078"/>
            <a:ext cx="150019" cy="150019"/>
          </a:xfrm>
          <a:prstGeom prst="rect">
            <a:avLst/>
          </a:prstGeom>
        </p:spPr>
      </p:pic>
      <p:sp>
        <p:nvSpPr>
          <p:cNvPr id="12" name="New shape"/>
          <p:cNvSpPr txBox="1"/>
          <p:nvPr/>
        </p:nvSpPr>
        <p:spPr>
          <a:xfrm>
            <a:off x="4007644"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132</a:t>
            </a:r>
          </a:p>
        </p:txBody>
      </p:sp>
      <p:sp>
        <p:nvSpPr>
          <p:cNvPr id="13" name="New shape"/>
          <p:cNvSpPr/>
          <p:nvPr/>
        </p:nvSpPr>
        <p:spPr>
          <a:xfrm>
            <a:off x="457200" y="21002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New shape"/>
          <p:cNvSpPr/>
          <p:nvPr/>
        </p:nvSpPr>
        <p:spPr>
          <a:xfrm>
            <a:off x="457200" y="2100262"/>
            <a:ext cx="417909" cy="2857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New shape"/>
          <p:cNvSpPr txBox="1"/>
          <p:nvPr/>
        </p:nvSpPr>
        <p:spPr>
          <a:xfrm>
            <a:off x="528638" y="21002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Mijn organisatie's cultuur</a:t>
            </a:r>
          </a:p>
        </p:txBody>
      </p:sp>
      <p:sp>
        <p:nvSpPr>
          <p:cNvPr id="16" name="New shape"/>
          <p:cNvSpPr txBox="1"/>
          <p:nvPr/>
        </p:nvSpPr>
        <p:spPr>
          <a:xfrm>
            <a:off x="3118247"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13%</a:t>
            </a:r>
          </a:p>
        </p:txBody>
      </p:sp>
      <p:pic>
        <p:nvPicPr>
          <p:cNvPr id="17" name="New picture"/>
          <p:cNvPicPr/>
          <p:nvPr/>
        </p:nvPicPr>
        <p:blipFill>
          <a:blip>
            <a:extLst>
              <a:ext uri="{96DAC541-7B7A-43D3-8B79-37D633B846F1}">
                <asvg:svgBlip xmlns:asvg="http://schemas.microsoft.com/office/drawing/2016/SVG/main" r:embed="rId3"/>
              </a:ext>
            </a:extLst>
          </a:blip>
          <a:stretch>
            <a:fillRect/>
          </a:stretch>
        </p:blipFill>
        <p:spPr>
          <a:xfrm>
            <a:off x="3786188" y="2168128"/>
            <a:ext cx="150019" cy="150019"/>
          </a:xfrm>
          <a:prstGeom prst="rect">
            <a:avLst/>
          </a:prstGeom>
        </p:spPr>
      </p:pic>
      <p:sp>
        <p:nvSpPr>
          <p:cNvPr id="18" name="New shape"/>
          <p:cNvSpPr txBox="1"/>
          <p:nvPr/>
        </p:nvSpPr>
        <p:spPr>
          <a:xfrm>
            <a:off x="4007644"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38</a:t>
            </a:r>
          </a:p>
        </p:txBody>
      </p:sp>
      <p:sp>
        <p:nvSpPr>
          <p:cNvPr id="19" name="New shape"/>
          <p:cNvSpPr/>
          <p:nvPr/>
        </p:nvSpPr>
        <p:spPr>
          <a:xfrm>
            <a:off x="457200" y="25003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457200" y="2500312"/>
            <a:ext cx="321469" cy="2857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New shape"/>
          <p:cNvSpPr txBox="1"/>
          <p:nvPr/>
        </p:nvSpPr>
        <p:spPr>
          <a:xfrm>
            <a:off x="528638" y="25003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Mijn organisatie's visie en doelen</a:t>
            </a:r>
          </a:p>
        </p:txBody>
      </p:sp>
      <p:sp>
        <p:nvSpPr>
          <p:cNvPr id="22" name="New shape"/>
          <p:cNvSpPr txBox="1"/>
          <p:nvPr/>
        </p:nvSpPr>
        <p:spPr>
          <a:xfrm>
            <a:off x="3118247"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10%</a:t>
            </a:r>
          </a:p>
        </p:txBody>
      </p:sp>
      <p:pic>
        <p:nvPicPr>
          <p:cNvPr id="23" name="New picture"/>
          <p:cNvPicPr/>
          <p:nvPr/>
        </p:nvPicPr>
        <p:blipFill>
          <a:blip>
            <a:extLst>
              <a:ext uri="{96DAC541-7B7A-43D3-8B79-37D633B846F1}">
                <asvg:svgBlip xmlns:asvg="http://schemas.microsoft.com/office/drawing/2016/SVG/main" r:embed="rId3"/>
              </a:ext>
            </a:extLst>
          </a:blip>
          <a:stretch>
            <a:fillRect/>
          </a:stretch>
        </p:blipFill>
        <p:spPr>
          <a:xfrm>
            <a:off x="3786188" y="2568178"/>
            <a:ext cx="150019" cy="150019"/>
          </a:xfrm>
          <a:prstGeom prst="rect">
            <a:avLst/>
          </a:prstGeom>
        </p:spPr>
      </p:pic>
      <p:sp>
        <p:nvSpPr>
          <p:cNvPr id="24" name="New shape"/>
          <p:cNvSpPr txBox="1"/>
          <p:nvPr/>
        </p:nvSpPr>
        <p:spPr>
          <a:xfrm>
            <a:off x="4007644"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29</a:t>
            </a:r>
          </a:p>
        </p:txBody>
      </p:sp>
      <p:sp>
        <p:nvSpPr>
          <p:cNvPr id="25" name="New shape"/>
          <p:cNvSpPr/>
          <p:nvPr/>
        </p:nvSpPr>
        <p:spPr>
          <a:xfrm>
            <a:off x="457200" y="29003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6" name="New shape"/>
          <p:cNvSpPr/>
          <p:nvPr/>
        </p:nvSpPr>
        <p:spPr>
          <a:xfrm>
            <a:off x="457200" y="2900362"/>
            <a:ext cx="289322" cy="285750"/>
          </a:xfrm>
          <a:prstGeom prst="roundRect">
            <a:avLst/>
          </a:prstGeom>
          <a:solidFill>
            <a:srgbClr val="FEE5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7" name="New shape"/>
          <p:cNvSpPr txBox="1"/>
          <p:nvPr/>
        </p:nvSpPr>
        <p:spPr>
          <a:xfrm>
            <a:off x="528638" y="29003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Klantfocus binnen mijn organisatie</a:t>
            </a:r>
          </a:p>
        </p:txBody>
      </p:sp>
      <p:sp>
        <p:nvSpPr>
          <p:cNvPr id="28" name="New shape"/>
          <p:cNvSpPr txBox="1"/>
          <p:nvPr/>
        </p:nvSpPr>
        <p:spPr>
          <a:xfrm>
            <a:off x="3118247"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9%</a:t>
            </a:r>
          </a:p>
        </p:txBody>
      </p:sp>
      <p:pic>
        <p:nvPicPr>
          <p:cNvPr id="29" name="New picture"/>
          <p:cNvPicPr/>
          <p:nvPr/>
        </p:nvPicPr>
        <p:blipFill>
          <a:blip>
            <a:extLst>
              <a:ext uri="{96DAC541-7B7A-43D3-8B79-37D633B846F1}">
                <asvg:svgBlip xmlns:asvg="http://schemas.microsoft.com/office/drawing/2016/SVG/main" r:embed="rId3"/>
              </a:ext>
            </a:extLst>
          </a:blip>
          <a:stretch>
            <a:fillRect/>
          </a:stretch>
        </p:blipFill>
        <p:spPr>
          <a:xfrm>
            <a:off x="3786188" y="2968228"/>
            <a:ext cx="150019" cy="150019"/>
          </a:xfrm>
          <a:prstGeom prst="rect">
            <a:avLst/>
          </a:prstGeom>
        </p:spPr>
      </p:pic>
      <p:sp>
        <p:nvSpPr>
          <p:cNvPr id="30" name="New shape"/>
          <p:cNvSpPr txBox="1"/>
          <p:nvPr/>
        </p:nvSpPr>
        <p:spPr>
          <a:xfrm>
            <a:off x="4007644"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25</a:t>
            </a:r>
          </a:p>
        </p:txBody>
      </p:sp>
      <p:sp>
        <p:nvSpPr>
          <p:cNvPr id="31" name="New shape"/>
          <p:cNvSpPr/>
          <p:nvPr/>
        </p:nvSpPr>
        <p:spPr>
          <a:xfrm>
            <a:off x="457200" y="33004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2" name="New shape"/>
          <p:cNvSpPr/>
          <p:nvPr/>
        </p:nvSpPr>
        <p:spPr>
          <a:xfrm>
            <a:off x="457200" y="3300412"/>
            <a:ext cx="225028"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3" name="New shape"/>
          <p:cNvSpPr txBox="1"/>
          <p:nvPr/>
        </p:nvSpPr>
        <p:spPr>
          <a:xfrm>
            <a:off x="528638" y="33004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Communicatie binnen mijn organisatie</a:t>
            </a:r>
          </a:p>
        </p:txBody>
      </p:sp>
      <p:sp>
        <p:nvSpPr>
          <p:cNvPr id="34" name="New shape"/>
          <p:cNvSpPr txBox="1"/>
          <p:nvPr/>
        </p:nvSpPr>
        <p:spPr>
          <a:xfrm>
            <a:off x="3118247"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a:t>
            </a:r>
          </a:p>
        </p:txBody>
      </p:sp>
      <p:pic>
        <p:nvPicPr>
          <p:cNvPr id="35" name="New picture"/>
          <p:cNvPicPr/>
          <p:nvPr/>
        </p:nvPicPr>
        <p:blipFill>
          <a:blip>
            <a:extLst>
              <a:ext uri="{96DAC541-7B7A-43D3-8B79-37D633B846F1}">
                <asvg:svgBlip xmlns:asvg="http://schemas.microsoft.com/office/drawing/2016/SVG/main" r:embed="rId3"/>
              </a:ext>
            </a:extLst>
          </a:blip>
          <a:stretch>
            <a:fillRect/>
          </a:stretch>
        </p:blipFill>
        <p:spPr>
          <a:xfrm>
            <a:off x="3786188" y="3368278"/>
            <a:ext cx="150019" cy="150019"/>
          </a:xfrm>
          <a:prstGeom prst="rect">
            <a:avLst/>
          </a:prstGeom>
        </p:spPr>
      </p:pic>
      <p:sp>
        <p:nvSpPr>
          <p:cNvPr id="36" name="New shape"/>
          <p:cNvSpPr txBox="1"/>
          <p:nvPr/>
        </p:nvSpPr>
        <p:spPr>
          <a:xfrm>
            <a:off x="4007644"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19</a:t>
            </a:r>
          </a:p>
        </p:txBody>
      </p:sp>
      <p:sp>
        <p:nvSpPr>
          <p:cNvPr id="37" name="New shape"/>
          <p:cNvSpPr/>
          <p:nvPr/>
        </p:nvSpPr>
        <p:spPr>
          <a:xfrm>
            <a:off x="457200" y="37004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8" name="New shape"/>
          <p:cNvSpPr/>
          <p:nvPr/>
        </p:nvSpPr>
        <p:spPr>
          <a:xfrm>
            <a:off x="457200" y="3700462"/>
            <a:ext cx="160734"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9" name="New shape"/>
          <p:cNvSpPr txBox="1"/>
          <p:nvPr/>
        </p:nvSpPr>
        <p:spPr>
          <a:xfrm>
            <a:off x="528638" y="37004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Samenwerking binnen mijn organisatie</a:t>
            </a:r>
          </a:p>
        </p:txBody>
      </p:sp>
      <p:sp>
        <p:nvSpPr>
          <p:cNvPr id="40" name="New shape"/>
          <p:cNvSpPr txBox="1"/>
          <p:nvPr/>
        </p:nvSpPr>
        <p:spPr>
          <a:xfrm>
            <a:off x="3118247"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5%</a:t>
            </a:r>
          </a:p>
        </p:txBody>
      </p:sp>
      <p:pic>
        <p:nvPicPr>
          <p:cNvPr id="41" name="New picture"/>
          <p:cNvPicPr/>
          <p:nvPr/>
        </p:nvPicPr>
        <p:blipFill>
          <a:blip>
            <a:extLst>
              <a:ext uri="{96DAC541-7B7A-43D3-8B79-37D633B846F1}">
                <asvg:svgBlip xmlns:asvg="http://schemas.microsoft.com/office/drawing/2016/SVG/main" r:embed="rId3"/>
              </a:ext>
            </a:extLst>
          </a:blip>
          <a:stretch>
            <a:fillRect/>
          </a:stretch>
        </p:blipFill>
        <p:spPr>
          <a:xfrm>
            <a:off x="3786188" y="3768328"/>
            <a:ext cx="150019" cy="150019"/>
          </a:xfrm>
          <a:prstGeom prst="rect">
            <a:avLst/>
          </a:prstGeom>
        </p:spPr>
      </p:pic>
      <p:sp>
        <p:nvSpPr>
          <p:cNvPr id="42" name="New shape"/>
          <p:cNvSpPr txBox="1"/>
          <p:nvPr/>
        </p:nvSpPr>
        <p:spPr>
          <a:xfrm>
            <a:off x="4007644"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16</a:t>
            </a:r>
          </a:p>
        </p:txBody>
      </p:sp>
      <p:pic>
        <p:nvPicPr>
          <p:cNvPr id="43" name="New picture"/>
          <p:cNvPicPr/>
          <p:nvPr/>
        </p:nvPicPr>
        <p:blipFill>
          <a:blip>
            <a:extLst>
              <a:ext uri="{96DAC541-7B7A-43D3-8B79-37D633B846F1}">
                <asvg:svgBlip xmlns:asvg="http://schemas.microsoft.com/office/drawing/2016/SVG/main" r:embed="rId4"/>
              </a:ext>
            </a:extLst>
          </a:blip>
          <a:stretch>
            <a:fillRect/>
          </a:stretch>
        </p:blipFill>
        <p:spPr>
          <a:xfrm>
            <a:off x="4800600" y="1271588"/>
            <a:ext cx="228600" cy="228600"/>
          </a:xfrm>
          <a:prstGeom prst="rect">
            <a:avLst/>
          </a:prstGeom>
        </p:spPr>
      </p:pic>
      <p:sp>
        <p:nvSpPr>
          <p:cNvPr id="44" name="New shape"/>
          <p:cNvSpPr txBox="1"/>
          <p:nvPr/>
        </p:nvSpPr>
        <p:spPr>
          <a:xfrm>
            <a:off x="5100638" y="1180148"/>
            <a:ext cx="3214688"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900" b="1" i="0">
                <a:solidFill>
                  <a:srgbClr val="192743"/>
                </a:solidFill>
                <a:latin typeface="Poppins"/>
              </a:rPr>
              <a:t>Wat heb je gezien dat anders of beter kan? En vergeet vooral niet om jouw tip te geven om dit ook beter te doen.</a:t>
            </a:r>
          </a:p>
        </p:txBody>
      </p:sp>
      <p:sp>
        <p:nvSpPr>
          <p:cNvPr id="45" name="New shape"/>
          <p:cNvSpPr/>
          <p:nvPr/>
        </p:nvSpPr>
        <p:spPr>
          <a:xfrm>
            <a:off x="4800600" y="17002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6" name="New shape"/>
          <p:cNvSpPr/>
          <p:nvPr/>
        </p:nvSpPr>
        <p:spPr>
          <a:xfrm>
            <a:off x="4800600" y="1700212"/>
            <a:ext cx="1253728" cy="285750"/>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7" name="New shape"/>
          <p:cNvSpPr txBox="1"/>
          <p:nvPr/>
        </p:nvSpPr>
        <p:spPr>
          <a:xfrm>
            <a:off x="4872038" y="17002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Mijn organisatie als werkgever</a:t>
            </a:r>
          </a:p>
        </p:txBody>
      </p:sp>
      <p:sp>
        <p:nvSpPr>
          <p:cNvPr id="48" name="New shape"/>
          <p:cNvSpPr txBox="1"/>
          <p:nvPr/>
        </p:nvSpPr>
        <p:spPr>
          <a:xfrm>
            <a:off x="7461647"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39%</a:t>
            </a:r>
          </a:p>
        </p:txBody>
      </p:sp>
      <p:pic>
        <p:nvPicPr>
          <p:cNvPr id="49" name="New picture"/>
          <p:cNvPicPr/>
          <p:nvPr/>
        </p:nvPicPr>
        <p:blipFill>
          <a:blip>
            <a:extLst>
              <a:ext uri="{96DAC541-7B7A-43D3-8B79-37D633B846F1}">
                <asvg:svgBlip xmlns:asvg="http://schemas.microsoft.com/office/drawing/2016/SVG/main" r:embed="rId3"/>
              </a:ext>
            </a:extLst>
          </a:blip>
          <a:stretch>
            <a:fillRect/>
          </a:stretch>
        </p:blipFill>
        <p:spPr>
          <a:xfrm>
            <a:off x="8129588" y="1768078"/>
            <a:ext cx="150019" cy="150019"/>
          </a:xfrm>
          <a:prstGeom prst="rect">
            <a:avLst/>
          </a:prstGeom>
        </p:spPr>
      </p:pic>
      <p:sp>
        <p:nvSpPr>
          <p:cNvPr id="50" name="New shape"/>
          <p:cNvSpPr txBox="1"/>
          <p:nvPr/>
        </p:nvSpPr>
        <p:spPr>
          <a:xfrm>
            <a:off x="8351044"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113</a:t>
            </a:r>
          </a:p>
        </p:txBody>
      </p:sp>
      <p:sp>
        <p:nvSpPr>
          <p:cNvPr id="51" name="New shape"/>
          <p:cNvSpPr/>
          <p:nvPr/>
        </p:nvSpPr>
        <p:spPr>
          <a:xfrm>
            <a:off x="4800600" y="21002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2" name="New shape"/>
          <p:cNvSpPr/>
          <p:nvPr/>
        </p:nvSpPr>
        <p:spPr>
          <a:xfrm>
            <a:off x="4800600" y="2100262"/>
            <a:ext cx="546497" cy="2857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3" name="New shape"/>
          <p:cNvSpPr txBox="1"/>
          <p:nvPr/>
        </p:nvSpPr>
        <p:spPr>
          <a:xfrm>
            <a:off x="4872038" y="21002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Mijn organisatie's visie en doelen</a:t>
            </a:r>
          </a:p>
        </p:txBody>
      </p:sp>
      <p:sp>
        <p:nvSpPr>
          <p:cNvPr id="54" name="New shape"/>
          <p:cNvSpPr txBox="1"/>
          <p:nvPr/>
        </p:nvSpPr>
        <p:spPr>
          <a:xfrm>
            <a:off x="7461647"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17%</a:t>
            </a:r>
          </a:p>
        </p:txBody>
      </p:sp>
      <p:pic>
        <p:nvPicPr>
          <p:cNvPr id="55" name="New picture"/>
          <p:cNvPicPr/>
          <p:nvPr/>
        </p:nvPicPr>
        <p:blipFill>
          <a:blip>
            <a:extLst>
              <a:ext uri="{96DAC541-7B7A-43D3-8B79-37D633B846F1}">
                <asvg:svgBlip xmlns:asvg="http://schemas.microsoft.com/office/drawing/2016/SVG/main" r:embed="rId3"/>
              </a:ext>
            </a:extLst>
          </a:blip>
          <a:stretch>
            <a:fillRect/>
          </a:stretch>
        </p:blipFill>
        <p:spPr>
          <a:xfrm>
            <a:off x="8129588" y="2168128"/>
            <a:ext cx="150019" cy="150019"/>
          </a:xfrm>
          <a:prstGeom prst="rect">
            <a:avLst/>
          </a:prstGeom>
        </p:spPr>
      </p:pic>
      <p:sp>
        <p:nvSpPr>
          <p:cNvPr id="56" name="New shape"/>
          <p:cNvSpPr txBox="1"/>
          <p:nvPr/>
        </p:nvSpPr>
        <p:spPr>
          <a:xfrm>
            <a:off x="8351044"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49</a:t>
            </a:r>
          </a:p>
        </p:txBody>
      </p:sp>
      <p:sp>
        <p:nvSpPr>
          <p:cNvPr id="57" name="New shape"/>
          <p:cNvSpPr/>
          <p:nvPr/>
        </p:nvSpPr>
        <p:spPr>
          <a:xfrm>
            <a:off x="4800600" y="25003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8" name="New shape"/>
          <p:cNvSpPr/>
          <p:nvPr/>
        </p:nvSpPr>
        <p:spPr>
          <a:xfrm>
            <a:off x="4800600" y="2500312"/>
            <a:ext cx="385762" cy="2857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9" name="New shape"/>
          <p:cNvSpPr txBox="1"/>
          <p:nvPr/>
        </p:nvSpPr>
        <p:spPr>
          <a:xfrm>
            <a:off x="4872038" y="25003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Mijn organisatie's cultuur</a:t>
            </a:r>
          </a:p>
        </p:txBody>
      </p:sp>
      <p:sp>
        <p:nvSpPr>
          <p:cNvPr id="60" name="New shape"/>
          <p:cNvSpPr txBox="1"/>
          <p:nvPr/>
        </p:nvSpPr>
        <p:spPr>
          <a:xfrm>
            <a:off x="7461647"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12%</a:t>
            </a:r>
          </a:p>
        </p:txBody>
      </p:sp>
      <p:pic>
        <p:nvPicPr>
          <p:cNvPr id="61" name="New picture"/>
          <p:cNvPicPr/>
          <p:nvPr/>
        </p:nvPicPr>
        <p:blipFill>
          <a:blip>
            <a:extLst>
              <a:ext uri="{96DAC541-7B7A-43D3-8B79-37D633B846F1}">
                <asvg:svgBlip xmlns:asvg="http://schemas.microsoft.com/office/drawing/2016/SVG/main" r:embed="rId3"/>
              </a:ext>
            </a:extLst>
          </a:blip>
          <a:stretch>
            <a:fillRect/>
          </a:stretch>
        </p:blipFill>
        <p:spPr>
          <a:xfrm>
            <a:off x="8129588" y="2568178"/>
            <a:ext cx="150019" cy="150019"/>
          </a:xfrm>
          <a:prstGeom prst="rect">
            <a:avLst/>
          </a:prstGeom>
        </p:spPr>
      </p:pic>
      <p:sp>
        <p:nvSpPr>
          <p:cNvPr id="62" name="New shape"/>
          <p:cNvSpPr txBox="1"/>
          <p:nvPr/>
        </p:nvSpPr>
        <p:spPr>
          <a:xfrm>
            <a:off x="8351044"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36</a:t>
            </a:r>
          </a:p>
        </p:txBody>
      </p:sp>
      <p:sp>
        <p:nvSpPr>
          <p:cNvPr id="63" name="New shape"/>
          <p:cNvSpPr/>
          <p:nvPr/>
        </p:nvSpPr>
        <p:spPr>
          <a:xfrm>
            <a:off x="4800600" y="29003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4" name="New shape"/>
          <p:cNvSpPr/>
          <p:nvPr/>
        </p:nvSpPr>
        <p:spPr>
          <a:xfrm>
            <a:off x="4800600" y="2900362"/>
            <a:ext cx="160734" cy="285750"/>
          </a:xfrm>
          <a:prstGeom prst="roundRect">
            <a:avLst/>
          </a:prstGeom>
          <a:solidFill>
            <a:srgbClr val="FEE5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5" name="New shape"/>
          <p:cNvSpPr txBox="1"/>
          <p:nvPr/>
        </p:nvSpPr>
        <p:spPr>
          <a:xfrm>
            <a:off x="4872038" y="29003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Teamdynamiek (sfeer, )</a:t>
            </a:r>
          </a:p>
        </p:txBody>
      </p:sp>
      <p:sp>
        <p:nvSpPr>
          <p:cNvPr id="66" name="New shape"/>
          <p:cNvSpPr txBox="1"/>
          <p:nvPr/>
        </p:nvSpPr>
        <p:spPr>
          <a:xfrm>
            <a:off x="7461647"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5%</a:t>
            </a:r>
          </a:p>
        </p:txBody>
      </p:sp>
      <p:pic>
        <p:nvPicPr>
          <p:cNvPr id="67" name="New picture"/>
          <p:cNvPicPr/>
          <p:nvPr/>
        </p:nvPicPr>
        <p:blipFill>
          <a:blip>
            <a:extLst>
              <a:ext uri="{96DAC541-7B7A-43D3-8B79-37D633B846F1}">
                <asvg:svgBlip xmlns:asvg="http://schemas.microsoft.com/office/drawing/2016/SVG/main" r:embed="rId3"/>
              </a:ext>
            </a:extLst>
          </a:blip>
          <a:stretch>
            <a:fillRect/>
          </a:stretch>
        </p:blipFill>
        <p:spPr>
          <a:xfrm>
            <a:off x="8129588" y="2968228"/>
            <a:ext cx="150019" cy="150019"/>
          </a:xfrm>
          <a:prstGeom prst="rect">
            <a:avLst/>
          </a:prstGeom>
        </p:spPr>
      </p:pic>
      <p:sp>
        <p:nvSpPr>
          <p:cNvPr id="68" name="New shape"/>
          <p:cNvSpPr txBox="1"/>
          <p:nvPr/>
        </p:nvSpPr>
        <p:spPr>
          <a:xfrm>
            <a:off x="8351044"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16</a:t>
            </a:r>
          </a:p>
        </p:txBody>
      </p:sp>
      <p:sp>
        <p:nvSpPr>
          <p:cNvPr id="69" name="New shape"/>
          <p:cNvSpPr/>
          <p:nvPr/>
        </p:nvSpPr>
        <p:spPr>
          <a:xfrm>
            <a:off x="4800600" y="33004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0" name="New shape"/>
          <p:cNvSpPr/>
          <p:nvPr/>
        </p:nvSpPr>
        <p:spPr>
          <a:xfrm>
            <a:off x="4800600" y="3300412"/>
            <a:ext cx="160734"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1" name="New shape"/>
          <p:cNvSpPr txBox="1"/>
          <p:nvPr/>
        </p:nvSpPr>
        <p:spPr>
          <a:xfrm>
            <a:off x="4872038" y="33004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Klantfocus binnen mijn organisatie</a:t>
            </a:r>
          </a:p>
        </p:txBody>
      </p:sp>
      <p:sp>
        <p:nvSpPr>
          <p:cNvPr id="72" name="New shape"/>
          <p:cNvSpPr txBox="1"/>
          <p:nvPr/>
        </p:nvSpPr>
        <p:spPr>
          <a:xfrm>
            <a:off x="7461647"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5%</a:t>
            </a:r>
          </a:p>
        </p:txBody>
      </p:sp>
      <p:pic>
        <p:nvPicPr>
          <p:cNvPr id="73" name="New picture"/>
          <p:cNvPicPr/>
          <p:nvPr/>
        </p:nvPicPr>
        <p:blipFill>
          <a:blip>
            <a:extLst>
              <a:ext uri="{96DAC541-7B7A-43D3-8B79-37D633B846F1}">
                <asvg:svgBlip xmlns:asvg="http://schemas.microsoft.com/office/drawing/2016/SVG/main" r:embed="rId3"/>
              </a:ext>
            </a:extLst>
          </a:blip>
          <a:stretch>
            <a:fillRect/>
          </a:stretch>
        </p:blipFill>
        <p:spPr>
          <a:xfrm>
            <a:off x="8129588" y="3368278"/>
            <a:ext cx="150019" cy="150019"/>
          </a:xfrm>
          <a:prstGeom prst="rect">
            <a:avLst/>
          </a:prstGeom>
        </p:spPr>
      </p:pic>
      <p:sp>
        <p:nvSpPr>
          <p:cNvPr id="74" name="New shape"/>
          <p:cNvSpPr txBox="1"/>
          <p:nvPr/>
        </p:nvSpPr>
        <p:spPr>
          <a:xfrm>
            <a:off x="8351044"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14</a:t>
            </a:r>
          </a:p>
        </p:txBody>
      </p:sp>
      <p:sp>
        <p:nvSpPr>
          <p:cNvPr id="75" name="New shape"/>
          <p:cNvSpPr/>
          <p:nvPr/>
        </p:nvSpPr>
        <p:spPr>
          <a:xfrm>
            <a:off x="4800600" y="37004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6" name="New shape"/>
          <p:cNvSpPr/>
          <p:nvPr/>
        </p:nvSpPr>
        <p:spPr>
          <a:xfrm>
            <a:off x="4800600" y="3700462"/>
            <a:ext cx="128588"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7" name="New shape"/>
          <p:cNvSpPr txBox="1"/>
          <p:nvPr/>
        </p:nvSpPr>
        <p:spPr>
          <a:xfrm>
            <a:off x="4872038" y="37004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Samenwerking binnen mijn organisatie</a:t>
            </a:r>
          </a:p>
        </p:txBody>
      </p:sp>
      <p:sp>
        <p:nvSpPr>
          <p:cNvPr id="78" name="New shape"/>
          <p:cNvSpPr txBox="1"/>
          <p:nvPr/>
        </p:nvSpPr>
        <p:spPr>
          <a:xfrm>
            <a:off x="7461647"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4%</a:t>
            </a:r>
          </a:p>
        </p:txBody>
      </p:sp>
      <p:pic>
        <p:nvPicPr>
          <p:cNvPr id="79" name="New picture"/>
          <p:cNvPicPr/>
          <p:nvPr/>
        </p:nvPicPr>
        <p:blipFill>
          <a:blip>
            <a:extLst>
              <a:ext uri="{96DAC541-7B7A-43D3-8B79-37D633B846F1}">
                <asvg:svgBlip xmlns:asvg="http://schemas.microsoft.com/office/drawing/2016/SVG/main" r:embed="rId3"/>
              </a:ext>
            </a:extLst>
          </a:blip>
          <a:stretch>
            <a:fillRect/>
          </a:stretch>
        </p:blipFill>
        <p:spPr>
          <a:xfrm>
            <a:off x="8129588" y="3768328"/>
            <a:ext cx="150019" cy="150019"/>
          </a:xfrm>
          <a:prstGeom prst="rect">
            <a:avLst/>
          </a:prstGeom>
        </p:spPr>
      </p:pic>
      <p:sp>
        <p:nvSpPr>
          <p:cNvPr id="80" name="New shape"/>
          <p:cNvSpPr txBox="1"/>
          <p:nvPr/>
        </p:nvSpPr>
        <p:spPr>
          <a:xfrm>
            <a:off x="8351044"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12</a:t>
            </a:r>
          </a:p>
        </p:txBody>
      </p:sp>
      <p:pic>
        <p:nvPicPr>
          <p:cNvPr id="81" name="New picture"/>
          <p:cNvPicPr/>
          <p:nvPr/>
        </p:nvPicPr>
        <p:blipFill>
          <a:blip>
            <a:extLst>
              <a:ext uri="{96DAC541-7B7A-43D3-8B79-37D633B846F1}">
                <asvg:svgBlip xmlns:asvg="http://schemas.microsoft.com/office/drawing/2016/SVG/main" r:embed="rId5"/>
              </a:ext>
            </a:extLst>
          </a:blip>
          <a:stretch>
            <a:fillRect/>
          </a:stretch>
        </p:blipFill>
        <p:spPr>
          <a:xfrm>
            <a:off x="114300" y="4882753"/>
            <a:ext cx="150019" cy="150019"/>
          </a:xfrm>
          <a:prstGeom prst="rect">
            <a:avLst/>
          </a:prstGeom>
        </p:spPr>
      </p:pic>
      <p:sp>
        <p:nvSpPr>
          <p:cNvPr id="82" name="New shape"/>
          <p:cNvSpPr txBox="1"/>
          <p:nvPr/>
        </p:nvSpPr>
        <p:spPr>
          <a:xfrm>
            <a:off x="335756"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respondenten</a:t>
            </a:r>
          </a:p>
        </p:txBody>
      </p:sp>
      <p:sp>
        <p:nvSpPr>
          <p:cNvPr id="83"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11</a:t>
            </a:r>
          </a:p>
        </p:txBody>
      </p:sp>
      <p:sp>
        <p:nvSpPr>
          <p:cNvPr id="84"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85" name="New picture"/>
          <p:cNvPicPr/>
          <p:nvPr/>
        </p:nvPicPr>
        <p:blipFill>
          <a:blip>
            <a:extLst>
              <a:ext uri="{96DAC541-7B7A-43D3-8B79-37D633B846F1}">
                <asvg:svgBlip xmlns:asvg="http://schemas.microsoft.com/office/drawing/2016/SVG/main" r:embed="rId6"/>
              </a:ext>
            </a:extLst>
          </a:blip>
          <a:stretch>
            <a:fillRect/>
          </a:stretch>
        </p:blipFill>
        <p:spPr>
          <a:xfrm>
            <a:off x="8829675" y="147661"/>
            <a:ext cx="217884" cy="217884"/>
          </a:xfrm>
          <a:prstGeom prst="rect">
            <a:avLst/>
          </a:prstGeom>
        </p:spPr>
      </p:pic>
      <p:sp>
        <p:nvSpPr>
          <p:cNvPr id="86"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88" name="New shape"/>
          <p:cNvSpPr txBox="1"/>
          <p:nvPr/>
        </p:nvSpPr>
        <p:spPr>
          <a:xfrm flipV="1">
            <a:off x="0" y="0"/>
            <a:ext cx="125268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Belangrijke resultaten</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091690"/>
            <a:ext cx="6286500" cy="9601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Verdiep je in de thema's met de laagste scores</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7858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Verdeling van antwoorden</a:t>
            </a:r>
          </a:p>
        </p:txBody>
      </p:sp>
      <p:sp>
        <p:nvSpPr>
          <p:cNvPr id="3" name="New shape"/>
          <p:cNvSpPr/>
          <p:nvPr/>
        </p:nvSpPr>
        <p:spPr>
          <a:xfrm>
            <a:off x="0" y="1057275"/>
            <a:ext cx="9144000" cy="300038"/>
          </a:xfrm>
          <a:prstGeom prst="rect">
            <a:avLst/>
          </a:prstGeom>
          <a:solidFill>
            <a:srgbClr val="E0F6F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New shape"/>
          <p:cNvSpPr txBox="1"/>
          <p:nvPr/>
        </p:nvSpPr>
        <p:spPr>
          <a:xfrm>
            <a:off x="528638" y="1057275"/>
            <a:ext cx="760095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127000" rIns="0" bIns="0" rtlCol="0" anchor="ctr">
            <a:noAutofit/>
          </a:bodyPr>
          <a:lstStyle/>
          <a:p>
            <a:pPr algn="l">
              <a:lnSpc>
                <a:spcPct val="100000"/>
              </a:lnSpc>
            </a:pPr>
            <a:r>
              <a:rPr sz="900" b="1" i="0">
                <a:solidFill>
                  <a:srgbClr val="009CD4"/>
                </a:solidFill>
                <a:latin typeface="Poppins"/>
              </a:rPr>
              <a:t>Bevlogenheid</a:t>
            </a:r>
          </a:p>
        </p:txBody>
      </p:sp>
      <p:sp>
        <p:nvSpPr>
          <p:cNvPr id="5" name="New shape"/>
          <p:cNvSpPr txBox="1"/>
          <p:nvPr/>
        </p:nvSpPr>
        <p:spPr>
          <a:xfrm>
            <a:off x="528638" y="1580940"/>
            <a:ext cx="1463881"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Ik heb plezier in mijn werk</a:t>
            </a:r>
          </a:p>
        </p:txBody>
      </p:sp>
      <p:sp>
        <p:nvSpPr>
          <p:cNvPr id="6" name="New shape"/>
          <p:cNvSpPr/>
          <p:nvPr/>
        </p:nvSpPr>
        <p:spPr>
          <a:xfrm>
            <a:off x="5757862" y="1549051"/>
            <a:ext cx="1755648"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64%</a:t>
            </a:r>
          </a:p>
        </p:txBody>
      </p:sp>
      <p:sp>
        <p:nvSpPr>
          <p:cNvPr id="7" name="New shape"/>
          <p:cNvSpPr/>
          <p:nvPr/>
        </p:nvSpPr>
        <p:spPr>
          <a:xfrm>
            <a:off x="7527798" y="1549051"/>
            <a:ext cx="329184"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8" name="New shape"/>
          <p:cNvSpPr/>
          <p:nvPr/>
        </p:nvSpPr>
        <p:spPr>
          <a:xfrm>
            <a:off x="7871269" y="1549051"/>
            <a:ext cx="658368"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24%</a:t>
            </a:r>
          </a:p>
        </p:txBody>
      </p:sp>
      <p:sp>
        <p:nvSpPr>
          <p:cNvPr id="9" name="New shape"/>
          <p:cNvSpPr txBox="1"/>
          <p:nvPr/>
        </p:nvSpPr>
        <p:spPr>
          <a:xfrm>
            <a:off x="5729288" y="1416577"/>
            <a:ext cx="434515"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Mee eens</a:t>
            </a:r>
          </a:p>
        </p:txBody>
      </p:sp>
      <p:sp>
        <p:nvSpPr>
          <p:cNvPr id="10" name="New shape"/>
          <p:cNvSpPr txBox="1"/>
          <p:nvPr/>
        </p:nvSpPr>
        <p:spPr>
          <a:xfrm>
            <a:off x="8011461" y="1416577"/>
            <a:ext cx="546751"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Mee oneens</a:t>
            </a:r>
          </a:p>
        </p:txBody>
      </p:sp>
      <p:sp>
        <p:nvSpPr>
          <p:cNvPr id="11" name="New shape"/>
          <p:cNvSpPr/>
          <p:nvPr/>
        </p:nvSpPr>
        <p:spPr>
          <a:xfrm>
            <a:off x="528638" y="18216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2" name="New shape"/>
          <p:cNvSpPr txBox="1"/>
          <p:nvPr/>
        </p:nvSpPr>
        <p:spPr>
          <a:xfrm>
            <a:off x="528638" y="2038141"/>
            <a:ext cx="154244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Mijn werk geeft mij energie</a:t>
            </a:r>
          </a:p>
        </p:txBody>
      </p:sp>
      <p:sp>
        <p:nvSpPr>
          <p:cNvPr id="13" name="New shape"/>
          <p:cNvSpPr/>
          <p:nvPr/>
        </p:nvSpPr>
        <p:spPr>
          <a:xfrm>
            <a:off x="5757862" y="2006251"/>
            <a:ext cx="1975104"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14" name="New shape"/>
          <p:cNvSpPr/>
          <p:nvPr/>
        </p:nvSpPr>
        <p:spPr>
          <a:xfrm>
            <a:off x="7747254" y="2006251"/>
            <a:ext cx="329184"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15" name="New shape"/>
          <p:cNvSpPr/>
          <p:nvPr/>
        </p:nvSpPr>
        <p:spPr>
          <a:xfrm>
            <a:off x="8090725" y="2006251"/>
            <a:ext cx="438912"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16%</a:t>
            </a:r>
          </a:p>
        </p:txBody>
      </p:sp>
      <p:sp>
        <p:nvSpPr>
          <p:cNvPr id="16" name="New shape"/>
          <p:cNvSpPr txBox="1"/>
          <p:nvPr/>
        </p:nvSpPr>
        <p:spPr>
          <a:xfrm>
            <a:off x="5729288" y="1873777"/>
            <a:ext cx="434515"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Mee eens</a:t>
            </a:r>
          </a:p>
        </p:txBody>
      </p:sp>
      <p:sp>
        <p:nvSpPr>
          <p:cNvPr id="17" name="New shape"/>
          <p:cNvSpPr txBox="1"/>
          <p:nvPr/>
        </p:nvSpPr>
        <p:spPr>
          <a:xfrm>
            <a:off x="8011461" y="1873777"/>
            <a:ext cx="546751"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Mee oneens</a:t>
            </a:r>
          </a:p>
        </p:txBody>
      </p:sp>
      <p:sp>
        <p:nvSpPr>
          <p:cNvPr id="18" name="New shape"/>
          <p:cNvSpPr/>
          <p:nvPr/>
        </p:nvSpPr>
        <p:spPr>
          <a:xfrm>
            <a:off x="528638" y="22788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9" name="New shape"/>
          <p:cNvSpPr txBox="1"/>
          <p:nvPr/>
        </p:nvSpPr>
        <p:spPr>
          <a:xfrm>
            <a:off x="528638" y="2495357"/>
            <a:ext cx="1567737"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dirty="0">
                <a:solidFill>
                  <a:srgbClr val="192743"/>
                </a:solidFill>
                <a:latin typeface="Poppins"/>
              </a:rPr>
              <a:t>Ik ben trots op </a:t>
            </a:r>
            <a:r>
              <a:rPr lang="en-US" sz="900" b="0" i="0" dirty="0">
                <a:solidFill>
                  <a:srgbClr val="192743"/>
                </a:solidFill>
                <a:latin typeface="Poppins"/>
              </a:rPr>
              <a:t>Novanta B.V.</a:t>
            </a:r>
            <a:endParaRPr sz="900" b="0" i="0" dirty="0">
              <a:solidFill>
                <a:srgbClr val="192743"/>
              </a:solidFill>
              <a:latin typeface="Poppins"/>
            </a:endParaRPr>
          </a:p>
        </p:txBody>
      </p:sp>
      <p:sp>
        <p:nvSpPr>
          <p:cNvPr id="20" name="New shape"/>
          <p:cNvSpPr/>
          <p:nvPr/>
        </p:nvSpPr>
        <p:spPr>
          <a:xfrm>
            <a:off x="5757863" y="2463451"/>
            <a:ext cx="1892808"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69%</a:t>
            </a:r>
          </a:p>
        </p:txBody>
      </p:sp>
      <p:sp>
        <p:nvSpPr>
          <p:cNvPr id="21" name="New shape"/>
          <p:cNvSpPr/>
          <p:nvPr/>
        </p:nvSpPr>
        <p:spPr>
          <a:xfrm>
            <a:off x="7664958" y="2463451"/>
            <a:ext cx="246888"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9%</a:t>
            </a:r>
          </a:p>
        </p:txBody>
      </p:sp>
      <p:sp>
        <p:nvSpPr>
          <p:cNvPr id="22" name="New shape"/>
          <p:cNvSpPr/>
          <p:nvPr/>
        </p:nvSpPr>
        <p:spPr>
          <a:xfrm>
            <a:off x="7926133" y="2463451"/>
            <a:ext cx="603504"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22%</a:t>
            </a:r>
          </a:p>
        </p:txBody>
      </p:sp>
      <p:sp>
        <p:nvSpPr>
          <p:cNvPr id="23" name="New shape"/>
          <p:cNvSpPr txBox="1"/>
          <p:nvPr/>
        </p:nvSpPr>
        <p:spPr>
          <a:xfrm>
            <a:off x="5729288" y="2330977"/>
            <a:ext cx="434515"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Mee eens</a:t>
            </a:r>
          </a:p>
        </p:txBody>
      </p:sp>
      <p:sp>
        <p:nvSpPr>
          <p:cNvPr id="24" name="New shape"/>
          <p:cNvSpPr txBox="1"/>
          <p:nvPr/>
        </p:nvSpPr>
        <p:spPr>
          <a:xfrm>
            <a:off x="8011461" y="2330977"/>
            <a:ext cx="546751"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Mee oneens</a:t>
            </a:r>
          </a:p>
        </p:txBody>
      </p:sp>
      <p:sp>
        <p:nvSpPr>
          <p:cNvPr id="25" name="New shape"/>
          <p:cNvSpPr/>
          <p:nvPr/>
        </p:nvSpPr>
        <p:spPr>
          <a:xfrm>
            <a:off x="528638" y="27360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6" name="New shape"/>
          <p:cNvSpPr txBox="1"/>
          <p:nvPr/>
        </p:nvSpPr>
        <p:spPr>
          <a:xfrm>
            <a:off x="528638" y="2952557"/>
            <a:ext cx="2494273"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dirty="0">
                <a:solidFill>
                  <a:srgbClr val="192743"/>
                </a:solidFill>
                <a:latin typeface="Poppins"/>
              </a:rPr>
              <a:t>Ik </a:t>
            </a:r>
            <a:r>
              <a:rPr sz="900" b="0" i="0" dirty="0" err="1">
                <a:solidFill>
                  <a:srgbClr val="192743"/>
                </a:solidFill>
                <a:latin typeface="Poppins"/>
              </a:rPr>
              <a:t>heb</a:t>
            </a:r>
            <a:r>
              <a:rPr sz="900" b="0" i="0" dirty="0">
                <a:solidFill>
                  <a:srgbClr val="192743"/>
                </a:solidFill>
                <a:latin typeface="Poppins"/>
              </a:rPr>
              <a:t> het </a:t>
            </a:r>
            <a:r>
              <a:rPr sz="900" b="0" i="0" dirty="0" err="1">
                <a:solidFill>
                  <a:srgbClr val="192743"/>
                </a:solidFill>
                <a:latin typeface="Poppins"/>
              </a:rPr>
              <a:t>gevoel</a:t>
            </a:r>
            <a:r>
              <a:rPr sz="900" b="0" i="0" dirty="0">
                <a:solidFill>
                  <a:srgbClr val="192743"/>
                </a:solidFill>
                <a:latin typeface="Poppins"/>
              </a:rPr>
              <a:t> </a:t>
            </a:r>
            <a:r>
              <a:rPr sz="900" b="0" i="0" dirty="0" err="1">
                <a:solidFill>
                  <a:srgbClr val="192743"/>
                </a:solidFill>
                <a:latin typeface="Poppins"/>
              </a:rPr>
              <a:t>dat</a:t>
            </a:r>
            <a:r>
              <a:rPr sz="900" b="0" i="0" dirty="0">
                <a:solidFill>
                  <a:srgbClr val="192743"/>
                </a:solidFill>
                <a:latin typeface="Poppins"/>
              </a:rPr>
              <a:t> </a:t>
            </a:r>
            <a:r>
              <a:rPr sz="900" b="0" i="0" dirty="0" err="1">
                <a:solidFill>
                  <a:srgbClr val="192743"/>
                </a:solidFill>
                <a:latin typeface="Poppins"/>
              </a:rPr>
              <a:t>ik</a:t>
            </a:r>
            <a:r>
              <a:rPr sz="900" b="0" i="0" dirty="0">
                <a:solidFill>
                  <a:srgbClr val="192743"/>
                </a:solidFill>
                <a:latin typeface="Poppins"/>
              </a:rPr>
              <a:t> </a:t>
            </a:r>
            <a:r>
              <a:rPr sz="900" b="0" i="0" dirty="0" err="1">
                <a:solidFill>
                  <a:srgbClr val="192743"/>
                </a:solidFill>
                <a:latin typeface="Poppins"/>
              </a:rPr>
              <a:t>bij</a:t>
            </a:r>
            <a:r>
              <a:rPr sz="900" b="0" i="0" dirty="0">
                <a:solidFill>
                  <a:srgbClr val="192743"/>
                </a:solidFill>
                <a:latin typeface="Poppins"/>
              </a:rPr>
              <a:t> </a:t>
            </a:r>
            <a:r>
              <a:rPr lang="en-US" sz="900" b="0" i="0" dirty="0">
                <a:solidFill>
                  <a:srgbClr val="192743"/>
                </a:solidFill>
                <a:latin typeface="Poppins"/>
              </a:rPr>
              <a:t>Novanta B.V.</a:t>
            </a:r>
            <a:r>
              <a:rPr sz="900" b="0" i="0" dirty="0">
                <a:solidFill>
                  <a:srgbClr val="192743"/>
                </a:solidFill>
                <a:latin typeface="Poppins"/>
              </a:rPr>
              <a:t> pas</a:t>
            </a:r>
          </a:p>
        </p:txBody>
      </p:sp>
      <p:sp>
        <p:nvSpPr>
          <p:cNvPr id="27" name="New shape"/>
          <p:cNvSpPr/>
          <p:nvPr/>
        </p:nvSpPr>
        <p:spPr>
          <a:xfrm>
            <a:off x="5757862" y="2920651"/>
            <a:ext cx="2084832"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76%</a:t>
            </a:r>
          </a:p>
        </p:txBody>
      </p:sp>
      <p:sp>
        <p:nvSpPr>
          <p:cNvPr id="28" name="New shape"/>
          <p:cNvSpPr/>
          <p:nvPr/>
        </p:nvSpPr>
        <p:spPr>
          <a:xfrm>
            <a:off x="7856982" y="2920651"/>
            <a:ext cx="246888"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9%</a:t>
            </a:r>
          </a:p>
        </p:txBody>
      </p:sp>
      <p:sp>
        <p:nvSpPr>
          <p:cNvPr id="29" name="New shape"/>
          <p:cNvSpPr/>
          <p:nvPr/>
        </p:nvSpPr>
        <p:spPr>
          <a:xfrm>
            <a:off x="8118158" y="2920651"/>
            <a:ext cx="411480"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15%</a:t>
            </a:r>
          </a:p>
        </p:txBody>
      </p:sp>
      <p:sp>
        <p:nvSpPr>
          <p:cNvPr id="30" name="New shape"/>
          <p:cNvSpPr txBox="1"/>
          <p:nvPr/>
        </p:nvSpPr>
        <p:spPr>
          <a:xfrm>
            <a:off x="5729288" y="2788177"/>
            <a:ext cx="434515"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Mee eens</a:t>
            </a:r>
          </a:p>
        </p:txBody>
      </p:sp>
      <p:sp>
        <p:nvSpPr>
          <p:cNvPr id="31" name="New shape"/>
          <p:cNvSpPr txBox="1"/>
          <p:nvPr/>
        </p:nvSpPr>
        <p:spPr>
          <a:xfrm>
            <a:off x="8011461" y="2788177"/>
            <a:ext cx="546751"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Mee oneens</a:t>
            </a:r>
          </a:p>
        </p:txBody>
      </p:sp>
      <p:sp>
        <p:nvSpPr>
          <p:cNvPr id="32" name="New shape"/>
          <p:cNvSpPr/>
          <p:nvPr/>
        </p:nvSpPr>
        <p:spPr>
          <a:xfrm>
            <a:off x="528638" y="31932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3"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13</a:t>
            </a:r>
          </a:p>
        </p:txBody>
      </p:sp>
      <p:pic>
        <p:nvPicPr>
          <p:cNvPr id="3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36" name="New shape"/>
          <p:cNvSpPr txBox="1"/>
          <p:nvPr/>
        </p:nvSpPr>
        <p:spPr>
          <a:xfrm flipV="1">
            <a:off x="0" y="0"/>
            <a:ext cx="253698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Verdiep je in de thema's met de laagste scores</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14</a:t>
            </a:r>
          </a:p>
        </p:txBody>
      </p:sp>
      <p:pic>
        <p:nvPicPr>
          <p:cNvPr id="3"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txBox="1"/>
          <p:nvPr/>
        </p:nvSpPr>
        <p:spPr>
          <a:xfrm flipV="1">
            <a:off x="0" y="0"/>
            <a:ext cx="253698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Verdiep je in de thema's met de laagste scores</a:t>
            </a:r>
          </a:p>
        </p:txBody>
      </p:sp>
      <p:sp>
        <p:nvSpPr>
          <p:cNvPr id="6" name="New shape"/>
          <p:cNvSpPr txBox="1"/>
          <p:nvPr/>
        </p:nvSpPr>
        <p:spPr>
          <a:xfrm>
            <a:off x="457200" y="457200"/>
            <a:ext cx="7858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Verdeling van antwoorden</a:t>
            </a:r>
          </a:p>
        </p:txBody>
      </p:sp>
      <p:sp>
        <p:nvSpPr>
          <p:cNvPr id="7" name="New shape"/>
          <p:cNvSpPr/>
          <p:nvPr/>
        </p:nvSpPr>
        <p:spPr>
          <a:xfrm>
            <a:off x="0" y="1057275"/>
            <a:ext cx="9144000" cy="300038"/>
          </a:xfrm>
          <a:prstGeom prst="rect">
            <a:avLst/>
          </a:prstGeom>
          <a:solidFill>
            <a:srgbClr val="E0F6F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txBox="1"/>
          <p:nvPr/>
        </p:nvSpPr>
        <p:spPr>
          <a:xfrm>
            <a:off x="528638" y="1057275"/>
            <a:ext cx="760095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127000" rIns="0" bIns="0" rtlCol="0" anchor="ctr">
            <a:noAutofit/>
          </a:bodyPr>
          <a:lstStyle/>
          <a:p>
            <a:pPr algn="l">
              <a:lnSpc>
                <a:spcPct val="100000"/>
              </a:lnSpc>
            </a:pPr>
            <a:r>
              <a:rPr sz="900" b="1" i="0">
                <a:solidFill>
                  <a:srgbClr val="009CD4"/>
                </a:solidFill>
                <a:latin typeface="Poppins"/>
              </a:rPr>
              <a:t>Medewerkers faciliteren</a:t>
            </a:r>
          </a:p>
        </p:txBody>
      </p:sp>
      <p:sp>
        <p:nvSpPr>
          <p:cNvPr id="9" name="New shape"/>
          <p:cNvSpPr txBox="1"/>
          <p:nvPr/>
        </p:nvSpPr>
        <p:spPr>
          <a:xfrm>
            <a:off x="528638" y="1580940"/>
            <a:ext cx="3007932"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Mijn werkzaamheden sluiten aan bij wat ik goed kan</a:t>
            </a:r>
          </a:p>
        </p:txBody>
      </p:sp>
      <p:sp>
        <p:nvSpPr>
          <p:cNvPr id="10" name="New shape"/>
          <p:cNvSpPr/>
          <p:nvPr/>
        </p:nvSpPr>
        <p:spPr>
          <a:xfrm>
            <a:off x="5757862" y="1549051"/>
            <a:ext cx="2029968"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74%</a:t>
            </a:r>
          </a:p>
        </p:txBody>
      </p:sp>
      <p:sp>
        <p:nvSpPr>
          <p:cNvPr id="11" name="New shape"/>
          <p:cNvSpPr/>
          <p:nvPr/>
        </p:nvSpPr>
        <p:spPr>
          <a:xfrm>
            <a:off x="7802118" y="1549051"/>
            <a:ext cx="274320"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12" name="New shape"/>
          <p:cNvSpPr/>
          <p:nvPr/>
        </p:nvSpPr>
        <p:spPr>
          <a:xfrm>
            <a:off x="8090726" y="1549051"/>
            <a:ext cx="438912"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16%</a:t>
            </a:r>
          </a:p>
        </p:txBody>
      </p:sp>
      <p:sp>
        <p:nvSpPr>
          <p:cNvPr id="13" name="New shape"/>
          <p:cNvSpPr txBox="1"/>
          <p:nvPr/>
        </p:nvSpPr>
        <p:spPr>
          <a:xfrm>
            <a:off x="5729288" y="1416577"/>
            <a:ext cx="434515"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Mee eens</a:t>
            </a:r>
          </a:p>
        </p:txBody>
      </p:sp>
      <p:sp>
        <p:nvSpPr>
          <p:cNvPr id="14" name="New shape"/>
          <p:cNvSpPr txBox="1"/>
          <p:nvPr/>
        </p:nvSpPr>
        <p:spPr>
          <a:xfrm>
            <a:off x="8011461" y="1416577"/>
            <a:ext cx="546751"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Mee oneens</a:t>
            </a:r>
          </a:p>
        </p:txBody>
      </p:sp>
      <p:sp>
        <p:nvSpPr>
          <p:cNvPr id="15" name="New shape"/>
          <p:cNvSpPr/>
          <p:nvPr/>
        </p:nvSpPr>
        <p:spPr>
          <a:xfrm>
            <a:off x="528638" y="18216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6" name="New shape"/>
          <p:cNvSpPr txBox="1"/>
          <p:nvPr/>
        </p:nvSpPr>
        <p:spPr>
          <a:xfrm>
            <a:off x="528638" y="2038141"/>
            <a:ext cx="3009535"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Ik weet welke resultaten er van mij worden verwacht</a:t>
            </a:r>
          </a:p>
        </p:txBody>
      </p:sp>
      <p:sp>
        <p:nvSpPr>
          <p:cNvPr id="17" name="New shape"/>
          <p:cNvSpPr/>
          <p:nvPr/>
        </p:nvSpPr>
        <p:spPr>
          <a:xfrm>
            <a:off x="5757863" y="2006251"/>
            <a:ext cx="1810512"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66%</a:t>
            </a:r>
          </a:p>
        </p:txBody>
      </p:sp>
      <p:sp>
        <p:nvSpPr>
          <p:cNvPr id="18" name="New shape"/>
          <p:cNvSpPr/>
          <p:nvPr/>
        </p:nvSpPr>
        <p:spPr>
          <a:xfrm>
            <a:off x="7582661" y="2006251"/>
            <a:ext cx="411480"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15%</a:t>
            </a:r>
          </a:p>
        </p:txBody>
      </p:sp>
      <p:sp>
        <p:nvSpPr>
          <p:cNvPr id="19" name="New shape"/>
          <p:cNvSpPr/>
          <p:nvPr/>
        </p:nvSpPr>
        <p:spPr>
          <a:xfrm>
            <a:off x="8008429" y="2006251"/>
            <a:ext cx="521208"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19%</a:t>
            </a:r>
          </a:p>
        </p:txBody>
      </p:sp>
      <p:sp>
        <p:nvSpPr>
          <p:cNvPr id="20" name="New shape"/>
          <p:cNvSpPr txBox="1"/>
          <p:nvPr/>
        </p:nvSpPr>
        <p:spPr>
          <a:xfrm>
            <a:off x="5729288" y="1873777"/>
            <a:ext cx="434515"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Mee eens</a:t>
            </a:r>
          </a:p>
        </p:txBody>
      </p:sp>
      <p:sp>
        <p:nvSpPr>
          <p:cNvPr id="21" name="New shape"/>
          <p:cNvSpPr txBox="1"/>
          <p:nvPr/>
        </p:nvSpPr>
        <p:spPr>
          <a:xfrm>
            <a:off x="8011461" y="1873777"/>
            <a:ext cx="546751"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Mee oneens</a:t>
            </a:r>
          </a:p>
        </p:txBody>
      </p:sp>
      <p:sp>
        <p:nvSpPr>
          <p:cNvPr id="22" name="New shape"/>
          <p:cNvSpPr/>
          <p:nvPr/>
        </p:nvSpPr>
        <p:spPr>
          <a:xfrm>
            <a:off x="528638" y="22788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3" name="New shape"/>
          <p:cNvSpPr txBox="1"/>
          <p:nvPr/>
        </p:nvSpPr>
        <p:spPr>
          <a:xfrm>
            <a:off x="528638" y="2495341"/>
            <a:ext cx="3379915"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Ik krijg regelmatig nuttige feedback over mijn functioneren</a:t>
            </a:r>
          </a:p>
        </p:txBody>
      </p:sp>
      <p:sp>
        <p:nvSpPr>
          <p:cNvPr id="24" name="New shape"/>
          <p:cNvSpPr/>
          <p:nvPr/>
        </p:nvSpPr>
        <p:spPr>
          <a:xfrm>
            <a:off x="5757862" y="2463451"/>
            <a:ext cx="1975104"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25" name="New shape"/>
          <p:cNvSpPr/>
          <p:nvPr/>
        </p:nvSpPr>
        <p:spPr>
          <a:xfrm>
            <a:off x="7747254" y="2463451"/>
            <a:ext cx="301752"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11%</a:t>
            </a:r>
          </a:p>
        </p:txBody>
      </p:sp>
      <p:sp>
        <p:nvSpPr>
          <p:cNvPr id="26" name="New shape"/>
          <p:cNvSpPr/>
          <p:nvPr/>
        </p:nvSpPr>
        <p:spPr>
          <a:xfrm>
            <a:off x="8063293" y="2463451"/>
            <a:ext cx="466344"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17%</a:t>
            </a:r>
          </a:p>
        </p:txBody>
      </p:sp>
      <p:sp>
        <p:nvSpPr>
          <p:cNvPr id="27" name="New shape"/>
          <p:cNvSpPr txBox="1"/>
          <p:nvPr/>
        </p:nvSpPr>
        <p:spPr>
          <a:xfrm>
            <a:off x="5729288" y="2330977"/>
            <a:ext cx="434515"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Mee eens</a:t>
            </a:r>
          </a:p>
        </p:txBody>
      </p:sp>
      <p:sp>
        <p:nvSpPr>
          <p:cNvPr id="28" name="New shape"/>
          <p:cNvSpPr txBox="1"/>
          <p:nvPr/>
        </p:nvSpPr>
        <p:spPr>
          <a:xfrm>
            <a:off x="8011461" y="2330977"/>
            <a:ext cx="546751"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Mee oneens</a:t>
            </a:r>
          </a:p>
        </p:txBody>
      </p:sp>
      <p:sp>
        <p:nvSpPr>
          <p:cNvPr id="29" name="New shape"/>
          <p:cNvSpPr/>
          <p:nvPr/>
        </p:nvSpPr>
        <p:spPr>
          <a:xfrm>
            <a:off x="528638" y="27360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0" name="New shape"/>
          <p:cNvSpPr txBox="1"/>
          <p:nvPr/>
        </p:nvSpPr>
        <p:spPr>
          <a:xfrm>
            <a:off x="528638" y="2952557"/>
            <a:ext cx="2728311"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dirty="0">
                <a:solidFill>
                  <a:srgbClr val="192743"/>
                </a:solidFill>
                <a:latin typeface="Poppins"/>
              </a:rPr>
              <a:t>Binnen </a:t>
            </a:r>
            <a:r>
              <a:rPr lang="en-US" sz="900" b="0" i="0" dirty="0">
                <a:solidFill>
                  <a:srgbClr val="192743"/>
                </a:solidFill>
                <a:latin typeface="Poppins"/>
              </a:rPr>
              <a:t>Novanta B.V.</a:t>
            </a:r>
            <a:r>
              <a:rPr sz="900" b="0" i="0" dirty="0">
                <a:solidFill>
                  <a:srgbClr val="192743"/>
                </a:solidFill>
                <a:latin typeface="Poppins"/>
              </a:rPr>
              <a:t> </a:t>
            </a:r>
            <a:r>
              <a:rPr sz="900" b="0" i="0" dirty="0" err="1">
                <a:solidFill>
                  <a:srgbClr val="192743"/>
                </a:solidFill>
                <a:latin typeface="Poppins"/>
              </a:rPr>
              <a:t>worden</a:t>
            </a:r>
            <a:r>
              <a:rPr sz="900" b="0" i="0" dirty="0">
                <a:solidFill>
                  <a:srgbClr val="192743"/>
                </a:solidFill>
                <a:latin typeface="Poppins"/>
              </a:rPr>
              <a:t> </a:t>
            </a:r>
            <a:r>
              <a:rPr sz="900" b="0" i="0" dirty="0" err="1">
                <a:solidFill>
                  <a:srgbClr val="192743"/>
                </a:solidFill>
                <a:latin typeface="Poppins"/>
              </a:rPr>
              <a:t>prestaties</a:t>
            </a:r>
            <a:r>
              <a:rPr sz="900" b="0" i="0" dirty="0">
                <a:solidFill>
                  <a:srgbClr val="192743"/>
                </a:solidFill>
                <a:latin typeface="Poppins"/>
              </a:rPr>
              <a:t> </a:t>
            </a:r>
            <a:r>
              <a:rPr sz="900" b="0" i="0" dirty="0" err="1">
                <a:solidFill>
                  <a:srgbClr val="192743"/>
                </a:solidFill>
                <a:latin typeface="Poppins"/>
              </a:rPr>
              <a:t>beloond</a:t>
            </a:r>
            <a:endParaRPr sz="900" b="0" i="0" dirty="0">
              <a:solidFill>
                <a:srgbClr val="192743"/>
              </a:solidFill>
              <a:latin typeface="Poppins"/>
            </a:endParaRPr>
          </a:p>
        </p:txBody>
      </p:sp>
      <p:sp>
        <p:nvSpPr>
          <p:cNvPr id="31" name="New shape"/>
          <p:cNvSpPr/>
          <p:nvPr/>
        </p:nvSpPr>
        <p:spPr>
          <a:xfrm>
            <a:off x="5757862" y="2920651"/>
            <a:ext cx="1947672"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71%</a:t>
            </a:r>
          </a:p>
        </p:txBody>
      </p:sp>
      <p:sp>
        <p:nvSpPr>
          <p:cNvPr id="32" name="New shape"/>
          <p:cNvSpPr/>
          <p:nvPr/>
        </p:nvSpPr>
        <p:spPr>
          <a:xfrm>
            <a:off x="7719822" y="2920651"/>
            <a:ext cx="274320"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33" name="New shape"/>
          <p:cNvSpPr/>
          <p:nvPr/>
        </p:nvSpPr>
        <p:spPr>
          <a:xfrm>
            <a:off x="8008430" y="2920651"/>
            <a:ext cx="521208"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19%</a:t>
            </a:r>
          </a:p>
        </p:txBody>
      </p:sp>
      <p:sp>
        <p:nvSpPr>
          <p:cNvPr id="34" name="New shape"/>
          <p:cNvSpPr txBox="1"/>
          <p:nvPr/>
        </p:nvSpPr>
        <p:spPr>
          <a:xfrm>
            <a:off x="5729288" y="2788177"/>
            <a:ext cx="434515"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Mee eens</a:t>
            </a:r>
          </a:p>
        </p:txBody>
      </p:sp>
      <p:sp>
        <p:nvSpPr>
          <p:cNvPr id="35" name="New shape"/>
          <p:cNvSpPr txBox="1"/>
          <p:nvPr/>
        </p:nvSpPr>
        <p:spPr>
          <a:xfrm>
            <a:off x="8011461" y="2788177"/>
            <a:ext cx="546751"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Mee oneens</a:t>
            </a:r>
          </a:p>
        </p:txBody>
      </p:sp>
      <p:sp>
        <p:nvSpPr>
          <p:cNvPr id="36" name="New shape"/>
          <p:cNvSpPr/>
          <p:nvPr/>
        </p:nvSpPr>
        <p:spPr>
          <a:xfrm>
            <a:off x="528638" y="31932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7" name="New shape"/>
          <p:cNvSpPr txBox="1"/>
          <p:nvPr/>
        </p:nvSpPr>
        <p:spPr>
          <a:xfrm>
            <a:off x="528638" y="3409741"/>
            <a:ext cx="3237214"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Wanneer ik het goed doe, word ik hiervoor gewaardeerd</a:t>
            </a:r>
          </a:p>
        </p:txBody>
      </p:sp>
      <p:sp>
        <p:nvSpPr>
          <p:cNvPr id="38" name="New shape"/>
          <p:cNvSpPr/>
          <p:nvPr/>
        </p:nvSpPr>
        <p:spPr>
          <a:xfrm>
            <a:off x="5757862" y="3377851"/>
            <a:ext cx="1920240"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70%</a:t>
            </a:r>
          </a:p>
        </p:txBody>
      </p:sp>
      <p:sp>
        <p:nvSpPr>
          <p:cNvPr id="39" name="New shape"/>
          <p:cNvSpPr/>
          <p:nvPr/>
        </p:nvSpPr>
        <p:spPr>
          <a:xfrm>
            <a:off x="7692390" y="3377851"/>
            <a:ext cx="274320"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40" name="New shape"/>
          <p:cNvSpPr/>
          <p:nvPr/>
        </p:nvSpPr>
        <p:spPr>
          <a:xfrm>
            <a:off x="7980998" y="3377851"/>
            <a:ext cx="548640"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20%</a:t>
            </a:r>
          </a:p>
        </p:txBody>
      </p:sp>
      <p:sp>
        <p:nvSpPr>
          <p:cNvPr id="41" name="New shape"/>
          <p:cNvSpPr txBox="1"/>
          <p:nvPr/>
        </p:nvSpPr>
        <p:spPr>
          <a:xfrm>
            <a:off x="5729288" y="3245377"/>
            <a:ext cx="434515"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Mee eens</a:t>
            </a:r>
          </a:p>
        </p:txBody>
      </p:sp>
      <p:sp>
        <p:nvSpPr>
          <p:cNvPr id="42" name="New shape"/>
          <p:cNvSpPr txBox="1"/>
          <p:nvPr/>
        </p:nvSpPr>
        <p:spPr>
          <a:xfrm>
            <a:off x="8011461" y="3245377"/>
            <a:ext cx="546751"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Mee oneens</a:t>
            </a:r>
          </a:p>
        </p:txBody>
      </p:sp>
      <p:sp>
        <p:nvSpPr>
          <p:cNvPr id="43" name="New shape"/>
          <p:cNvSpPr/>
          <p:nvPr/>
        </p:nvSpPr>
        <p:spPr>
          <a:xfrm>
            <a:off x="528638" y="36504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331720"/>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Het lezen van de resultaten</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t">
            <a:spAutoFit/>
          </a:bodyPr>
          <a:lstStyle/>
          <a:p>
            <a:pPr algn="l">
              <a:lnSpc>
                <a:spcPct val="100000"/>
              </a:lnSpc>
            </a:pPr>
            <a:r>
              <a:rPr sz="2250" b="1" i="0">
                <a:solidFill>
                  <a:srgbClr val="192743"/>
                </a:solidFill>
                <a:latin typeface="Poppins"/>
              </a:rPr>
              <a:t>Een korte gids:</a:t>
            </a:r>
            <a:r>
              <a:rPr sz="2250" b="1" i="0">
                <a:solidFill>
                  <a:srgbClr val="30B3AF"/>
                </a:solidFill>
                <a:latin typeface="Poppins"/>
              </a:rPr>
              <a:t> De resultaten aflezen</a:t>
            </a:r>
          </a:p>
        </p:txBody>
      </p:sp>
      <p:sp>
        <p:nvSpPr>
          <p:cNvPr id="3" name="New shape"/>
          <p:cNvSpPr txBox="1"/>
          <p:nvPr/>
        </p:nvSpPr>
        <p:spPr>
          <a:xfrm>
            <a:off x="457200" y="857250"/>
            <a:ext cx="82296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125" b="0" i="0">
                <a:solidFill>
                  <a:srgbClr val="192743"/>
                </a:solidFill>
                <a:latin typeface="Poppins"/>
              </a:rPr>
              <a:t>Vergeleken items en scoreberekening</a:t>
            </a:r>
          </a:p>
        </p:txBody>
      </p:sp>
      <p:sp>
        <p:nvSpPr>
          <p:cNvPr id="4" name="New shape"/>
          <p:cNvSpPr txBox="1"/>
          <p:nvPr/>
        </p:nvSpPr>
        <p:spPr>
          <a:xfrm>
            <a:off x="457200" y="1343025"/>
            <a:ext cx="3714750" cy="2286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1125" b="1" i="0">
                <a:solidFill>
                  <a:srgbClr val="192743"/>
                </a:solidFill>
                <a:latin typeface="Poppins"/>
              </a:rPr>
              <a:t>Top 2 Box score of de score 'Ja'</a:t>
            </a:r>
          </a:p>
        </p:txBody>
      </p:sp>
      <p:sp>
        <p:nvSpPr>
          <p:cNvPr id="5" name="New shape"/>
          <p:cNvSpPr txBox="1"/>
          <p:nvPr/>
        </p:nvSpPr>
        <p:spPr>
          <a:xfrm>
            <a:off x="457200" y="1628775"/>
            <a:ext cx="3714750" cy="36004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Bij een berekening op basis van de Top 2 Box score worden voor de totaalscore per vraag de percentages gecombineerd van deelnemers die 'Helemaal mee eens' of 'Mee eens' hebben geselecteerd.</a:t>
            </a:r>
          </a:p>
        </p:txBody>
      </p:sp>
      <p:graphicFrame>
        <p:nvGraphicFramePr>
          <p:cNvPr id="6" name="New Table"/>
          <p:cNvGraphicFramePr>
            <a:graphicFrameLocks noGrp="1"/>
          </p:cNvGraphicFramePr>
          <p:nvPr/>
        </p:nvGraphicFramePr>
        <p:xfrm>
          <a:off x="457200" y="2160270"/>
          <a:ext cx="3707606" cy="1543050"/>
        </p:xfrm>
        <a:graphic>
          <a:graphicData uri="http://schemas.openxmlformats.org/drawingml/2006/table">
            <a:tbl>
              <a:tblPr bandRow="1">
                <a:tableStyleId>{5C22544A-7EE6-4342-B048-85BDC9FD1C3A}</a:tableStyleId>
              </a:tblPr>
              <a:tblGrid>
                <a:gridCol w="2135981">
                  <a:extLst>
                    <a:ext uri="{9D8B030D-6E8A-4147-A177-3AD203B41FA5}">
                      <a16:colId xmlns:a16="http://schemas.microsoft.com/office/drawing/2014/main" val="20000"/>
                    </a:ext>
                  </a:extLst>
                </a:gridCol>
                <a:gridCol w="1571625">
                  <a:extLst>
                    <a:ext uri="{9D8B030D-6E8A-4147-A177-3AD203B41FA5}">
                      <a16:colId xmlns:a16="http://schemas.microsoft.com/office/drawing/2014/main" val="20001"/>
                    </a:ext>
                  </a:extLst>
                </a:gridCol>
              </a:tblGrid>
              <a:tr h="257175">
                <a:tc>
                  <a:txBody>
                    <a:bodyPr/>
                    <a:lstStyle/>
                    <a:p>
                      <a:pPr algn="l"/>
                      <a:r>
                        <a:rPr sz="788" b="1" i="0">
                          <a:solidFill>
                            <a:srgbClr val="192743"/>
                          </a:solidFill>
                          <a:latin typeface="Poppins"/>
                        </a:rPr>
                        <a:t>Mogelijke antwoorden</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l"/>
                      <a:r>
                        <a:rPr sz="788" b="1" i="0">
                          <a:solidFill>
                            <a:srgbClr val="192743"/>
                          </a:solidFill>
                          <a:latin typeface="Poppins"/>
                        </a:rPr>
                        <a:t>Procentuele verdeling</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0"/>
                  </a:ext>
                </a:extLst>
              </a:tr>
              <a:tr h="257175">
                <a:tc>
                  <a:txBody>
                    <a:bodyPr/>
                    <a:lstStyle/>
                    <a:p>
                      <a:pPr algn="l"/>
                      <a:r>
                        <a:rPr sz="788" b="1" i="0">
                          <a:solidFill>
                            <a:srgbClr val="30B3AF"/>
                          </a:solidFill>
                          <a:latin typeface="Poppins"/>
                        </a:rPr>
                        <a:t>Helemaal mee 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rowSpan="2">
                  <a:txBody>
                    <a:bodyPr/>
                    <a:lstStyle/>
                    <a:p>
                      <a:pPr algn="ctr"/>
                      <a:r>
                        <a:rPr sz="788" b="1" i="0">
                          <a:solidFill>
                            <a:srgbClr val="30B3AF"/>
                          </a:solidFill>
                          <a:latin typeface="Poppins"/>
                        </a:rPr>
                        <a:t>Ja %</a:t>
                      </a:r>
                    </a:p>
                    <a:p>
                      <a:pPr algn="ctr"/>
                      <a:r>
                        <a:rPr sz="788" b="1" i="0">
                          <a:solidFill>
                            <a:srgbClr val="30B3AF"/>
                          </a:solidFill>
                          <a:latin typeface="Poppins"/>
                        </a:rPr>
                        <a:t>Top 2 Box score</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extLst>
                  <a:ext uri="{0D108BD9-81ED-4DB2-BD59-A6C34878D82A}">
                    <a16:rowId xmlns:a16="http://schemas.microsoft.com/office/drawing/2014/main" val="10001"/>
                  </a:ext>
                </a:extLst>
              </a:tr>
              <a:tr h="257175">
                <a:tc>
                  <a:txBody>
                    <a:bodyPr/>
                    <a:lstStyle/>
                    <a:p>
                      <a:pPr algn="l"/>
                      <a:r>
                        <a:rPr sz="788" b="1" i="0">
                          <a:solidFill>
                            <a:srgbClr val="30B3AF"/>
                          </a:solidFill>
                          <a:latin typeface="Poppins"/>
                        </a:rPr>
                        <a:t>Mee 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vMerge="1">
                  <a:txBody>
                    <a:bodyPr/>
                    <a:lstStyle/>
                    <a:p>
                      <a:pPr algn="ctr"/>
                      <a:endParaRPr sz="788" b="1" i="0">
                        <a:solidFill>
                          <a:srgbClr val="30B3AF"/>
                        </a:solidFill>
                        <a:latin typeface="Poppins"/>
                      </a:endParaRP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extLst>
                  <a:ext uri="{0D108BD9-81ED-4DB2-BD59-A6C34878D82A}">
                    <a16:rowId xmlns:a16="http://schemas.microsoft.com/office/drawing/2014/main" val="10002"/>
                  </a:ext>
                </a:extLst>
              </a:tr>
              <a:tr h="257175">
                <a:tc>
                  <a:txBody>
                    <a:bodyPr/>
                    <a:lstStyle/>
                    <a:p>
                      <a:pPr algn="l"/>
                      <a:r>
                        <a:rPr sz="788" b="0" i="0">
                          <a:solidFill>
                            <a:srgbClr val="192743"/>
                          </a:solidFill>
                          <a:latin typeface="Poppins"/>
                        </a:rPr>
                        <a:t>Niet mee eens/ niet mee oneens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788" b="0" i="0">
                          <a:solidFill>
                            <a:srgbClr val="192743"/>
                          </a:solidFill>
                          <a:latin typeface="Poppins"/>
                        </a:rPr>
                        <a:t>Percentage neutraal</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9FAFB"/>
                    </a:solidFill>
                  </a:tcPr>
                </a:tc>
                <a:extLst>
                  <a:ext uri="{0D108BD9-81ED-4DB2-BD59-A6C34878D82A}">
                    <a16:rowId xmlns:a16="http://schemas.microsoft.com/office/drawing/2014/main" val="10003"/>
                  </a:ext>
                </a:extLst>
              </a:tr>
              <a:tr h="257175">
                <a:tc>
                  <a:txBody>
                    <a:bodyPr/>
                    <a:lstStyle/>
                    <a:p>
                      <a:pPr algn="l"/>
                      <a:r>
                        <a:rPr sz="788" b="0" i="0">
                          <a:solidFill>
                            <a:srgbClr val="192743"/>
                          </a:solidFill>
                          <a:latin typeface="Poppins"/>
                        </a:rPr>
                        <a:t>Mee oneens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rowSpan="2">
                  <a:txBody>
                    <a:bodyPr/>
                    <a:lstStyle/>
                    <a:p>
                      <a:pPr algn="ctr"/>
                      <a:r>
                        <a:rPr sz="788" b="0" i="0">
                          <a:solidFill>
                            <a:srgbClr val="192743"/>
                          </a:solidFill>
                          <a:latin typeface="Poppins"/>
                        </a:rPr>
                        <a:t>Nee %</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4"/>
                  </a:ext>
                </a:extLst>
              </a:tr>
              <a:tr h="257175">
                <a:tc>
                  <a:txBody>
                    <a:bodyPr/>
                    <a:lstStyle/>
                    <a:p>
                      <a:pPr algn="l"/>
                      <a:r>
                        <a:rPr sz="788" b="0" i="0">
                          <a:solidFill>
                            <a:srgbClr val="192743"/>
                          </a:solidFill>
                          <a:latin typeface="Poppins"/>
                        </a:rPr>
                        <a:t>Helemaal mee oneens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vMerge="1">
                  <a:txBody>
                    <a:bodyPr/>
                    <a:lstStyle/>
                    <a:p>
                      <a:pPr algn="ctr"/>
                      <a:endParaRPr sz="788" b="0" i="0">
                        <a:solidFill>
                          <a:srgbClr val="192743"/>
                        </a:solidFill>
                        <a:latin typeface="Poppins"/>
                      </a:endParaRP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5"/>
                  </a:ext>
                </a:extLst>
              </a:tr>
            </a:tbl>
          </a:graphicData>
        </a:graphic>
      </p:graphicFrame>
      <p:sp>
        <p:nvSpPr>
          <p:cNvPr id="7" name="New shape"/>
          <p:cNvSpPr txBox="1"/>
          <p:nvPr/>
        </p:nvSpPr>
        <p:spPr>
          <a:xfrm>
            <a:off x="4972050" y="1343025"/>
            <a:ext cx="371475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92743"/>
                </a:solidFill>
                <a:latin typeface="Poppins"/>
              </a:rPr>
              <a:t>Voorbeeld van vraagscore</a:t>
            </a:r>
          </a:p>
        </p:txBody>
      </p:sp>
      <p:graphicFrame>
        <p:nvGraphicFramePr>
          <p:cNvPr id="8" name="New Table"/>
          <p:cNvGraphicFramePr>
            <a:graphicFrameLocks noGrp="1"/>
          </p:cNvGraphicFramePr>
          <p:nvPr/>
        </p:nvGraphicFramePr>
        <p:xfrm>
          <a:off x="4972050" y="1543050"/>
          <a:ext cx="3707606" cy="1028700"/>
        </p:xfrm>
        <a:graphic>
          <a:graphicData uri="http://schemas.openxmlformats.org/drawingml/2006/table">
            <a:tbl>
              <a:tblPr bandRow="1">
                <a:tableStyleId>{5C22544A-7EE6-4342-B048-85BDC9FD1C3A}</a:tableStyleId>
              </a:tblPr>
              <a:tblGrid>
                <a:gridCol w="2150269">
                  <a:extLst>
                    <a:ext uri="{9D8B030D-6E8A-4147-A177-3AD203B41FA5}">
                      <a16:colId xmlns:a16="http://schemas.microsoft.com/office/drawing/2014/main" val="20000"/>
                    </a:ext>
                  </a:extLst>
                </a:gridCol>
                <a:gridCol w="1557338">
                  <a:extLst>
                    <a:ext uri="{9D8B030D-6E8A-4147-A177-3AD203B41FA5}">
                      <a16:colId xmlns:a16="http://schemas.microsoft.com/office/drawing/2014/main" val="20001"/>
                    </a:ext>
                  </a:extLst>
                </a:gridCol>
              </a:tblGrid>
              <a:tr h="257175">
                <a:tc>
                  <a:txBody>
                    <a:bodyPr/>
                    <a:lstStyle/>
                    <a:p>
                      <a:pPr algn="l"/>
                      <a:r>
                        <a:rPr sz="788" b="0" i="0">
                          <a:solidFill>
                            <a:srgbClr val="192743"/>
                          </a:solidFill>
                          <a:latin typeface="Poppins"/>
                        </a:rPr>
                        <a:t>Deelnemer 1</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Mee 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0"/>
                  </a:ext>
                </a:extLst>
              </a:tr>
              <a:tr h="257175">
                <a:tc>
                  <a:txBody>
                    <a:bodyPr/>
                    <a:lstStyle/>
                    <a:p>
                      <a:pPr algn="l"/>
                      <a:r>
                        <a:rPr sz="788" b="0" i="0">
                          <a:solidFill>
                            <a:srgbClr val="192743"/>
                          </a:solidFill>
                          <a:latin typeface="Poppins"/>
                        </a:rPr>
                        <a:t>Deelnemer 2</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Helemaal mee 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1"/>
                  </a:ext>
                </a:extLst>
              </a:tr>
              <a:tr h="257175">
                <a:tc>
                  <a:txBody>
                    <a:bodyPr/>
                    <a:lstStyle/>
                    <a:p>
                      <a:pPr algn="l"/>
                      <a:r>
                        <a:rPr sz="788" b="0" i="0">
                          <a:solidFill>
                            <a:srgbClr val="192743"/>
                          </a:solidFill>
                          <a:latin typeface="Poppins"/>
                        </a:rPr>
                        <a:t>Deelnemer 3</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Mee oneens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2"/>
                  </a:ext>
                </a:extLst>
              </a:tr>
              <a:tr h="257175">
                <a:tc>
                  <a:txBody>
                    <a:bodyPr/>
                    <a:lstStyle/>
                    <a:p>
                      <a:pPr algn="l"/>
                      <a:r>
                        <a:rPr sz="788" b="0" i="0">
                          <a:solidFill>
                            <a:srgbClr val="192743"/>
                          </a:solidFill>
                          <a:latin typeface="Poppins"/>
                        </a:rPr>
                        <a:t>Ja %</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a:txBody>
                    <a:bodyPr/>
                    <a:lstStyle/>
                    <a:p>
                      <a:pPr algn="ctr"/>
                      <a:r>
                        <a:rPr sz="788" b="1" i="0">
                          <a:solidFill>
                            <a:srgbClr val="30B3AF"/>
                          </a:solidFill>
                          <a:latin typeface="Poppins"/>
                        </a:rPr>
                        <a:t>2 van de 3 = 67%</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extLst>
                  <a:ext uri="{0D108BD9-81ED-4DB2-BD59-A6C34878D82A}">
                    <a16:rowId xmlns:a16="http://schemas.microsoft.com/office/drawing/2014/main" val="10003"/>
                  </a:ext>
                </a:extLst>
              </a:tr>
            </a:tbl>
          </a:graphicData>
        </a:graphic>
      </p:graphicFrame>
      <p:sp>
        <p:nvSpPr>
          <p:cNvPr id="9" name="New shape"/>
          <p:cNvSpPr txBox="1"/>
          <p:nvPr/>
        </p:nvSpPr>
        <p:spPr>
          <a:xfrm>
            <a:off x="4972050" y="2743200"/>
            <a:ext cx="371475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92743"/>
                </a:solidFill>
                <a:latin typeface="Poppins"/>
              </a:rPr>
              <a:t>Voorbeeld van themascore</a:t>
            </a:r>
          </a:p>
        </p:txBody>
      </p:sp>
      <p:sp>
        <p:nvSpPr>
          <p:cNvPr id="10" name="New shape"/>
          <p:cNvSpPr txBox="1"/>
          <p:nvPr/>
        </p:nvSpPr>
        <p:spPr>
          <a:xfrm>
            <a:off x="4972050" y="2943225"/>
            <a:ext cx="3714750"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Het percentage mensen dat op alle topicvragen heeft gereageerd met 'Mee eens' of 'Helemaal mee eens'.</a:t>
            </a:r>
          </a:p>
        </p:txBody>
      </p:sp>
      <p:graphicFrame>
        <p:nvGraphicFramePr>
          <p:cNvPr id="11" name="New Table"/>
          <p:cNvGraphicFramePr>
            <a:graphicFrameLocks noGrp="1"/>
          </p:cNvGraphicFramePr>
          <p:nvPr/>
        </p:nvGraphicFramePr>
        <p:xfrm>
          <a:off x="4972050" y="3268980"/>
          <a:ext cx="3707606" cy="1028700"/>
        </p:xfrm>
        <a:graphic>
          <a:graphicData uri="http://schemas.openxmlformats.org/drawingml/2006/table">
            <a:tbl>
              <a:tblPr bandRow="1">
                <a:tableStyleId>{5C22544A-7EE6-4342-B048-85BDC9FD1C3A}</a:tableStyleId>
              </a:tblPr>
              <a:tblGrid>
                <a:gridCol w="2157412">
                  <a:extLst>
                    <a:ext uri="{9D8B030D-6E8A-4147-A177-3AD203B41FA5}">
                      <a16:colId xmlns:a16="http://schemas.microsoft.com/office/drawing/2014/main" val="20000"/>
                    </a:ext>
                  </a:extLst>
                </a:gridCol>
                <a:gridCol w="775097">
                  <a:extLst>
                    <a:ext uri="{9D8B030D-6E8A-4147-A177-3AD203B41FA5}">
                      <a16:colId xmlns:a16="http://schemas.microsoft.com/office/drawing/2014/main" val="20001"/>
                    </a:ext>
                  </a:extLst>
                </a:gridCol>
                <a:gridCol w="775097">
                  <a:extLst>
                    <a:ext uri="{9D8B030D-6E8A-4147-A177-3AD203B41FA5}">
                      <a16:colId xmlns:a16="http://schemas.microsoft.com/office/drawing/2014/main" val="20002"/>
                    </a:ext>
                  </a:extLst>
                </a:gridCol>
              </a:tblGrid>
              <a:tr h="257175">
                <a:tc>
                  <a:txBody>
                    <a:bodyPr/>
                    <a:lstStyle/>
                    <a:p>
                      <a:pPr algn="l"/>
                      <a:r>
                        <a:rPr sz="788" b="0" i="0">
                          <a:solidFill>
                            <a:srgbClr val="192743"/>
                          </a:solidFill>
                          <a:latin typeface="Poppins"/>
                        </a:rPr>
                        <a:t>Deelnemers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1</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2</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0"/>
                  </a:ext>
                </a:extLst>
              </a:tr>
              <a:tr h="257175">
                <a:tc>
                  <a:txBody>
                    <a:bodyPr/>
                    <a:lstStyle/>
                    <a:p>
                      <a:pPr algn="l"/>
                      <a:r>
                        <a:rPr sz="788" b="0" i="0">
                          <a:solidFill>
                            <a:srgbClr val="192743"/>
                          </a:solidFill>
                          <a:latin typeface="Poppins"/>
                        </a:rPr>
                        <a:t>Themavraag 1</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Mee 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Mee 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1"/>
                  </a:ext>
                </a:extLst>
              </a:tr>
              <a:tr h="257175">
                <a:tc>
                  <a:txBody>
                    <a:bodyPr/>
                    <a:lstStyle/>
                    <a:p>
                      <a:pPr algn="l"/>
                      <a:r>
                        <a:rPr sz="788" b="0" i="0">
                          <a:solidFill>
                            <a:srgbClr val="192743"/>
                          </a:solidFill>
                          <a:latin typeface="Poppins"/>
                        </a:rPr>
                        <a:t>Themavraag 2</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Mee oneens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Mee 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2"/>
                  </a:ext>
                </a:extLst>
              </a:tr>
              <a:tr h="257175">
                <a:tc>
                  <a:txBody>
                    <a:bodyPr/>
                    <a:lstStyle/>
                    <a:p>
                      <a:pPr algn="l"/>
                      <a:r>
                        <a:rPr sz="788" b="0" i="0">
                          <a:solidFill>
                            <a:srgbClr val="192743"/>
                          </a:solidFill>
                          <a:latin typeface="Poppins"/>
                        </a:rPr>
                        <a:t>Ja %</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gridSpan="2">
                  <a:txBody>
                    <a:bodyPr/>
                    <a:lstStyle/>
                    <a:p>
                      <a:pPr algn="ctr"/>
                      <a:r>
                        <a:rPr sz="788" b="1" i="0">
                          <a:solidFill>
                            <a:srgbClr val="30B3AF"/>
                          </a:solidFill>
                          <a:latin typeface="Poppins"/>
                        </a:rPr>
                        <a:t>3 van de 4 = 75%</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hMerge="1">
                  <a:txBody>
                    <a:bodyPr/>
                    <a:lstStyle/>
                    <a:p>
                      <a:pPr algn="ctr"/>
                      <a:endParaRPr sz="788" b="1" i="0">
                        <a:solidFill>
                          <a:srgbClr val="30B3AF"/>
                        </a:solidFill>
                        <a:latin typeface="Poppins"/>
                      </a:endParaRP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3"/>
                  </a:ext>
                </a:extLst>
              </a:tr>
            </a:tbl>
          </a:graphicData>
        </a:graphic>
      </p:graphicFrame>
      <p:sp>
        <p:nvSpPr>
          <p:cNvPr id="12" name="New shape"/>
          <p:cNvSpPr/>
          <p:nvPr/>
        </p:nvSpPr>
        <p:spPr>
          <a:xfrm flipH="1">
            <a:off x="4572000" y="1343025"/>
            <a:ext cx="0" cy="2954655"/>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3"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16</a:t>
            </a:r>
          </a:p>
        </p:txBody>
      </p:sp>
      <p:pic>
        <p:nvPicPr>
          <p:cNvPr id="1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16" name="New shape"/>
          <p:cNvSpPr txBox="1"/>
          <p:nvPr/>
        </p:nvSpPr>
        <p:spPr>
          <a:xfrm flipV="1">
            <a:off x="0" y="0"/>
            <a:ext cx="153327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Het lezen van de resultaten</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t">
            <a:spAutoFit/>
          </a:bodyPr>
          <a:lstStyle/>
          <a:p>
            <a:pPr algn="l">
              <a:lnSpc>
                <a:spcPct val="100000"/>
              </a:lnSpc>
            </a:pPr>
            <a:r>
              <a:rPr sz="2250" b="1" i="0">
                <a:solidFill>
                  <a:srgbClr val="192743"/>
                </a:solidFill>
                <a:latin typeface="Poppins"/>
              </a:rPr>
              <a:t>Een korte gids:</a:t>
            </a:r>
            <a:r>
              <a:rPr sz="2250" b="1" i="0">
                <a:solidFill>
                  <a:srgbClr val="30B3AF"/>
                </a:solidFill>
                <a:latin typeface="Poppins"/>
              </a:rPr>
              <a:t> De resultaten aflezen</a:t>
            </a:r>
          </a:p>
        </p:txBody>
      </p:sp>
      <p:sp>
        <p:nvSpPr>
          <p:cNvPr id="3" name="New shape"/>
          <p:cNvSpPr txBox="1"/>
          <p:nvPr/>
        </p:nvSpPr>
        <p:spPr>
          <a:xfrm>
            <a:off x="457200" y="857250"/>
            <a:ext cx="428625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Verschillen in scores en hoe de resultaten worden vergeleken</a:t>
            </a:r>
          </a:p>
        </p:txBody>
      </p:sp>
      <p:sp>
        <p:nvSpPr>
          <p:cNvPr id="4" name="New shape"/>
          <p:cNvSpPr/>
          <p:nvPr/>
        </p:nvSpPr>
        <p:spPr>
          <a:xfrm>
            <a:off x="457200" y="1611630"/>
            <a:ext cx="28575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txBox="1"/>
          <p:nvPr/>
        </p:nvSpPr>
        <p:spPr>
          <a:xfrm>
            <a:off x="828675" y="1634490"/>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De huidige onderzoeksscore is ten minste 20 % punten lager.</a:t>
            </a:r>
          </a:p>
        </p:txBody>
      </p:sp>
      <p:sp>
        <p:nvSpPr>
          <p:cNvPr id="6" name="New shape"/>
          <p:cNvSpPr/>
          <p:nvPr/>
        </p:nvSpPr>
        <p:spPr>
          <a:xfrm>
            <a:off x="457200" y="2097405"/>
            <a:ext cx="285750" cy="2857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New shape"/>
          <p:cNvSpPr txBox="1"/>
          <p:nvPr/>
        </p:nvSpPr>
        <p:spPr>
          <a:xfrm>
            <a:off x="828675" y="2120265"/>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De huidige onderzoeksscore is ten minste 10 % punten lager.</a:t>
            </a:r>
          </a:p>
        </p:txBody>
      </p:sp>
      <p:sp>
        <p:nvSpPr>
          <p:cNvPr id="8" name="New shape"/>
          <p:cNvSpPr/>
          <p:nvPr/>
        </p:nvSpPr>
        <p:spPr>
          <a:xfrm>
            <a:off x="457200" y="2583180"/>
            <a:ext cx="285750" cy="285750"/>
          </a:xfrm>
          <a:prstGeom prst="round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txBox="1"/>
          <p:nvPr/>
        </p:nvSpPr>
        <p:spPr>
          <a:xfrm>
            <a:off x="828675" y="2606040"/>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Niet relevant omdat het verschil kleiner is dan 10 % punten.</a:t>
            </a:r>
          </a:p>
        </p:txBody>
      </p:sp>
      <p:sp>
        <p:nvSpPr>
          <p:cNvPr id="10" name="New shape"/>
          <p:cNvSpPr/>
          <p:nvPr/>
        </p:nvSpPr>
        <p:spPr>
          <a:xfrm>
            <a:off x="457200" y="3068955"/>
            <a:ext cx="285750" cy="2857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New shape"/>
          <p:cNvSpPr txBox="1"/>
          <p:nvPr/>
        </p:nvSpPr>
        <p:spPr>
          <a:xfrm>
            <a:off x="828675" y="3091815"/>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De huidige onderzoeksscore is ten minste 10 % punten hoger.</a:t>
            </a:r>
          </a:p>
        </p:txBody>
      </p:sp>
      <p:sp>
        <p:nvSpPr>
          <p:cNvPr id="12" name="New shape"/>
          <p:cNvSpPr/>
          <p:nvPr/>
        </p:nvSpPr>
        <p:spPr>
          <a:xfrm>
            <a:off x="457200" y="3554730"/>
            <a:ext cx="28575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New shape"/>
          <p:cNvSpPr txBox="1"/>
          <p:nvPr/>
        </p:nvSpPr>
        <p:spPr>
          <a:xfrm>
            <a:off x="828675" y="3577590"/>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De huidige onderzoeksscore is ten minste 20 % punten hoger.</a:t>
            </a:r>
          </a:p>
        </p:txBody>
      </p:sp>
      <p:sp>
        <p:nvSpPr>
          <p:cNvPr id="14" name="New shape"/>
          <p:cNvSpPr txBox="1"/>
          <p:nvPr/>
        </p:nvSpPr>
        <p:spPr>
          <a:xfrm>
            <a:off x="4429125" y="2300288"/>
            <a:ext cx="1643062"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Voorbeeldresultaat</a:t>
            </a:r>
          </a:p>
        </p:txBody>
      </p:sp>
      <p:sp>
        <p:nvSpPr>
          <p:cNvPr id="15" name="New shape"/>
          <p:cNvSpPr txBox="1"/>
          <p:nvPr/>
        </p:nvSpPr>
        <p:spPr>
          <a:xfrm>
            <a:off x="6072188" y="2300288"/>
            <a:ext cx="942975" cy="28575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50</a:t>
            </a:r>
          </a:p>
        </p:txBody>
      </p:sp>
      <p:sp>
        <p:nvSpPr>
          <p:cNvPr id="16" name="New shape"/>
          <p:cNvSpPr/>
          <p:nvPr/>
        </p:nvSpPr>
        <p:spPr>
          <a:xfrm flipH="1">
            <a:off x="6072188"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7" name="New shape"/>
          <p:cNvSpPr txBox="1"/>
          <p:nvPr/>
        </p:nvSpPr>
        <p:spPr>
          <a:xfrm>
            <a:off x="7015162" y="2300288"/>
            <a:ext cx="942975" cy="285750"/>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30</a:t>
            </a:r>
          </a:p>
        </p:txBody>
      </p:sp>
      <p:sp>
        <p:nvSpPr>
          <p:cNvPr id="18" name="New shape"/>
          <p:cNvSpPr/>
          <p:nvPr/>
        </p:nvSpPr>
        <p:spPr>
          <a:xfrm flipH="1">
            <a:off x="7015162"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9" name="New shape"/>
          <p:cNvSpPr txBox="1"/>
          <p:nvPr/>
        </p:nvSpPr>
        <p:spPr>
          <a:xfrm>
            <a:off x="7958138" y="2300288"/>
            <a:ext cx="942975" cy="285750"/>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70</a:t>
            </a:r>
          </a:p>
        </p:txBody>
      </p:sp>
      <p:sp>
        <p:nvSpPr>
          <p:cNvPr id="20" name="New shape"/>
          <p:cNvSpPr/>
          <p:nvPr/>
        </p:nvSpPr>
        <p:spPr>
          <a:xfrm flipH="1">
            <a:off x="7958138"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4429125" y="2300288"/>
            <a:ext cx="4471988"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2" name="New shape"/>
          <p:cNvSpPr/>
          <p:nvPr/>
        </p:nvSpPr>
        <p:spPr>
          <a:xfrm>
            <a:off x="4429125" y="2586038"/>
            <a:ext cx="4471988"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3" name="New shape"/>
          <p:cNvSpPr/>
          <p:nvPr/>
        </p:nvSpPr>
        <p:spPr>
          <a:xfrm flipH="1">
            <a:off x="6543675" y="2657475"/>
            <a:ext cx="0" cy="164306"/>
          </a:xfrm>
          <a:prstGeom prst="line">
            <a:avLst/>
          </a:prstGeom>
          <a:ln w="19050">
            <a:solidFill>
              <a:srgbClr val="2867C9"/>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4" name="New shape"/>
          <p:cNvSpPr/>
          <p:nvPr/>
        </p:nvSpPr>
        <p:spPr>
          <a:xfrm>
            <a:off x="6543675" y="2821781"/>
            <a:ext cx="942975" cy="0"/>
          </a:xfrm>
          <a:prstGeom prst="line">
            <a:avLst/>
          </a:prstGeom>
          <a:ln w="19050">
            <a:solidFill>
              <a:srgbClr val="2867C9"/>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5" name="New shape"/>
          <p:cNvSpPr/>
          <p:nvPr/>
        </p:nvSpPr>
        <p:spPr>
          <a:xfrm flipH="1">
            <a:off x="7486650" y="2657475"/>
            <a:ext cx="0" cy="164306"/>
          </a:xfrm>
          <a:prstGeom prst="line">
            <a:avLst/>
          </a:prstGeom>
          <a:ln w="19050">
            <a:solidFill>
              <a:srgbClr val="2867C9"/>
            </a:solidFill>
            <a:prstDash val="solid"/>
            <a:headEnd type="triangle" w="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6" name="New shape"/>
          <p:cNvSpPr txBox="1"/>
          <p:nvPr/>
        </p:nvSpPr>
        <p:spPr>
          <a:xfrm>
            <a:off x="6072188" y="2907506"/>
            <a:ext cx="18859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675" b="0" i="0">
                <a:solidFill>
                  <a:srgbClr val="2867C9"/>
                </a:solidFill>
                <a:latin typeface="Poppins"/>
              </a:rPr>
              <a:t>20 % punten hoger</a:t>
            </a:r>
          </a:p>
        </p:txBody>
      </p:sp>
      <p:grpSp>
        <p:nvGrpSpPr>
          <p:cNvPr id="27" name="Group 26"/>
          <p:cNvGrpSpPr/>
          <p:nvPr/>
        </p:nvGrpSpPr>
        <p:grpSpPr>
          <a:xfrm rot="18900000">
            <a:off x="6282532" y="1906890"/>
            <a:ext cx="504523" cy="171450"/>
            <a:chOff x="5801519" y="1436688"/>
            <a:chExt cx="504523" cy="171450"/>
          </a:xfrm>
        </p:grpSpPr>
        <p:pic>
          <p:nvPicPr>
            <p:cNvPr id="28" name="New picture"/>
            <p:cNvPicPr/>
            <p:nvPr/>
          </p:nvPicPr>
          <p:blipFill>
            <a:blip>
              <a:extLst>
                <a:ext uri="{96DAC541-7B7A-43D3-8B79-37D633B846F1}">
                  <asvg:svgBlip xmlns:asvg="http://schemas.microsoft.com/office/drawing/2016/SVG/main" r:embed="rId2"/>
                </a:ext>
              </a:extLst>
            </a:blip>
            <a:stretch>
              <a:fillRect/>
            </a:stretch>
          </p:blipFill>
          <p:spPr>
            <a:xfrm>
              <a:off x="5801519" y="1436688"/>
              <a:ext cx="142875" cy="171450"/>
            </a:xfrm>
            <a:prstGeom prst="rect">
              <a:avLst/>
            </a:prstGeom>
          </p:spPr>
        </p:pic>
        <p:sp>
          <p:nvSpPr>
            <p:cNvPr id="29" name="New shape"/>
            <p:cNvSpPr txBox="1"/>
            <p:nvPr/>
          </p:nvSpPr>
          <p:spPr>
            <a:xfrm>
              <a:off x="6015831" y="1470463"/>
              <a:ext cx="290211"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675" b="1" i="0">
                  <a:solidFill>
                    <a:srgbClr val="2867C9"/>
                  </a:solidFill>
                  <a:latin typeface="Poppins"/>
                </a:rPr>
                <a:t>Huidig</a:t>
              </a:r>
            </a:p>
          </p:txBody>
        </p:sp>
      </p:grpSp>
      <p:grpSp>
        <p:nvGrpSpPr>
          <p:cNvPr id="30" name="Group 29"/>
          <p:cNvGrpSpPr/>
          <p:nvPr/>
        </p:nvGrpSpPr>
        <p:grpSpPr>
          <a:xfrm rot="18900000">
            <a:off x="7204235" y="1840379"/>
            <a:ext cx="740950" cy="150019"/>
            <a:chOff x="6744494" y="1447403"/>
            <a:chExt cx="740950" cy="150019"/>
          </a:xfrm>
        </p:grpSpPr>
        <p:pic>
          <p:nvPicPr>
            <p:cNvPr id="31" name="New picture"/>
            <p:cNvPicPr/>
            <p:nvPr/>
          </p:nvPicPr>
          <p:blipFill>
            <a:blip>
              <a:extLst>
                <a:ext uri="{96DAC541-7B7A-43D3-8B79-37D633B846F1}">
                  <asvg:svgBlip xmlns:asvg="http://schemas.microsoft.com/office/drawing/2016/SVG/main" r:embed="rId3"/>
                </a:ext>
              </a:extLst>
            </a:blip>
            <a:stretch>
              <a:fillRect/>
            </a:stretch>
          </p:blipFill>
          <p:spPr>
            <a:xfrm>
              <a:off x="6744494" y="1447403"/>
              <a:ext cx="150019" cy="150019"/>
            </a:xfrm>
            <a:prstGeom prst="rect">
              <a:avLst/>
            </a:prstGeom>
          </p:spPr>
        </p:pic>
        <p:sp>
          <p:nvSpPr>
            <p:cNvPr id="32" name="New shape"/>
            <p:cNvSpPr txBox="1"/>
            <p:nvPr/>
          </p:nvSpPr>
          <p:spPr>
            <a:xfrm>
              <a:off x="6965950" y="1470463"/>
              <a:ext cx="519493"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675" b="1" i="0">
                  <a:solidFill>
                    <a:srgbClr val="192743"/>
                  </a:solidFill>
                  <a:latin typeface="Poppins"/>
                </a:rPr>
                <a:t>Benchmark</a:t>
              </a:r>
            </a:p>
          </p:txBody>
        </p:sp>
      </p:grpSp>
      <p:grpSp>
        <p:nvGrpSpPr>
          <p:cNvPr id="33" name="Group 32"/>
          <p:cNvGrpSpPr/>
          <p:nvPr/>
        </p:nvGrpSpPr>
        <p:grpSpPr>
          <a:xfrm rot="18900000">
            <a:off x="8146125" y="1837760"/>
            <a:ext cx="748967" cy="150019"/>
            <a:chOff x="7687469" y="1447403"/>
            <a:chExt cx="748967" cy="150019"/>
          </a:xfrm>
        </p:grpSpPr>
        <p:pic>
          <p:nvPicPr>
            <p:cNvPr id="34" name="New picture"/>
            <p:cNvPicPr/>
            <p:nvPr/>
          </p:nvPicPr>
          <p:blipFill>
            <a:blip>
              <a:extLst>
                <a:ext uri="{96DAC541-7B7A-43D3-8B79-37D633B846F1}">
                  <asvg:svgBlip xmlns:asvg="http://schemas.microsoft.com/office/drawing/2016/SVG/main" r:embed="rId4"/>
                </a:ext>
              </a:extLst>
            </a:blip>
            <a:stretch>
              <a:fillRect/>
            </a:stretch>
          </p:blipFill>
          <p:spPr>
            <a:xfrm>
              <a:off x="7687469" y="1447403"/>
              <a:ext cx="150019" cy="150019"/>
            </a:xfrm>
            <a:prstGeom prst="rect">
              <a:avLst/>
            </a:prstGeom>
          </p:spPr>
        </p:pic>
        <p:sp>
          <p:nvSpPr>
            <p:cNvPr id="35" name="New shape"/>
            <p:cNvSpPr txBox="1"/>
            <p:nvPr/>
          </p:nvSpPr>
          <p:spPr>
            <a:xfrm>
              <a:off x="7908925" y="1470463"/>
              <a:ext cx="527510"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675" b="1" i="0">
                  <a:solidFill>
                    <a:srgbClr val="192743"/>
                  </a:solidFill>
                  <a:latin typeface="Poppins"/>
                </a:rPr>
                <a:t>Organisatie</a:t>
              </a:r>
            </a:p>
          </p:txBody>
        </p:sp>
      </p:grpSp>
      <p:sp>
        <p:nvSpPr>
          <p:cNvPr id="36" name="New shape"/>
          <p:cNvSpPr txBox="1"/>
          <p:nvPr/>
        </p:nvSpPr>
        <p:spPr>
          <a:xfrm>
            <a:off x="4029075" y="4083367"/>
            <a:ext cx="40290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92743"/>
                </a:solidFill>
                <a:latin typeface="Poppins"/>
              </a:rPr>
              <a:t>Significantie (*)</a:t>
            </a:r>
          </a:p>
        </p:txBody>
      </p:sp>
      <p:sp>
        <p:nvSpPr>
          <p:cNvPr id="37" name="New shape"/>
          <p:cNvSpPr txBox="1"/>
          <p:nvPr/>
        </p:nvSpPr>
        <p:spPr>
          <a:xfrm>
            <a:off x="4029075" y="4254817"/>
            <a:ext cx="4029075"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Significantie helpt je identificeren of het waargenomen verschil tussen twee scores niet aan toeval te wijten is. Als een score gemarkeerd is met een asterisk, geeft dit aan dat het verschil tussen deze score en de score van Huidig significant is. Het weerspiegelt een realistisch verschil dat aandacht verdient.</a:t>
            </a:r>
          </a:p>
        </p:txBody>
      </p:sp>
      <p:sp>
        <p:nvSpPr>
          <p:cNvPr id="3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17</a:t>
            </a:r>
          </a:p>
        </p:txBody>
      </p:sp>
      <p:pic>
        <p:nvPicPr>
          <p:cNvPr id="39" name="New picture"/>
          <p:cNvPicPr/>
          <p:nvPr/>
        </p:nvPicPr>
        <p:blipFill>
          <a:blip>
            <a:extLst>
              <a:ext uri="{96DAC541-7B7A-43D3-8B79-37D633B846F1}">
                <asvg:svgBlip xmlns:asvg="http://schemas.microsoft.com/office/drawing/2016/SVG/main" r:embed="rId5"/>
              </a:ext>
            </a:extLst>
          </a:blip>
          <a:stretch>
            <a:fillRect/>
          </a:stretch>
        </p:blipFill>
        <p:spPr>
          <a:xfrm>
            <a:off x="8829675" y="147661"/>
            <a:ext cx="217884" cy="217884"/>
          </a:xfrm>
          <a:prstGeom prst="rect">
            <a:avLst/>
          </a:prstGeom>
        </p:spPr>
      </p:pic>
      <p:sp>
        <p:nvSpPr>
          <p:cNvPr id="41" name="New shape"/>
          <p:cNvSpPr txBox="1"/>
          <p:nvPr/>
        </p:nvSpPr>
        <p:spPr>
          <a:xfrm flipV="1">
            <a:off x="0" y="0"/>
            <a:ext cx="153327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Het lezen van de resultaten</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331720"/>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Respons</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Responspercentage en vergelijking</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Je algehele responspercentage vergeleken met de vorige scores en benchmarkscores</a:t>
            </a:r>
          </a:p>
        </p:txBody>
      </p:sp>
      <p:sp>
        <p:nvSpPr>
          <p:cNvPr id="4" name="New shape"/>
          <p:cNvSpPr/>
          <p:nvPr/>
        </p:nvSpPr>
        <p:spPr>
          <a:xfrm>
            <a:off x="457200" y="1201579"/>
            <a:ext cx="7415212" cy="400050"/>
          </a:xfrm>
          <a:prstGeom prst="round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p:nvPr/>
        </p:nvSpPr>
        <p:spPr>
          <a:xfrm>
            <a:off x="457200" y="1201579"/>
            <a:ext cx="5932170" cy="4000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 name="New picture"/>
          <p:cNvPicPr/>
          <p:nvPr/>
        </p:nvPicPr>
        <p:blipFill>
          <a:blip>
            <a:extLst>
              <a:ext uri="{96DAC541-7B7A-43D3-8B79-37D633B846F1}">
                <asvg:svgBlip xmlns:asvg="http://schemas.microsoft.com/office/drawing/2016/SVG/main" r:embed="rId2"/>
              </a:ext>
            </a:extLst>
          </a:blip>
          <a:stretch>
            <a:fillRect/>
          </a:stretch>
        </p:blipFill>
        <p:spPr>
          <a:xfrm>
            <a:off x="571500" y="1315879"/>
            <a:ext cx="142875" cy="171450"/>
          </a:xfrm>
          <a:prstGeom prst="rect">
            <a:avLst/>
          </a:prstGeom>
        </p:spPr>
      </p:pic>
      <p:sp>
        <p:nvSpPr>
          <p:cNvPr id="7" name="New shape"/>
          <p:cNvSpPr txBox="1"/>
          <p:nvPr/>
        </p:nvSpPr>
        <p:spPr>
          <a:xfrm>
            <a:off x="785812" y="1201579"/>
            <a:ext cx="593217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2867C9"/>
                </a:solidFill>
                <a:latin typeface="Poppins"/>
              </a:rPr>
              <a:t>Huidig</a:t>
            </a:r>
          </a:p>
        </p:txBody>
      </p:sp>
      <p:sp>
        <p:nvSpPr>
          <p:cNvPr id="8" name="New shape"/>
          <p:cNvSpPr txBox="1"/>
          <p:nvPr/>
        </p:nvSpPr>
        <p:spPr>
          <a:xfrm>
            <a:off x="6645831"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80%</a:t>
            </a:r>
          </a:p>
        </p:txBody>
      </p:sp>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7986712" y="1326594"/>
            <a:ext cx="150019" cy="150019"/>
          </a:xfrm>
          <a:prstGeom prst="rect">
            <a:avLst/>
          </a:prstGeom>
        </p:spPr>
      </p:pic>
      <p:sp>
        <p:nvSpPr>
          <p:cNvPr id="10" name="New shape"/>
          <p:cNvSpPr txBox="1"/>
          <p:nvPr/>
        </p:nvSpPr>
        <p:spPr>
          <a:xfrm>
            <a:off x="8208169"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291</a:t>
            </a:r>
          </a:p>
        </p:txBody>
      </p:sp>
      <p:sp>
        <p:nvSpPr>
          <p:cNvPr id="11" name="New shape"/>
          <p:cNvSpPr/>
          <p:nvPr/>
        </p:nvSpPr>
        <p:spPr>
          <a:xfrm>
            <a:off x="457200" y="171592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p:nvPr/>
        </p:nvSpPr>
        <p:spPr>
          <a:xfrm>
            <a:off x="457200" y="1715929"/>
            <a:ext cx="5413105" cy="314325"/>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571500" y="1798082"/>
            <a:ext cx="150019" cy="150019"/>
          </a:xfrm>
          <a:prstGeom prst="rect">
            <a:avLst/>
          </a:prstGeom>
        </p:spPr>
      </p:pic>
      <p:sp>
        <p:nvSpPr>
          <p:cNvPr id="14" name="New shape"/>
          <p:cNvSpPr txBox="1"/>
          <p:nvPr/>
        </p:nvSpPr>
        <p:spPr>
          <a:xfrm>
            <a:off x="792956" y="171592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Vorig onderzoek</a:t>
            </a:r>
          </a:p>
        </p:txBody>
      </p:sp>
      <p:sp>
        <p:nvSpPr>
          <p:cNvPr id="15" name="New shape"/>
          <p:cNvSpPr txBox="1"/>
          <p:nvPr/>
        </p:nvSpPr>
        <p:spPr>
          <a:xfrm>
            <a:off x="6645831"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73%</a:t>
            </a:r>
          </a:p>
        </p:txBody>
      </p:sp>
      <p:pic>
        <p:nvPicPr>
          <p:cNvPr id="16" name="New picture"/>
          <p:cNvPicPr/>
          <p:nvPr/>
        </p:nvPicPr>
        <p:blipFill>
          <a:blip>
            <a:extLst>
              <a:ext uri="{96DAC541-7B7A-43D3-8B79-37D633B846F1}">
                <asvg:svgBlip xmlns:asvg="http://schemas.microsoft.com/office/drawing/2016/SVG/main" r:embed="rId3"/>
              </a:ext>
            </a:extLst>
          </a:blip>
          <a:stretch>
            <a:fillRect/>
          </a:stretch>
        </p:blipFill>
        <p:spPr>
          <a:xfrm>
            <a:off x="7986712" y="1798082"/>
            <a:ext cx="150019" cy="150019"/>
          </a:xfrm>
          <a:prstGeom prst="rect">
            <a:avLst/>
          </a:prstGeom>
        </p:spPr>
      </p:pic>
      <p:sp>
        <p:nvSpPr>
          <p:cNvPr id="17" name="New shape"/>
          <p:cNvSpPr txBox="1"/>
          <p:nvPr/>
        </p:nvSpPr>
        <p:spPr>
          <a:xfrm>
            <a:off x="8208169"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268</a:t>
            </a:r>
          </a:p>
        </p:txBody>
      </p:sp>
      <p:sp>
        <p:nvSpPr>
          <p:cNvPr id="18" name="New shape"/>
          <p:cNvSpPr/>
          <p:nvPr/>
        </p:nvSpPr>
        <p:spPr>
          <a:xfrm>
            <a:off x="457200" y="214455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9" name="New shape"/>
          <p:cNvSpPr/>
          <p:nvPr/>
        </p:nvSpPr>
        <p:spPr>
          <a:xfrm>
            <a:off x="457200" y="2144554"/>
            <a:ext cx="5338953" cy="314325"/>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0" name="New picture"/>
          <p:cNvPicPr/>
          <p:nvPr/>
        </p:nvPicPr>
        <p:blipFill>
          <a:blip>
            <a:extLst>
              <a:ext uri="{96DAC541-7B7A-43D3-8B79-37D633B846F1}">
                <asvg:svgBlip xmlns:asvg="http://schemas.microsoft.com/office/drawing/2016/SVG/main" r:embed="rId5"/>
              </a:ext>
            </a:extLst>
          </a:blip>
          <a:stretch>
            <a:fillRect/>
          </a:stretch>
        </p:blipFill>
        <p:spPr>
          <a:xfrm>
            <a:off x="571500" y="2226707"/>
            <a:ext cx="150019" cy="150019"/>
          </a:xfrm>
          <a:prstGeom prst="rect">
            <a:avLst/>
          </a:prstGeom>
        </p:spPr>
      </p:pic>
      <p:sp>
        <p:nvSpPr>
          <p:cNvPr id="21" name="New shape"/>
          <p:cNvSpPr txBox="1"/>
          <p:nvPr/>
        </p:nvSpPr>
        <p:spPr>
          <a:xfrm>
            <a:off x="792956" y="214455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Benchmark B2B</a:t>
            </a:r>
          </a:p>
        </p:txBody>
      </p:sp>
      <p:sp>
        <p:nvSpPr>
          <p:cNvPr id="22" name="New shape"/>
          <p:cNvSpPr txBox="1"/>
          <p:nvPr/>
        </p:nvSpPr>
        <p:spPr>
          <a:xfrm>
            <a:off x="6645831" y="21445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72%</a:t>
            </a:r>
          </a:p>
        </p:txBody>
      </p:sp>
      <p:pic>
        <p:nvPicPr>
          <p:cNvPr id="23" name="New picture"/>
          <p:cNvPicPr/>
          <p:nvPr/>
        </p:nvPicPr>
        <p:blipFill>
          <a:blip>
            <a:extLst>
              <a:ext uri="{96DAC541-7B7A-43D3-8B79-37D633B846F1}">
                <asvg:svgBlip xmlns:asvg="http://schemas.microsoft.com/office/drawing/2016/SVG/main" r:embed="rId6"/>
              </a:ext>
            </a:extLst>
          </a:blip>
          <a:stretch>
            <a:fillRect/>
          </a:stretch>
        </p:blipFill>
        <p:spPr>
          <a:xfrm>
            <a:off x="114300" y="4882753"/>
            <a:ext cx="150019" cy="150019"/>
          </a:xfrm>
          <a:prstGeom prst="rect">
            <a:avLst/>
          </a:prstGeom>
        </p:spPr>
      </p:pic>
      <p:sp>
        <p:nvSpPr>
          <p:cNvPr id="24" name="New shape"/>
          <p:cNvSpPr txBox="1"/>
          <p:nvPr/>
        </p:nvSpPr>
        <p:spPr>
          <a:xfrm>
            <a:off x="335756" y="4897155"/>
            <a:ext cx="70869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respondenten</a:t>
            </a:r>
          </a:p>
        </p:txBody>
      </p:sp>
      <p:pic>
        <p:nvPicPr>
          <p:cNvPr id="25" name="New picture"/>
          <p:cNvPicPr/>
          <p:nvPr/>
        </p:nvPicPr>
        <p:blipFill>
          <a:blip>
            <a:extLst>
              <a:ext uri="{96DAC541-7B7A-43D3-8B79-37D633B846F1}">
                <asvg:svgBlip xmlns:asvg="http://schemas.microsoft.com/office/drawing/2016/SVG/main" r:embed="rId7"/>
              </a:ext>
            </a:extLst>
          </a:blip>
          <a:stretch>
            <a:fillRect/>
          </a:stretch>
        </p:blipFill>
        <p:spPr>
          <a:xfrm>
            <a:off x="1244473" y="4897041"/>
            <a:ext cx="114300" cy="121444"/>
          </a:xfrm>
          <a:prstGeom prst="rect">
            <a:avLst/>
          </a:prstGeom>
        </p:spPr>
      </p:pic>
      <p:sp>
        <p:nvSpPr>
          <p:cNvPr id="26" name="New shape"/>
          <p:cNvSpPr txBox="1"/>
          <p:nvPr/>
        </p:nvSpPr>
        <p:spPr>
          <a:xfrm>
            <a:off x="1430210"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Respons te laag</a:t>
            </a:r>
          </a:p>
        </p:txBody>
      </p:sp>
      <p:sp>
        <p:nvSpPr>
          <p:cNvPr id="27"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19</a:t>
            </a:r>
          </a:p>
        </p:txBody>
      </p:sp>
      <p:sp>
        <p:nvSpPr>
          <p:cNvPr id="28"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8"/>
              </a:ext>
            </a:extLst>
          </a:blip>
          <a:stretch>
            <a:fillRect/>
          </a:stretch>
        </p:blipFill>
        <p:spPr>
          <a:xfrm>
            <a:off x="8829675" y="147661"/>
            <a:ext cx="217884" cy="217884"/>
          </a:xfrm>
          <a:prstGeom prst="rect">
            <a:avLst/>
          </a:prstGeom>
        </p:spPr>
      </p:pic>
      <p:sp>
        <p:nvSpPr>
          <p:cNvPr id="30"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2" name="New shape"/>
          <p:cNvSpPr txBox="1"/>
          <p:nvPr/>
        </p:nvSpPr>
        <p:spPr>
          <a:xfrm flipV="1">
            <a:off x="0" y="0"/>
            <a:ext cx="590486"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Respons</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Responspercentage per groep</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Bekijk hoeveel medewerkers in al je groepen hebben deelgenomen aan het onderzoek.</a:t>
            </a:r>
          </a:p>
        </p:txBody>
      </p:sp>
      <p:sp>
        <p:nvSpPr>
          <p:cNvPr id="4" name="New shape"/>
          <p:cNvSpPr/>
          <p:nvPr/>
        </p:nvSpPr>
        <p:spPr>
          <a:xfrm>
            <a:off x="457200" y="1201579"/>
            <a:ext cx="7415212" cy="400050"/>
          </a:xfrm>
          <a:prstGeom prst="round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p:nvPr/>
        </p:nvSpPr>
        <p:spPr>
          <a:xfrm>
            <a:off x="457200" y="1201579"/>
            <a:ext cx="5932170" cy="4000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 name="New picture"/>
          <p:cNvPicPr/>
          <p:nvPr/>
        </p:nvPicPr>
        <p:blipFill>
          <a:blip>
            <a:extLst>
              <a:ext uri="{96DAC541-7B7A-43D3-8B79-37D633B846F1}">
                <asvg:svgBlip xmlns:asvg="http://schemas.microsoft.com/office/drawing/2016/SVG/main" r:embed="rId2"/>
              </a:ext>
            </a:extLst>
          </a:blip>
          <a:stretch>
            <a:fillRect/>
          </a:stretch>
        </p:blipFill>
        <p:spPr>
          <a:xfrm>
            <a:off x="571500" y="1315879"/>
            <a:ext cx="142875" cy="171450"/>
          </a:xfrm>
          <a:prstGeom prst="rect">
            <a:avLst/>
          </a:prstGeom>
        </p:spPr>
      </p:pic>
      <p:sp>
        <p:nvSpPr>
          <p:cNvPr id="7" name="New shape"/>
          <p:cNvSpPr txBox="1"/>
          <p:nvPr/>
        </p:nvSpPr>
        <p:spPr>
          <a:xfrm>
            <a:off x="785812" y="1201579"/>
            <a:ext cx="593217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2867C9"/>
                </a:solidFill>
                <a:latin typeface="Poppins"/>
              </a:rPr>
              <a:t>Huidig</a:t>
            </a:r>
          </a:p>
        </p:txBody>
      </p:sp>
      <p:sp>
        <p:nvSpPr>
          <p:cNvPr id="8" name="New shape"/>
          <p:cNvSpPr txBox="1"/>
          <p:nvPr/>
        </p:nvSpPr>
        <p:spPr>
          <a:xfrm>
            <a:off x="6645831"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80%</a:t>
            </a:r>
          </a:p>
        </p:txBody>
      </p:sp>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7986712" y="1326594"/>
            <a:ext cx="150019" cy="150019"/>
          </a:xfrm>
          <a:prstGeom prst="rect">
            <a:avLst/>
          </a:prstGeom>
        </p:spPr>
      </p:pic>
      <p:sp>
        <p:nvSpPr>
          <p:cNvPr id="10" name="New shape"/>
          <p:cNvSpPr txBox="1"/>
          <p:nvPr/>
        </p:nvSpPr>
        <p:spPr>
          <a:xfrm>
            <a:off x="8208169"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291</a:t>
            </a:r>
          </a:p>
        </p:txBody>
      </p:sp>
      <p:sp>
        <p:nvSpPr>
          <p:cNvPr id="11" name="New shape"/>
          <p:cNvSpPr/>
          <p:nvPr/>
        </p:nvSpPr>
        <p:spPr>
          <a:xfrm>
            <a:off x="457200" y="171592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p:nvPr/>
        </p:nvSpPr>
        <p:spPr>
          <a:xfrm>
            <a:off x="457200" y="1715929"/>
            <a:ext cx="5042345"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New shape"/>
          <p:cNvSpPr txBox="1"/>
          <p:nvPr/>
        </p:nvSpPr>
        <p:spPr>
          <a:xfrm>
            <a:off x="571500" y="171592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Communication</a:t>
            </a:r>
          </a:p>
        </p:txBody>
      </p:sp>
      <p:sp>
        <p:nvSpPr>
          <p:cNvPr id="14" name="New shape"/>
          <p:cNvSpPr txBox="1"/>
          <p:nvPr/>
        </p:nvSpPr>
        <p:spPr>
          <a:xfrm>
            <a:off x="6645831"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68%</a:t>
            </a:r>
          </a:p>
        </p:txBody>
      </p:sp>
      <p:pic>
        <p:nvPicPr>
          <p:cNvPr id="15" name="New picture"/>
          <p:cNvPicPr/>
          <p:nvPr/>
        </p:nvPicPr>
        <p:blipFill>
          <a:blip>
            <a:extLst>
              <a:ext uri="{96DAC541-7B7A-43D3-8B79-37D633B846F1}">
                <asvg:svgBlip xmlns:asvg="http://schemas.microsoft.com/office/drawing/2016/SVG/main" r:embed="rId3"/>
              </a:ext>
            </a:extLst>
          </a:blip>
          <a:stretch>
            <a:fillRect/>
          </a:stretch>
        </p:blipFill>
        <p:spPr>
          <a:xfrm>
            <a:off x="7986712" y="1798082"/>
            <a:ext cx="150019" cy="150019"/>
          </a:xfrm>
          <a:prstGeom prst="rect">
            <a:avLst/>
          </a:prstGeom>
        </p:spPr>
      </p:pic>
      <p:sp>
        <p:nvSpPr>
          <p:cNvPr id="16" name="New shape"/>
          <p:cNvSpPr txBox="1"/>
          <p:nvPr/>
        </p:nvSpPr>
        <p:spPr>
          <a:xfrm>
            <a:off x="8208169"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17</a:t>
            </a:r>
          </a:p>
        </p:txBody>
      </p:sp>
      <p:sp>
        <p:nvSpPr>
          <p:cNvPr id="17" name="New shape"/>
          <p:cNvSpPr/>
          <p:nvPr/>
        </p:nvSpPr>
        <p:spPr>
          <a:xfrm>
            <a:off x="457200" y="214455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p:nvPr/>
        </p:nvSpPr>
        <p:spPr>
          <a:xfrm>
            <a:off x="457200" y="2144554"/>
            <a:ext cx="5858018"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9" name="New shape"/>
          <p:cNvSpPr txBox="1"/>
          <p:nvPr/>
        </p:nvSpPr>
        <p:spPr>
          <a:xfrm>
            <a:off x="571500" y="214455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Customer Success</a:t>
            </a:r>
          </a:p>
        </p:txBody>
      </p:sp>
      <p:sp>
        <p:nvSpPr>
          <p:cNvPr id="20" name="New shape"/>
          <p:cNvSpPr txBox="1"/>
          <p:nvPr/>
        </p:nvSpPr>
        <p:spPr>
          <a:xfrm>
            <a:off x="6645831" y="21445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79%</a:t>
            </a:r>
          </a:p>
        </p:txBody>
      </p:sp>
      <p:pic>
        <p:nvPicPr>
          <p:cNvPr id="21" name="New picture"/>
          <p:cNvPicPr/>
          <p:nvPr/>
        </p:nvPicPr>
        <p:blipFill>
          <a:blip>
            <a:extLst>
              <a:ext uri="{96DAC541-7B7A-43D3-8B79-37D633B846F1}">
                <asvg:svgBlip xmlns:asvg="http://schemas.microsoft.com/office/drawing/2016/SVG/main" r:embed="rId3"/>
              </a:ext>
            </a:extLst>
          </a:blip>
          <a:stretch>
            <a:fillRect/>
          </a:stretch>
        </p:blipFill>
        <p:spPr>
          <a:xfrm>
            <a:off x="7986712" y="2226707"/>
            <a:ext cx="150019" cy="150019"/>
          </a:xfrm>
          <a:prstGeom prst="rect">
            <a:avLst/>
          </a:prstGeom>
        </p:spPr>
      </p:pic>
      <p:sp>
        <p:nvSpPr>
          <p:cNvPr id="22" name="New shape"/>
          <p:cNvSpPr txBox="1"/>
          <p:nvPr/>
        </p:nvSpPr>
        <p:spPr>
          <a:xfrm>
            <a:off x="8208169" y="21445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112</a:t>
            </a:r>
          </a:p>
        </p:txBody>
      </p:sp>
      <p:sp>
        <p:nvSpPr>
          <p:cNvPr id="23" name="New shape"/>
          <p:cNvSpPr/>
          <p:nvPr/>
        </p:nvSpPr>
        <p:spPr>
          <a:xfrm>
            <a:off x="457200" y="257317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4" name="New shape"/>
          <p:cNvSpPr/>
          <p:nvPr/>
        </p:nvSpPr>
        <p:spPr>
          <a:xfrm>
            <a:off x="457200" y="2573179"/>
            <a:ext cx="5858018"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5" name="New shape"/>
          <p:cNvSpPr txBox="1"/>
          <p:nvPr/>
        </p:nvSpPr>
        <p:spPr>
          <a:xfrm>
            <a:off x="571500" y="257317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Finance</a:t>
            </a:r>
          </a:p>
        </p:txBody>
      </p:sp>
      <p:sp>
        <p:nvSpPr>
          <p:cNvPr id="26" name="New shape"/>
          <p:cNvSpPr txBox="1"/>
          <p:nvPr/>
        </p:nvSpPr>
        <p:spPr>
          <a:xfrm>
            <a:off x="6645831" y="25731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79%</a:t>
            </a:r>
          </a:p>
        </p:txBody>
      </p:sp>
      <p:pic>
        <p:nvPicPr>
          <p:cNvPr id="27" name="New picture"/>
          <p:cNvPicPr/>
          <p:nvPr/>
        </p:nvPicPr>
        <p:blipFill>
          <a:blip>
            <a:extLst>
              <a:ext uri="{96DAC541-7B7A-43D3-8B79-37D633B846F1}">
                <asvg:svgBlip xmlns:asvg="http://schemas.microsoft.com/office/drawing/2016/SVG/main" r:embed="rId3"/>
              </a:ext>
            </a:extLst>
          </a:blip>
          <a:stretch>
            <a:fillRect/>
          </a:stretch>
        </p:blipFill>
        <p:spPr>
          <a:xfrm>
            <a:off x="7986712" y="2655332"/>
            <a:ext cx="150019" cy="150019"/>
          </a:xfrm>
          <a:prstGeom prst="rect">
            <a:avLst/>
          </a:prstGeom>
        </p:spPr>
      </p:pic>
      <p:sp>
        <p:nvSpPr>
          <p:cNvPr id="28" name="New shape"/>
          <p:cNvSpPr txBox="1"/>
          <p:nvPr/>
        </p:nvSpPr>
        <p:spPr>
          <a:xfrm>
            <a:off x="8208169" y="25731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30</a:t>
            </a:r>
          </a:p>
        </p:txBody>
      </p:sp>
      <p:sp>
        <p:nvSpPr>
          <p:cNvPr id="29" name="New shape"/>
          <p:cNvSpPr/>
          <p:nvPr/>
        </p:nvSpPr>
        <p:spPr>
          <a:xfrm>
            <a:off x="457200" y="300180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0" name="New shape"/>
          <p:cNvSpPr/>
          <p:nvPr/>
        </p:nvSpPr>
        <p:spPr>
          <a:xfrm>
            <a:off x="457200" y="3001804"/>
            <a:ext cx="5709714"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1" name="New shape"/>
          <p:cNvSpPr txBox="1"/>
          <p:nvPr/>
        </p:nvSpPr>
        <p:spPr>
          <a:xfrm>
            <a:off x="571500" y="300180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Human Resources</a:t>
            </a:r>
          </a:p>
        </p:txBody>
      </p:sp>
      <p:sp>
        <p:nvSpPr>
          <p:cNvPr id="32" name="New shape"/>
          <p:cNvSpPr txBox="1"/>
          <p:nvPr/>
        </p:nvSpPr>
        <p:spPr>
          <a:xfrm>
            <a:off x="6645831" y="300180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77%</a:t>
            </a:r>
          </a:p>
        </p:txBody>
      </p:sp>
      <p:pic>
        <p:nvPicPr>
          <p:cNvPr id="33" name="New picture"/>
          <p:cNvPicPr/>
          <p:nvPr/>
        </p:nvPicPr>
        <p:blipFill>
          <a:blip>
            <a:extLst>
              <a:ext uri="{96DAC541-7B7A-43D3-8B79-37D633B846F1}">
                <asvg:svgBlip xmlns:asvg="http://schemas.microsoft.com/office/drawing/2016/SVG/main" r:embed="rId3"/>
              </a:ext>
            </a:extLst>
          </a:blip>
          <a:stretch>
            <a:fillRect/>
          </a:stretch>
        </p:blipFill>
        <p:spPr>
          <a:xfrm>
            <a:off x="7986712" y="3083957"/>
            <a:ext cx="150019" cy="150019"/>
          </a:xfrm>
          <a:prstGeom prst="rect">
            <a:avLst/>
          </a:prstGeom>
        </p:spPr>
      </p:pic>
      <p:sp>
        <p:nvSpPr>
          <p:cNvPr id="34" name="New shape"/>
          <p:cNvSpPr txBox="1"/>
          <p:nvPr/>
        </p:nvSpPr>
        <p:spPr>
          <a:xfrm>
            <a:off x="8208169" y="300180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17</a:t>
            </a:r>
          </a:p>
        </p:txBody>
      </p:sp>
      <p:sp>
        <p:nvSpPr>
          <p:cNvPr id="35" name="New shape"/>
          <p:cNvSpPr/>
          <p:nvPr/>
        </p:nvSpPr>
        <p:spPr>
          <a:xfrm>
            <a:off x="457200" y="343042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6" name="New shape"/>
          <p:cNvSpPr txBox="1"/>
          <p:nvPr/>
        </p:nvSpPr>
        <p:spPr>
          <a:xfrm>
            <a:off x="571500" y="343042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Management</a:t>
            </a:r>
          </a:p>
        </p:txBody>
      </p:sp>
      <p:sp>
        <p:nvSpPr>
          <p:cNvPr id="37" name="New shape"/>
          <p:cNvSpPr/>
          <p:nvPr/>
        </p:nvSpPr>
        <p:spPr>
          <a:xfrm>
            <a:off x="6645831" y="34304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endParaRPr sz="788" b="0" i="0">
              <a:solidFill>
                <a:srgbClr val="546178"/>
              </a:solidFill>
              <a:latin typeface="Poppins"/>
            </a:endParaRPr>
          </a:p>
        </p:txBody>
      </p:sp>
      <p:pic>
        <p:nvPicPr>
          <p:cNvPr id="38" name="New picture"/>
          <p:cNvPicPr/>
          <p:nvPr/>
        </p:nvPicPr>
        <p:blipFill>
          <a:blip>
            <a:extLst>
              <a:ext uri="{96DAC541-7B7A-43D3-8B79-37D633B846F1}">
                <asvg:svgBlip xmlns:asvg="http://schemas.microsoft.com/office/drawing/2016/SVG/main" r:embed="rId4"/>
              </a:ext>
            </a:extLst>
          </a:blip>
          <a:stretch>
            <a:fillRect/>
          </a:stretch>
        </p:blipFill>
        <p:spPr>
          <a:xfrm>
            <a:off x="7986712" y="3526870"/>
            <a:ext cx="114300" cy="121444"/>
          </a:xfrm>
          <a:prstGeom prst="rect">
            <a:avLst/>
          </a:prstGeom>
        </p:spPr>
      </p:pic>
      <p:sp>
        <p:nvSpPr>
          <p:cNvPr id="39" name="New shape"/>
          <p:cNvSpPr/>
          <p:nvPr/>
        </p:nvSpPr>
        <p:spPr>
          <a:xfrm>
            <a:off x="8172450" y="34304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endParaRPr sz="788" b="0" i="0">
              <a:solidFill>
                <a:srgbClr val="546178"/>
              </a:solidFill>
              <a:latin typeface="Poppins"/>
            </a:endParaRPr>
          </a:p>
        </p:txBody>
      </p:sp>
      <p:sp>
        <p:nvSpPr>
          <p:cNvPr id="40" name="New shape"/>
          <p:cNvSpPr/>
          <p:nvPr/>
        </p:nvSpPr>
        <p:spPr>
          <a:xfrm>
            <a:off x="457200" y="385905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1" name="New shape"/>
          <p:cNvSpPr/>
          <p:nvPr/>
        </p:nvSpPr>
        <p:spPr>
          <a:xfrm>
            <a:off x="457200" y="3859054"/>
            <a:ext cx="6377083"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2" name="New shape"/>
          <p:cNvSpPr txBox="1"/>
          <p:nvPr/>
        </p:nvSpPr>
        <p:spPr>
          <a:xfrm>
            <a:off x="571500" y="385905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Marketing &amp; Sales</a:t>
            </a:r>
          </a:p>
        </p:txBody>
      </p:sp>
      <p:sp>
        <p:nvSpPr>
          <p:cNvPr id="43" name="New shape"/>
          <p:cNvSpPr txBox="1"/>
          <p:nvPr/>
        </p:nvSpPr>
        <p:spPr>
          <a:xfrm>
            <a:off x="6645831" y="38590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86%</a:t>
            </a:r>
          </a:p>
        </p:txBody>
      </p:sp>
      <p:pic>
        <p:nvPicPr>
          <p:cNvPr id="44" name="New picture"/>
          <p:cNvPicPr/>
          <p:nvPr/>
        </p:nvPicPr>
        <p:blipFill>
          <a:blip>
            <a:extLst>
              <a:ext uri="{96DAC541-7B7A-43D3-8B79-37D633B846F1}">
                <asvg:svgBlip xmlns:asvg="http://schemas.microsoft.com/office/drawing/2016/SVG/main" r:embed="rId3"/>
              </a:ext>
            </a:extLst>
          </a:blip>
          <a:stretch>
            <a:fillRect/>
          </a:stretch>
        </p:blipFill>
        <p:spPr>
          <a:xfrm>
            <a:off x="7986712" y="3941207"/>
            <a:ext cx="150019" cy="150019"/>
          </a:xfrm>
          <a:prstGeom prst="rect">
            <a:avLst/>
          </a:prstGeom>
        </p:spPr>
      </p:pic>
      <p:sp>
        <p:nvSpPr>
          <p:cNvPr id="45" name="New shape"/>
          <p:cNvSpPr txBox="1"/>
          <p:nvPr/>
        </p:nvSpPr>
        <p:spPr>
          <a:xfrm>
            <a:off x="8208169" y="38590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30</a:t>
            </a:r>
          </a:p>
        </p:txBody>
      </p:sp>
      <p:sp>
        <p:nvSpPr>
          <p:cNvPr id="46" name="New shape"/>
          <p:cNvSpPr/>
          <p:nvPr/>
        </p:nvSpPr>
        <p:spPr>
          <a:xfrm>
            <a:off x="457200" y="428767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7" name="New shape"/>
          <p:cNvSpPr/>
          <p:nvPr/>
        </p:nvSpPr>
        <p:spPr>
          <a:xfrm>
            <a:off x="457200" y="4287679"/>
            <a:ext cx="6080474"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8" name="New shape"/>
          <p:cNvSpPr txBox="1"/>
          <p:nvPr/>
        </p:nvSpPr>
        <p:spPr>
          <a:xfrm>
            <a:off x="571500" y="428767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Product &amp; Development</a:t>
            </a:r>
          </a:p>
        </p:txBody>
      </p:sp>
      <p:sp>
        <p:nvSpPr>
          <p:cNvPr id="49" name="New shape"/>
          <p:cNvSpPr txBox="1"/>
          <p:nvPr/>
        </p:nvSpPr>
        <p:spPr>
          <a:xfrm>
            <a:off x="6645831" y="42876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82%</a:t>
            </a:r>
          </a:p>
        </p:txBody>
      </p:sp>
      <p:pic>
        <p:nvPicPr>
          <p:cNvPr id="50" name="New picture"/>
          <p:cNvPicPr/>
          <p:nvPr/>
        </p:nvPicPr>
        <p:blipFill>
          <a:blip>
            <a:extLst>
              <a:ext uri="{96DAC541-7B7A-43D3-8B79-37D633B846F1}">
                <asvg:svgBlip xmlns:asvg="http://schemas.microsoft.com/office/drawing/2016/SVG/main" r:embed="rId3"/>
              </a:ext>
            </a:extLst>
          </a:blip>
          <a:stretch>
            <a:fillRect/>
          </a:stretch>
        </p:blipFill>
        <p:spPr>
          <a:xfrm>
            <a:off x="7986712" y="4369832"/>
            <a:ext cx="150019" cy="150019"/>
          </a:xfrm>
          <a:prstGeom prst="rect">
            <a:avLst/>
          </a:prstGeom>
        </p:spPr>
      </p:pic>
      <p:sp>
        <p:nvSpPr>
          <p:cNvPr id="51" name="New shape"/>
          <p:cNvSpPr txBox="1"/>
          <p:nvPr/>
        </p:nvSpPr>
        <p:spPr>
          <a:xfrm>
            <a:off x="8208169" y="42876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81</a:t>
            </a:r>
          </a:p>
        </p:txBody>
      </p:sp>
      <p:pic>
        <p:nvPicPr>
          <p:cNvPr id="52" name="New picture"/>
          <p:cNvPicPr/>
          <p:nvPr/>
        </p:nvPicPr>
        <p:blipFill>
          <a:blip>
            <a:extLst>
              <a:ext uri="{96DAC541-7B7A-43D3-8B79-37D633B846F1}">
                <asvg:svgBlip xmlns:asvg="http://schemas.microsoft.com/office/drawing/2016/SVG/main" r:embed="rId5"/>
              </a:ext>
            </a:extLst>
          </a:blip>
          <a:stretch>
            <a:fillRect/>
          </a:stretch>
        </p:blipFill>
        <p:spPr>
          <a:xfrm>
            <a:off x="114300" y="4882753"/>
            <a:ext cx="150019" cy="150019"/>
          </a:xfrm>
          <a:prstGeom prst="rect">
            <a:avLst/>
          </a:prstGeom>
        </p:spPr>
      </p:pic>
      <p:sp>
        <p:nvSpPr>
          <p:cNvPr id="53" name="New shape"/>
          <p:cNvSpPr txBox="1"/>
          <p:nvPr/>
        </p:nvSpPr>
        <p:spPr>
          <a:xfrm>
            <a:off x="335756" y="4897155"/>
            <a:ext cx="70869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respondenten</a:t>
            </a:r>
          </a:p>
        </p:txBody>
      </p:sp>
      <p:pic>
        <p:nvPicPr>
          <p:cNvPr id="54" name="New picture"/>
          <p:cNvPicPr/>
          <p:nvPr/>
        </p:nvPicPr>
        <p:blipFill>
          <a:blip>
            <a:extLst>
              <a:ext uri="{96DAC541-7B7A-43D3-8B79-37D633B846F1}">
                <asvg:svgBlip xmlns:asvg="http://schemas.microsoft.com/office/drawing/2016/SVG/main" r:embed="rId4"/>
              </a:ext>
            </a:extLst>
          </a:blip>
          <a:stretch>
            <a:fillRect/>
          </a:stretch>
        </p:blipFill>
        <p:spPr>
          <a:xfrm>
            <a:off x="1244473" y="4897041"/>
            <a:ext cx="114300" cy="121444"/>
          </a:xfrm>
          <a:prstGeom prst="rect">
            <a:avLst/>
          </a:prstGeom>
        </p:spPr>
      </p:pic>
      <p:sp>
        <p:nvSpPr>
          <p:cNvPr id="55" name="New shape"/>
          <p:cNvSpPr txBox="1"/>
          <p:nvPr/>
        </p:nvSpPr>
        <p:spPr>
          <a:xfrm>
            <a:off x="1430210"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Respons te laag</a:t>
            </a:r>
          </a:p>
        </p:txBody>
      </p:sp>
      <p:sp>
        <p:nvSpPr>
          <p:cNvPr id="5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20</a:t>
            </a:r>
          </a:p>
        </p:txBody>
      </p:sp>
      <p:sp>
        <p:nvSpPr>
          <p:cNvPr id="57"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58" name="New picture"/>
          <p:cNvPicPr/>
          <p:nvPr/>
        </p:nvPicPr>
        <p:blipFill>
          <a:blip>
            <a:extLst>
              <a:ext uri="{96DAC541-7B7A-43D3-8B79-37D633B846F1}">
                <asvg:svgBlip xmlns:asvg="http://schemas.microsoft.com/office/drawing/2016/SVG/main" r:embed="rId6"/>
              </a:ext>
            </a:extLst>
          </a:blip>
          <a:stretch>
            <a:fillRect/>
          </a:stretch>
        </p:blipFill>
        <p:spPr>
          <a:xfrm>
            <a:off x="8829675" y="147661"/>
            <a:ext cx="217884" cy="217884"/>
          </a:xfrm>
          <a:prstGeom prst="rect">
            <a:avLst/>
          </a:prstGeom>
        </p:spPr>
      </p:pic>
      <p:sp>
        <p:nvSpPr>
          <p:cNvPr id="59"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1" name="New shape"/>
          <p:cNvSpPr txBox="1"/>
          <p:nvPr/>
        </p:nvSpPr>
        <p:spPr>
          <a:xfrm flipV="1">
            <a:off x="0" y="0"/>
            <a:ext cx="590486"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Respons</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8.0.26"/>
  <p:tag name="AS_OS" val="Unix 6.6.138.1"/>
  <p:tag name="AS_RELEASE_DATE" val="2024.12.14"/>
  <p:tag name="AS_TITLE" val="Aspose.Slides for .NET6"/>
  <p:tag name="AS_VERSION" val="24.1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13d46c04-fec7-40b9-84af-deef71223aad}" enabled="1" method="Privileged" siteId="{e9792fd7-4044-47e7-a40d-3fba46f1cd09}" contentBits="0" removed="0"/>
</clbl:labelList>
</file>

<file path=docProps/app.xml><?xml version="1.0" encoding="utf-8"?>
<Properties xmlns="http://schemas.openxmlformats.org/officeDocument/2006/extended-properties" xmlns:vt="http://schemas.openxmlformats.org/officeDocument/2006/docPropsVTypes">
  <TotalTime>1</TotalTime>
  <Words>1702</Words>
  <Application>Microsoft Macintosh PowerPoint</Application>
  <PresentationFormat>On-screen Show (16:9)</PresentationFormat>
  <Paragraphs>570</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Poppins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Effectory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client-confidential</dc:title>
  <dc:creator>Results dashboard</dc:creator>
  <cp:keywords>client-confidential</cp:keywords>
  <cp:lastModifiedBy>Jente Insing  Effectory</cp:lastModifiedBy>
  <cp:revision>2</cp:revision>
  <cp:lastPrinted>2026-06-29T13:18:05Z</cp:lastPrinted>
  <dcterms:created xsi:type="dcterms:W3CDTF">2026-06-29T13:18:06Z</dcterms:created>
  <dcterms:modified xsi:type="dcterms:W3CDTF">2026-06-30T12:05:38Z</dcterms:modified>
</cp:coreProperties>
</file>